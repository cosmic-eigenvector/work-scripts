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4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6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7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8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ags/tag40.xml" ContentType="application/vnd.openxmlformats-officedocument.presentationml.tags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24"/>
  </p:notesMasterIdLst>
  <p:handoutMasterIdLst>
    <p:handoutMasterId r:id="rId25"/>
  </p:handoutMasterIdLst>
  <p:sldIdLst>
    <p:sldId id="412" r:id="rId7"/>
    <p:sldId id="2147482166" r:id="rId8"/>
    <p:sldId id="2147482290" r:id="rId9"/>
    <p:sldId id="2147482195" r:id="rId10"/>
    <p:sldId id="2147482291" r:id="rId11"/>
    <p:sldId id="2147327331" r:id="rId12"/>
    <p:sldId id="2147482288" r:id="rId13"/>
    <p:sldId id="2147482196" r:id="rId14"/>
    <p:sldId id="2147376952" r:id="rId15"/>
    <p:sldId id="2147482289" r:id="rId16"/>
    <p:sldId id="2147482211" r:id="rId17"/>
    <p:sldId id="2147482294" r:id="rId18"/>
    <p:sldId id="2147376865" r:id="rId19"/>
    <p:sldId id="2147482293" r:id="rId20"/>
    <p:sldId id="2147482137" r:id="rId21"/>
    <p:sldId id="2147327360" r:id="rId22"/>
    <p:sldId id="2147482292" r:id="rId23"/>
  </p:sldIdLst>
  <p:sldSz cx="12192000" cy="6858000"/>
  <p:notesSz cx="6805613" cy="9939338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BE60E-5DE1-405B-B4AB-6884B580C96F}" v="14" dt="2025-09-10T17:50:12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0" d="100"/>
          <a:sy n="100" d="100"/>
        </p:scale>
        <p:origin x="132" y="462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1F7BE60E-5DE1-405B-B4AB-6884B580C96F}"/>
    <pc:docChg chg="undo custSel addSld modSld">
      <pc:chgData name="Fernando Monrroy" userId="b98b761b-33af-413d-9fff-50a6768f6576" providerId="ADAL" clId="{1F7BE60E-5DE1-405B-B4AB-6884B580C96F}" dt="2025-09-12T17:17:20.093" v="72" actId="26606"/>
      <pc:docMkLst>
        <pc:docMk/>
      </pc:docMkLst>
      <pc:sldChg chg="addSp delSp modSp mod">
        <pc:chgData name="Fernando Monrroy" userId="b98b761b-33af-413d-9fff-50a6768f6576" providerId="ADAL" clId="{1F7BE60E-5DE1-405B-B4AB-6884B580C96F}" dt="2025-09-08T22:44:22.351" v="13" actId="14100"/>
        <pc:sldMkLst>
          <pc:docMk/>
          <pc:sldMk cId="3193739008" sldId="2147327360"/>
        </pc:sldMkLst>
        <pc:graphicFrameChg chg="mod modGraphic">
          <ac:chgData name="Fernando Monrroy" userId="b98b761b-33af-413d-9fff-50a6768f6576" providerId="ADAL" clId="{1F7BE60E-5DE1-405B-B4AB-6884B580C96F}" dt="2025-09-08T22:44:22.351" v="13" actId="14100"/>
          <ac:graphicFrameMkLst>
            <pc:docMk/>
            <pc:sldMk cId="3193739008" sldId="2147327360"/>
            <ac:graphicFrameMk id="8" creationId="{99936138-9461-0616-502A-B83681694EBF}"/>
          </ac:graphicFrameMkLst>
        </pc:graphicFrameChg>
      </pc:sldChg>
      <pc:sldChg chg="add">
        <pc:chgData name="Fernando Monrroy" userId="b98b761b-33af-413d-9fff-50a6768f6576" providerId="ADAL" clId="{1F7BE60E-5DE1-405B-B4AB-6884B580C96F}" dt="2025-09-08T22:46:51.529" v="15"/>
        <pc:sldMkLst>
          <pc:docMk/>
          <pc:sldMk cId="3871750062" sldId="2147376865"/>
        </pc:sldMkLst>
      </pc:sldChg>
      <pc:sldChg chg="add">
        <pc:chgData name="Fernando Monrroy" userId="b98b761b-33af-413d-9fff-50a6768f6576" providerId="ADAL" clId="{1F7BE60E-5DE1-405B-B4AB-6884B580C96F}" dt="2025-09-08T22:46:08.282" v="14"/>
        <pc:sldMkLst>
          <pc:docMk/>
          <pc:sldMk cId="95543046" sldId="2147376952"/>
        </pc:sldMkLst>
      </pc:sldChg>
      <pc:sldChg chg="modSp add mod">
        <pc:chgData name="Fernando Monrroy" userId="b98b761b-33af-413d-9fff-50a6768f6576" providerId="ADAL" clId="{1F7BE60E-5DE1-405B-B4AB-6884B580C96F}" dt="2025-09-10T18:55:58.352" v="69" actId="1076"/>
        <pc:sldMkLst>
          <pc:docMk/>
          <pc:sldMk cId="0" sldId="2147482137"/>
        </pc:sldMkLst>
        <pc:spChg chg="mod">
          <ac:chgData name="Fernando Monrroy" userId="b98b761b-33af-413d-9fff-50a6768f6576" providerId="ADAL" clId="{1F7BE60E-5DE1-405B-B4AB-6884B580C96F}" dt="2025-09-10T18:50:48.753" v="49" actId="14100"/>
          <ac:spMkLst>
            <pc:docMk/>
            <pc:sldMk cId="0" sldId="2147482137"/>
            <ac:spMk id="9" creationId="{A861CD1C-4C17-6ECF-7319-B093A5D5DAF1}"/>
          </ac:spMkLst>
        </pc:spChg>
        <pc:spChg chg="mod">
          <ac:chgData name="Fernando Monrroy" userId="b98b761b-33af-413d-9fff-50a6768f6576" providerId="ADAL" clId="{1F7BE60E-5DE1-405B-B4AB-6884B580C96F}" dt="2025-09-10T18:55:58.352" v="69" actId="1076"/>
          <ac:spMkLst>
            <pc:docMk/>
            <pc:sldMk cId="0" sldId="2147482137"/>
            <ac:spMk id="10" creationId="{6CA58CE4-33F7-E83D-F497-78465D28ABEB}"/>
          </ac:spMkLst>
        </pc:spChg>
        <pc:spChg chg="mod">
          <ac:chgData name="Fernando Monrroy" userId="b98b761b-33af-413d-9fff-50a6768f6576" providerId="ADAL" clId="{1F7BE60E-5DE1-405B-B4AB-6884B580C96F}" dt="2025-09-10T18:55:52.105" v="67" actId="1076"/>
          <ac:spMkLst>
            <pc:docMk/>
            <pc:sldMk cId="0" sldId="2147482137"/>
            <ac:spMk id="11" creationId="{ED79307F-051B-32C5-FBEB-8B4B629A266E}"/>
          </ac:spMkLst>
        </pc:spChg>
      </pc:sldChg>
      <pc:sldChg chg="modSp mod">
        <pc:chgData name="Fernando Monrroy" userId="b98b761b-33af-413d-9fff-50a6768f6576" providerId="ADAL" clId="{1F7BE60E-5DE1-405B-B4AB-6884B580C96F}" dt="2025-09-05T17:41:50.740" v="1" actId="1076"/>
        <pc:sldMkLst>
          <pc:docMk/>
          <pc:sldMk cId="2686586553" sldId="2147482196"/>
        </pc:sldMkLst>
        <pc:spChg chg="mod">
          <ac:chgData name="Fernando Monrroy" userId="b98b761b-33af-413d-9fff-50a6768f6576" providerId="ADAL" clId="{1F7BE60E-5DE1-405B-B4AB-6884B580C96F}" dt="2025-09-05T17:41:50.740" v="1" actId="1076"/>
          <ac:spMkLst>
            <pc:docMk/>
            <pc:sldMk cId="2686586553" sldId="2147482196"/>
            <ac:spMk id="16" creationId="{541F014B-4B54-CC08-3FDE-BF10EE0BBBAC}"/>
          </ac:spMkLst>
        </pc:spChg>
      </pc:sldChg>
      <pc:sldChg chg="mod">
        <pc:chgData name="Fernando Monrroy" userId="b98b761b-33af-413d-9fff-50a6768f6576" providerId="ADAL" clId="{1F7BE60E-5DE1-405B-B4AB-6884B580C96F}" dt="2025-09-03T20:02:41.406" v="0" actId="27918"/>
        <pc:sldMkLst>
          <pc:docMk/>
          <pc:sldMk cId="4001027099" sldId="2147482289"/>
        </pc:sldMkLst>
      </pc:sldChg>
      <pc:sldChg chg="addSp delSp modSp new mod">
        <pc:chgData name="Fernando Monrroy" userId="b98b761b-33af-413d-9fff-50a6768f6576" providerId="ADAL" clId="{1F7BE60E-5DE1-405B-B4AB-6884B580C96F}" dt="2025-09-10T17:39:02.761" v="44" actId="207"/>
        <pc:sldMkLst>
          <pc:docMk/>
          <pc:sldMk cId="2293026599" sldId="2147482293"/>
        </pc:sldMkLst>
        <pc:spChg chg="add mod">
          <ac:chgData name="Fernando Monrroy" userId="b98b761b-33af-413d-9fff-50a6768f6576" providerId="ADAL" clId="{1F7BE60E-5DE1-405B-B4AB-6884B580C96F}" dt="2025-09-10T17:39:02.761" v="44" actId="207"/>
          <ac:spMkLst>
            <pc:docMk/>
            <pc:sldMk cId="2293026599" sldId="2147482293"/>
            <ac:spMk id="4" creationId="{0C4D3FD7-2EED-C4E0-C5CF-82949C7184AF}"/>
          </ac:spMkLst>
        </pc:spChg>
        <pc:spChg chg="add mod">
          <ac:chgData name="Fernando Monrroy" userId="b98b761b-33af-413d-9fff-50a6768f6576" providerId="ADAL" clId="{1F7BE60E-5DE1-405B-B4AB-6884B580C96F}" dt="2025-09-08T23:26:59.206" v="27" actId="1076"/>
          <ac:spMkLst>
            <pc:docMk/>
            <pc:sldMk cId="2293026599" sldId="2147482293"/>
            <ac:spMk id="10" creationId="{A8E77CC9-8068-6762-2231-05CF7507586A}"/>
          </ac:spMkLst>
        </pc:spChg>
        <pc:graphicFrameChg chg="add mod">
          <ac:chgData name="Fernando Monrroy" userId="b98b761b-33af-413d-9fff-50a6768f6576" providerId="ADAL" clId="{1F7BE60E-5DE1-405B-B4AB-6884B580C96F}" dt="2025-09-08T23:23:03.748" v="22" actId="14100"/>
          <ac:graphicFrameMkLst>
            <pc:docMk/>
            <pc:sldMk cId="2293026599" sldId="2147482293"/>
            <ac:graphicFrameMk id="8" creationId="{A28D6D76-06DC-E48A-B16E-94BDE878AF77}"/>
          </ac:graphicFrameMkLst>
        </pc:graphicFrameChg>
      </pc:sldChg>
      <pc:sldChg chg="addSp delSp modSp new mod modClrScheme chgLayout">
        <pc:chgData name="Fernando Monrroy" userId="b98b761b-33af-413d-9fff-50a6768f6576" providerId="ADAL" clId="{1F7BE60E-5DE1-405B-B4AB-6884B580C96F}" dt="2025-09-12T17:17:20.093" v="72" actId="26606"/>
        <pc:sldMkLst>
          <pc:docMk/>
          <pc:sldMk cId="1711021509" sldId="2147482294"/>
        </pc:sldMkLst>
        <pc:spChg chg="mod">
          <ac:chgData name="Fernando Monrroy" userId="b98b761b-33af-413d-9fff-50a6768f6576" providerId="ADAL" clId="{1F7BE60E-5DE1-405B-B4AB-6884B580C96F}" dt="2025-09-12T17:17:20.093" v="72" actId="26606"/>
          <ac:spMkLst>
            <pc:docMk/>
            <pc:sldMk cId="1711021509" sldId="2147482294"/>
            <ac:spMk id="2" creationId="{61E7E8F7-198E-5F5F-0061-CE5A1E05E729}"/>
          </ac:spMkLst>
        </pc:spChg>
        <pc:spChg chg="add del">
          <ac:chgData name="Fernando Monrroy" userId="b98b761b-33af-413d-9fff-50a6768f6576" providerId="ADAL" clId="{1F7BE60E-5DE1-405B-B4AB-6884B580C96F}" dt="2025-09-12T17:17:20.093" v="72" actId="26606"/>
          <ac:spMkLst>
            <pc:docMk/>
            <pc:sldMk cId="1711021509" sldId="2147482294"/>
            <ac:spMk id="3" creationId="{FF4086BE-2C97-390E-D3EC-E8024978C69A}"/>
          </ac:spMkLst>
        </pc:spChg>
        <pc:spChg chg="add del">
          <ac:chgData name="Fernando Monrroy" userId="b98b761b-33af-413d-9fff-50a6768f6576" providerId="ADAL" clId="{1F7BE60E-5DE1-405B-B4AB-6884B580C96F}" dt="2025-09-12T17:17:20.093" v="72" actId="26606"/>
          <ac:spMkLst>
            <pc:docMk/>
            <pc:sldMk cId="1711021509" sldId="2147482294"/>
            <ac:spMk id="4" creationId="{737F855F-C9AD-EFB1-8082-064B3812C3AC}"/>
          </ac:spMkLst>
        </pc:spChg>
        <pc:spChg chg="add del">
          <ac:chgData name="Fernando Monrroy" userId="b98b761b-33af-413d-9fff-50a6768f6576" providerId="ADAL" clId="{1F7BE60E-5DE1-405B-B4AB-6884B580C96F}" dt="2025-09-12T17:17:20.093" v="72" actId="26606"/>
          <ac:spMkLst>
            <pc:docMk/>
            <pc:sldMk cId="1711021509" sldId="2147482294"/>
            <ac:spMk id="5" creationId="{2AB50482-E7A6-B3D9-9101-E32558F22AA8}"/>
          </ac:spMkLst>
        </pc:spChg>
        <pc:spChg chg="add del">
          <ac:chgData name="Fernando Monrroy" userId="b98b761b-33af-413d-9fff-50a6768f6576" providerId="ADAL" clId="{1F7BE60E-5DE1-405B-B4AB-6884B580C96F}" dt="2025-09-12T17:17:20.093" v="72" actId="26606"/>
          <ac:spMkLst>
            <pc:docMk/>
            <pc:sldMk cId="1711021509" sldId="2147482294"/>
            <ac:spMk id="6" creationId="{F0D6044F-3927-8DC6-9CA3-60334D6EA01C}"/>
          </ac:spMkLst>
        </pc:spChg>
        <pc:spChg chg="mod">
          <ac:chgData name="Fernando Monrroy" userId="b98b761b-33af-413d-9fff-50a6768f6576" providerId="ADAL" clId="{1F7BE60E-5DE1-405B-B4AB-6884B580C96F}" dt="2025-09-12T17:17:20.093" v="72" actId="26606"/>
          <ac:spMkLst>
            <pc:docMk/>
            <pc:sldMk cId="1711021509" sldId="2147482294"/>
            <ac:spMk id="7" creationId="{45ACD1B5-11BD-47AE-D546-5639EBCCE1B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ktglbuc.sharepoint.com/sites/KTMBMX/KantarMB24/Shared%20Documents/Kantar_Chile/36412786_LIFT%20ROI%20Athena%20Te/Modelling/Model%204%20-%2020240217%20-%20YT%20Meta%20spli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985015844399768E-2"/>
          <c:y val="6.5291338582677161E-2"/>
          <c:w val="0.86363798434044059"/>
          <c:h val="0.830696628341064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6E37555-033B-43FC-9757-7A31943FFCD0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12A8-4E69-9012-61A6210C13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EE4D17F-F3CB-44F5-A0AA-D8987820E493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12A8-4E69-9012-61A6210C13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5EE030E-E42A-49E4-A694-0984B826D868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12A8-4E69-9012-61A6210C13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Sheet1!$B$2:$D$2</c:f>
              <c:numCache>
                <c:formatCode>#,##0</c:formatCode>
                <c:ptCount val="3"/>
                <c:pt idx="0">
                  <c:v>29452.634512758203</c:v>
                </c:pt>
                <c:pt idx="1">
                  <c:v>29748.318116962429</c:v>
                </c:pt>
                <c:pt idx="2">
                  <c:v>29564.122541359648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Sheet1!$F$2:$H$2</c15:f>
                <c15:dlblRangeCache>
                  <c:ptCount val="3"/>
                  <c:pt idx="0">
                    <c:v>79%</c:v>
                  </c:pt>
                  <c:pt idx="1">
                    <c:v>70%</c:v>
                  </c:pt>
                  <c:pt idx="2">
                    <c:v>68%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CA96-4850-B1B3-A5F50E5FE2E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Twinings' Price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D8664AE-AE96-408A-B08E-4AC96E8EDC78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A-CA96-4850-B1B3-A5F50E5FE2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987CB45-FFC1-4E14-8C65-8EFA05A3AF00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12A8-4E69-9012-61A6210C13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AD82709-FEF0-4F18-89A0-D04E2759C844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Sheet1!$B$3:$D$3</c:f>
              <c:numCache>
                <c:formatCode>#,##0</c:formatCode>
                <c:ptCount val="3"/>
                <c:pt idx="0">
                  <c:v>-2409.3376490032847</c:v>
                </c:pt>
                <c:pt idx="1">
                  <c:v>-6205.798021868437</c:v>
                </c:pt>
                <c:pt idx="2">
                  <c:v>-2869.5674712896448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Sheet1!$F$3:$H$3</c15:f>
                <c15:dlblRangeCache>
                  <c:ptCount val="3"/>
                  <c:pt idx="0">
                    <c:v>-6%</c:v>
                  </c:pt>
                  <c:pt idx="1">
                    <c:v>-15%</c:v>
                  </c:pt>
                  <c:pt idx="2">
                    <c:v>-7%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CA96-4850-B1B3-A5F50E5FE2E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Competitors' Price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07633871752188E-3"/>
                  <c:y val="-7.807149451907140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666666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9CB60E6-FE39-4FD1-A4FD-4FE73608DD11}" type="CELLRANGE">
                      <a:rPr lang="en-US"/>
                      <a:pPr>
                        <a:defRPr>
                          <a:solidFill>
                            <a:srgbClr val="666666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66666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3218EDF-0864-4476-9229-3F83C4DB2DA9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E71786C-DC61-453D-82C7-632F446E4C3D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Sheet1!$B$4:$D$4</c:f>
              <c:numCache>
                <c:formatCode>#,##0</c:formatCode>
                <c:ptCount val="3"/>
                <c:pt idx="0">
                  <c:v>1026.7715010345821</c:v>
                </c:pt>
                <c:pt idx="1">
                  <c:v>3222.3832940866337</c:v>
                </c:pt>
                <c:pt idx="2">
                  <c:v>4307.6310334809041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Sheet1!$F$4:$H$4</c15:f>
                <c15:dlblRangeCache>
                  <c:ptCount val="3"/>
                  <c:pt idx="0">
                    <c:v>3%</c:v>
                  </c:pt>
                  <c:pt idx="1">
                    <c:v>8%</c:v>
                  </c:pt>
                  <c:pt idx="2">
                    <c:v>10%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2-CA96-4850-B1B3-A5F50E5FE2E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Twinings' Distribution</c:v>
                </c:pt>
              </c:strCache>
            </c:strRef>
          </c:tx>
          <c:spPr>
            <a:solidFill>
              <a:srgbClr val="00D2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F0D6164-1421-440B-AD0B-78750B160D8D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5E99600-AF29-4866-8FD7-93869B0AE019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8E09CE5-A21F-4BEC-ABB3-4CDF2D41CB97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Sheet1!$B$5:$D$5</c:f>
              <c:numCache>
                <c:formatCode>#,##0</c:formatCode>
                <c:ptCount val="3"/>
                <c:pt idx="0">
                  <c:v>3370.9158686525466</c:v>
                </c:pt>
                <c:pt idx="1">
                  <c:v>1964.036775815443</c:v>
                </c:pt>
                <c:pt idx="2">
                  <c:v>4031.0993640518163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Sheet1!$F$5:$H$5</c15:f>
                <c15:dlblRangeCache>
                  <c:ptCount val="3"/>
                  <c:pt idx="0">
                    <c:v>9%</c:v>
                  </c:pt>
                  <c:pt idx="1">
                    <c:v>5%</c:v>
                  </c:pt>
                  <c:pt idx="2">
                    <c:v>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CA96-4850-B1B3-A5F50E5FE2ED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Competitors' Distribution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2151071237433914E-3"/>
                  <c:y val="8.1481495197229387E-2"/>
                </c:manualLayout>
              </c:layout>
              <c:tx>
                <c:rich>
                  <a:bodyPr/>
                  <a:lstStyle/>
                  <a:p>
                    <a:fld id="{A718B05F-A520-4439-BE10-937BF6AF9BDE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9-CA96-4850-B1B3-A5F50E5FE2ED}"/>
                </c:ext>
              </c:extLst>
            </c:dLbl>
            <c:dLbl>
              <c:idx val="1"/>
              <c:layout>
                <c:manualLayout>
                  <c:x val="2.0693286286734544E-2"/>
                  <c:y val="0.10452683202766694"/>
                </c:manualLayout>
              </c:layout>
              <c:tx>
                <c:rich>
                  <a:bodyPr/>
                  <a:lstStyle/>
                  <a:p>
                    <a:fld id="{2EDD5899-6962-4AA0-8ED8-6A7409492887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CA96-4850-B1B3-A5F50E5FE2ED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72D0A8D-ACF4-4828-8D38-E64BCFA0DE6C}" type="CELLRANGE">
                      <a:rPr lang="es-ES"/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Sheet1!$B$6:$D$6</c:f>
              <c:numCache>
                <c:formatCode>#,##0</c:formatCode>
                <c:ptCount val="3"/>
                <c:pt idx="0">
                  <c:v>-948.99475838486524</c:v>
                </c:pt>
                <c:pt idx="1">
                  <c:v>-911.16152727894439</c:v>
                </c:pt>
                <c:pt idx="2">
                  <c:v>-2532.5460690988998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Sheet1!$F$6:$H$6</c15:f>
                <c15:dlblRangeCache>
                  <c:ptCount val="3"/>
                  <c:pt idx="0">
                    <c:v>-3%</c:v>
                  </c:pt>
                  <c:pt idx="1">
                    <c:v>-2%</c:v>
                  </c:pt>
                  <c:pt idx="2">
                    <c:v>-6%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A96-4850-B1B3-A5F50E5FE2ED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ED666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6879A20-BFD4-4069-8ADF-09F68DCA4C8E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64E42AB-7E05-420A-B4A2-8039975725C5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FC61-4784-9411-E6EDB84EA0FC}"/>
                </c:ext>
              </c:extLst>
            </c:dLbl>
            <c:dLbl>
              <c:idx val="2"/>
              <c:layout>
                <c:manualLayout>
                  <c:x val="0"/>
                  <c:y val="-7.195742556405723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666666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1217AF4-BB71-4E93-885B-738235233542}" type="CELLRANGE">
                      <a:rPr lang="en-US"/>
                      <a:pPr>
                        <a:defRPr>
                          <a:solidFill>
                            <a:srgbClr val="666666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66666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Sheet1!$B$7:$D$7</c:f>
              <c:numCache>
                <c:formatCode>#,##0</c:formatCode>
                <c:ptCount val="3"/>
                <c:pt idx="0">
                  <c:v>3531.783122968257</c:v>
                </c:pt>
                <c:pt idx="1">
                  <c:v>4071.3611400104924</c:v>
                </c:pt>
                <c:pt idx="2">
                  <c:v>1080.5228255051343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Sheet1!$F$7:$H$7</c15:f>
                <c15:dlblRangeCache>
                  <c:ptCount val="3"/>
                  <c:pt idx="0">
                    <c:v>9%</c:v>
                  </c:pt>
                  <c:pt idx="1">
                    <c:v>10%</c:v>
                  </c:pt>
                  <c:pt idx="2">
                    <c:v>2%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CA96-4850-B1B3-A5F50E5FE2ED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Media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3964560-F9AB-4C3D-8F59-A2CB0F013695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44ACD54-5FDD-4A6A-B455-724A6BB9AAEE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1D84E85-8425-4148-AAD7-5F0754205DD1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Sheet1!$B$8:$D$8</c:f>
              <c:numCache>
                <c:formatCode>#,##0</c:formatCode>
                <c:ptCount val="3"/>
                <c:pt idx="0">
                  <c:v>1.5384667465367936E-6</c:v>
                </c:pt>
                <c:pt idx="1">
                  <c:v>3227.6887976078679</c:v>
                </c:pt>
                <c:pt idx="2">
                  <c:v>4700.9555634417748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Sheet1!$F$8:$H$8</c15:f>
                <c15:dlblRangeCache>
                  <c:ptCount val="3"/>
                  <c:pt idx="1">
                    <c:v>8%</c:v>
                  </c:pt>
                  <c:pt idx="2">
                    <c:v>11%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CA96-4850-B1B3-A5F50E5FE2ED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Competitors Media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8796900051209991E-2"/>
                  <c:y val="-6.3492063492063787E-3"/>
                </c:manualLayout>
              </c:layout>
              <c:tx>
                <c:rich>
                  <a:bodyPr/>
                  <a:lstStyle/>
                  <a:p>
                    <a:fld id="{6E69185C-2BE3-48A8-A0E1-1DA20AC49902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F356-4588-BA58-266C7ACEDF03}"/>
                </c:ext>
              </c:extLst>
            </c:dLbl>
            <c:dLbl>
              <c:idx val="1"/>
              <c:layout>
                <c:manualLayout>
                  <c:x val="-1.2183303867819633E-2"/>
                  <c:y val="0.10476190476190476"/>
                </c:manualLayout>
              </c:layout>
              <c:tx>
                <c:rich>
                  <a:bodyPr/>
                  <a:lstStyle/>
                  <a:p>
                    <a:fld id="{B4A14C7C-B6A8-4154-81BE-94F1ADFDC839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F356-4588-BA58-266C7ACEDF03}"/>
                </c:ext>
              </c:extLst>
            </c:dLbl>
            <c:dLbl>
              <c:idx val="2"/>
              <c:layout>
                <c:manualLayout>
                  <c:x val="-2.2151071237433914E-3"/>
                  <c:y val="6.9018200788931533E-2"/>
                </c:manualLayout>
              </c:layout>
              <c:tx>
                <c:rich>
                  <a:bodyPr/>
                  <a:lstStyle/>
                  <a:p>
                    <a:fld id="{F54E5071-D9DD-4AEF-9CC0-D41FAE487134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F356-4588-BA58-266C7ACEDF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Sheet1!$B$9:$D$9</c:f>
              <c:numCache>
                <c:formatCode>#,##0</c:formatCode>
                <c:ptCount val="3"/>
                <c:pt idx="0">
                  <c:v>-552.81996685788795</c:v>
                </c:pt>
                <c:pt idx="1">
                  <c:v>-760.90257648275633</c:v>
                </c:pt>
                <c:pt idx="2">
                  <c:v>-1170.5565496982097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Sheet1!$F$9:$H$9</c15:f>
                <c15:dlblRangeCache>
                  <c:ptCount val="3"/>
                  <c:pt idx="0">
                    <c:v>-1%</c:v>
                  </c:pt>
                  <c:pt idx="1">
                    <c:v>-2%</c:v>
                  </c:pt>
                  <c:pt idx="2">
                    <c:v>-3%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CA96-4850-B1B3-A5F50E5FE2ED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External Factors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5442338524566144E-2"/>
                  <c:y val="2.9100192932617129E-17"/>
                </c:manualLayout>
              </c:layout>
              <c:tx>
                <c:rich>
                  <a:bodyPr/>
                  <a:lstStyle/>
                  <a:p>
                    <a:fld id="{4B31849D-F407-4FC9-90A4-9BAFCFBCABA3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E-CA96-4850-B1B3-A5F50E5FE2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0C8948D-C40C-4861-ACD1-776B6908AFB4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CA96-4850-B1B3-A5F50E5FE2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980ABFD-02EA-4FBF-A02E-3BED72DF0163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Sheet1!$B$10:$D$10</c:f>
              <c:numCache>
                <c:formatCode>#,##0</c:formatCode>
                <c:ptCount val="3"/>
                <c:pt idx="0">
                  <c:v>97.318478186184166</c:v>
                </c:pt>
                <c:pt idx="1">
                  <c:v>-2705.9204171201177</c:v>
                </c:pt>
                <c:pt idx="2">
                  <c:v>-3586.6630445736732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Sheet1!$F$10:$H$10</c15:f>
                <c15:dlblRangeCache>
                  <c:ptCount val="3"/>
                  <c:pt idx="0">
                    <c:v>0%</c:v>
                  </c:pt>
                  <c:pt idx="1">
                    <c:v>-6%</c:v>
                  </c:pt>
                  <c:pt idx="2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CA96-4850-B1B3-A5F50E5FE2E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39"/>
        <c:overlap val="100"/>
        <c:axId val="266227472"/>
        <c:axId val="266228912"/>
      </c:barChart>
      <c:catAx>
        <c:axId val="266227472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rgbClr val="9F9F9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8912"/>
        <c:crossesAt val="0"/>
        <c:auto val="1"/>
        <c:lblAlgn val="ctr"/>
        <c:lblOffset val="100"/>
        <c:noMultiLvlLbl val="0"/>
      </c:catAx>
      <c:valAx>
        <c:axId val="266228912"/>
        <c:scaling>
          <c:orientation val="minMax"/>
          <c:max val="45000"/>
          <c:min val="-15000"/>
        </c:scaling>
        <c:delete val="0"/>
        <c:axPos val="r"/>
        <c:numFmt formatCode="#,##0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7472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985015844399768E-2"/>
          <c:y val="6.5291338582677161E-2"/>
          <c:w val="0.86363798434044059"/>
          <c:h val="0.6458037745281839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3A79C02-9DD4-4B85-A97A-A628923D5B2E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12A8-4E69-9012-61A6210C13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90D9E0C-77DD-41E9-8A4E-6F0B97769B25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12A8-4E69-9012-61A6210C13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39D4947-594C-45BE-A6D7-F0B06CD7D931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12A8-4E69-9012-61A6210C13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Sheet1!$B$2:$D$2</c:f>
              <c:numCache>
                <c:formatCode>#,##0</c:formatCode>
                <c:ptCount val="3"/>
                <c:pt idx="0">
                  <c:v>29452.634512758203</c:v>
                </c:pt>
                <c:pt idx="1">
                  <c:v>29748.318116962429</c:v>
                </c:pt>
                <c:pt idx="2">
                  <c:v>29564.122541359648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Sheet1!$F$2:$H$2</c15:f>
                <c15:dlblRangeCache>
                  <c:ptCount val="3"/>
                  <c:pt idx="0">
                    <c:v>79%</c:v>
                  </c:pt>
                  <c:pt idx="1">
                    <c:v>70%</c:v>
                  </c:pt>
                  <c:pt idx="2">
                    <c:v>68%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CA96-4850-B1B3-A5F50E5FE2E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Twinings' Price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1B5FC25-4A23-4557-803A-51F93608BB57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A-CA96-4850-B1B3-A5F50E5FE2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B7D1A9E-3866-4028-AC6B-772F32A464F8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12A8-4E69-9012-61A6210C13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65A9930-B0B7-4B09-8282-F388DF2433C2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Sheet1!$B$3:$D$3</c:f>
              <c:numCache>
                <c:formatCode>#,##0</c:formatCode>
                <c:ptCount val="3"/>
                <c:pt idx="0">
                  <c:v>-2409.3376490032847</c:v>
                </c:pt>
                <c:pt idx="1">
                  <c:v>-6205.798021868437</c:v>
                </c:pt>
                <c:pt idx="2">
                  <c:v>-2869.5674712896448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Sheet1!$F$3:$H$3</c15:f>
                <c15:dlblRangeCache>
                  <c:ptCount val="3"/>
                  <c:pt idx="0">
                    <c:v>-6%</c:v>
                  </c:pt>
                  <c:pt idx="1">
                    <c:v>-15%</c:v>
                  </c:pt>
                  <c:pt idx="2">
                    <c:v>-7%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CA96-4850-B1B3-A5F50E5FE2E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Competitors' Price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07633871752188E-3"/>
                  <c:y val="-7.807149451907140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666666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F540CD6-81C2-410E-834D-545111528A8F}" type="CELLRANGE">
                      <a:rPr lang="en-US"/>
                      <a:pPr>
                        <a:defRPr>
                          <a:solidFill>
                            <a:srgbClr val="666666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66666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7CC90A7-E483-4EED-A4BD-2FF9A3F86EB9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BEA3DBF-1C1F-4CFD-8F32-5413D82D0273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Sheet1!$B$4:$D$4</c:f>
              <c:numCache>
                <c:formatCode>#,##0</c:formatCode>
                <c:ptCount val="3"/>
                <c:pt idx="0">
                  <c:v>1026.7715010345821</c:v>
                </c:pt>
                <c:pt idx="1">
                  <c:v>3222.3832940866337</c:v>
                </c:pt>
                <c:pt idx="2">
                  <c:v>4307.6310334809041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Sheet1!$F$4:$H$4</c15:f>
                <c15:dlblRangeCache>
                  <c:ptCount val="3"/>
                  <c:pt idx="0">
                    <c:v>3%</c:v>
                  </c:pt>
                  <c:pt idx="1">
                    <c:v>8%</c:v>
                  </c:pt>
                  <c:pt idx="2">
                    <c:v>10%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2-CA96-4850-B1B3-A5F50E5FE2E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Twinings' Distribution</c:v>
                </c:pt>
              </c:strCache>
            </c:strRef>
          </c:tx>
          <c:spPr>
            <a:solidFill>
              <a:srgbClr val="00D2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FDC7A0D-E3FD-4856-BB53-9604D9AD7840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D38A7AC-DC40-4BA7-8FBE-57F91A6EF514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AC8779C-1553-48BF-A254-A955E087526F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Sheet1!$B$5:$D$5</c:f>
              <c:numCache>
                <c:formatCode>#,##0</c:formatCode>
                <c:ptCount val="3"/>
                <c:pt idx="0">
                  <c:v>3370.9158686525466</c:v>
                </c:pt>
                <c:pt idx="1">
                  <c:v>1964.036775815443</c:v>
                </c:pt>
                <c:pt idx="2">
                  <c:v>4031.0993640518163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Sheet1!$F$5:$H$5</c15:f>
                <c15:dlblRangeCache>
                  <c:ptCount val="3"/>
                  <c:pt idx="0">
                    <c:v>9%</c:v>
                  </c:pt>
                  <c:pt idx="1">
                    <c:v>5%</c:v>
                  </c:pt>
                  <c:pt idx="2">
                    <c:v>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CA96-4850-B1B3-A5F50E5FE2ED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Competitors' Distribution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2151071237433914E-3"/>
                  <c:y val="8.1481495197229387E-2"/>
                </c:manualLayout>
              </c:layout>
              <c:tx>
                <c:rich>
                  <a:bodyPr/>
                  <a:lstStyle/>
                  <a:p>
                    <a:fld id="{ABADD7E7-036C-4A7B-BDE7-27962018C0FE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9-CA96-4850-B1B3-A5F50E5FE2ED}"/>
                </c:ext>
              </c:extLst>
            </c:dLbl>
            <c:dLbl>
              <c:idx val="1"/>
              <c:layout>
                <c:manualLayout>
                  <c:x val="2.0693286286734544E-2"/>
                  <c:y val="0.10452683202766694"/>
                </c:manualLayout>
              </c:layout>
              <c:tx>
                <c:rich>
                  <a:bodyPr/>
                  <a:lstStyle/>
                  <a:p>
                    <a:fld id="{1CF3F742-3000-4529-8B9F-9CF6E3E841BB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CA96-4850-B1B3-A5F50E5FE2ED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298F564-2265-4760-8DE1-ECBA6CE77A9E}" type="CELLRANGE">
                      <a:rPr lang="es-ES"/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Sheet1!$B$6:$D$6</c:f>
              <c:numCache>
                <c:formatCode>#,##0</c:formatCode>
                <c:ptCount val="3"/>
                <c:pt idx="0">
                  <c:v>-948.99475838486524</c:v>
                </c:pt>
                <c:pt idx="1">
                  <c:v>-911.16152727894439</c:v>
                </c:pt>
                <c:pt idx="2">
                  <c:v>-2532.5460690988998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Sheet1!$F$6:$H$6</c15:f>
                <c15:dlblRangeCache>
                  <c:ptCount val="3"/>
                  <c:pt idx="0">
                    <c:v>-3%</c:v>
                  </c:pt>
                  <c:pt idx="1">
                    <c:v>-2%</c:v>
                  </c:pt>
                  <c:pt idx="2">
                    <c:v>-6%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A96-4850-B1B3-A5F50E5FE2ED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ED666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EB2D8BE-98B7-4B51-A1E5-091DBC9003B3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BD14B69-C9B9-406F-96A7-9567F0CE254A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FC61-4784-9411-E6EDB84EA0FC}"/>
                </c:ext>
              </c:extLst>
            </c:dLbl>
            <c:dLbl>
              <c:idx val="2"/>
              <c:layout>
                <c:manualLayout>
                  <c:x val="0"/>
                  <c:y val="-7.195742556405723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666666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B838C54-951D-4DBD-9AAC-72641347DE9E}" type="CELLRANGE">
                      <a:rPr lang="en-US"/>
                      <a:pPr>
                        <a:defRPr>
                          <a:solidFill>
                            <a:srgbClr val="666666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66666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Sheet1!$B$7:$D$7</c:f>
              <c:numCache>
                <c:formatCode>#,##0</c:formatCode>
                <c:ptCount val="3"/>
                <c:pt idx="0">
                  <c:v>3531.783122968257</c:v>
                </c:pt>
                <c:pt idx="1">
                  <c:v>4071.3611400104924</c:v>
                </c:pt>
                <c:pt idx="2">
                  <c:v>1080.5228255051343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Sheet1!$F$7:$H$7</c15:f>
                <c15:dlblRangeCache>
                  <c:ptCount val="3"/>
                  <c:pt idx="0">
                    <c:v>9%</c:v>
                  </c:pt>
                  <c:pt idx="1">
                    <c:v>10%</c:v>
                  </c:pt>
                  <c:pt idx="2">
                    <c:v>2%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CA96-4850-B1B3-A5F50E5FE2ED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Media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79A9502-FA7C-4156-8946-9197F6127FFA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77B4D89-8192-4D26-B9D4-F2D422D0B98E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102B823-952A-4FF5-97DB-9EA1CCD343BF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Sheet1!$B$8:$D$8</c:f>
              <c:numCache>
                <c:formatCode>#,##0</c:formatCode>
                <c:ptCount val="3"/>
                <c:pt idx="0">
                  <c:v>1.5384667465367936E-6</c:v>
                </c:pt>
                <c:pt idx="1">
                  <c:v>3227.6887976078679</c:v>
                </c:pt>
                <c:pt idx="2">
                  <c:v>4700.9555634417748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Sheet1!$F$8:$H$8</c15:f>
                <c15:dlblRangeCache>
                  <c:ptCount val="3"/>
                  <c:pt idx="1">
                    <c:v>8%</c:v>
                  </c:pt>
                  <c:pt idx="2">
                    <c:v>11%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CA96-4850-B1B3-A5F50E5FE2ED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Competitors Media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8796900051209991E-2"/>
                  <c:y val="-6.3492063492063787E-3"/>
                </c:manualLayout>
              </c:layout>
              <c:tx>
                <c:rich>
                  <a:bodyPr/>
                  <a:lstStyle/>
                  <a:p>
                    <a:fld id="{209E9395-3219-451B-AEDE-124D70FBCA6D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F356-4588-BA58-266C7ACEDF03}"/>
                </c:ext>
              </c:extLst>
            </c:dLbl>
            <c:dLbl>
              <c:idx val="1"/>
              <c:layout>
                <c:manualLayout>
                  <c:x val="-1.2183303867819633E-2"/>
                  <c:y val="0.10476190476190476"/>
                </c:manualLayout>
              </c:layout>
              <c:tx>
                <c:rich>
                  <a:bodyPr/>
                  <a:lstStyle/>
                  <a:p>
                    <a:fld id="{7CAF62F5-36B3-4319-8D3C-28AD05FA3A46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F356-4588-BA58-266C7ACEDF03}"/>
                </c:ext>
              </c:extLst>
            </c:dLbl>
            <c:dLbl>
              <c:idx val="2"/>
              <c:layout>
                <c:manualLayout>
                  <c:x val="-2.2151071237433914E-3"/>
                  <c:y val="6.9018200788931533E-2"/>
                </c:manualLayout>
              </c:layout>
              <c:tx>
                <c:rich>
                  <a:bodyPr/>
                  <a:lstStyle/>
                  <a:p>
                    <a:fld id="{9354DA56-EA0E-40AB-B776-DC1BBB433CB0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F356-4588-BA58-266C7ACEDF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Sheet1!$B$9:$D$9</c:f>
              <c:numCache>
                <c:formatCode>#,##0</c:formatCode>
                <c:ptCount val="3"/>
                <c:pt idx="0">
                  <c:v>-552.81996685788795</c:v>
                </c:pt>
                <c:pt idx="1">
                  <c:v>-760.90257648275633</c:v>
                </c:pt>
                <c:pt idx="2">
                  <c:v>-1170.5565496982097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Sheet1!$F$9:$H$9</c15:f>
                <c15:dlblRangeCache>
                  <c:ptCount val="3"/>
                  <c:pt idx="0">
                    <c:v>-1%</c:v>
                  </c:pt>
                  <c:pt idx="1">
                    <c:v>-2%</c:v>
                  </c:pt>
                  <c:pt idx="2">
                    <c:v>-3%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CA96-4850-B1B3-A5F50E5FE2ED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External Factors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5442338524566144E-2"/>
                  <c:y val="2.9100192932617129E-17"/>
                </c:manualLayout>
              </c:layout>
              <c:tx>
                <c:rich>
                  <a:bodyPr/>
                  <a:lstStyle/>
                  <a:p>
                    <a:fld id="{718CB4CF-4B72-461C-A359-375A12C244B5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E-CA96-4850-B1B3-A5F50E5FE2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68FE271-C557-4463-9064-274D539FB33E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CA96-4850-B1B3-A5F50E5FE2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4E01FCE-3333-4903-81A1-E189896FDE46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Sheet1!$B$10:$D$10</c:f>
              <c:numCache>
                <c:formatCode>#,##0</c:formatCode>
                <c:ptCount val="3"/>
                <c:pt idx="0">
                  <c:v>97.318478186184166</c:v>
                </c:pt>
                <c:pt idx="1">
                  <c:v>-2705.9204171201177</c:v>
                </c:pt>
                <c:pt idx="2">
                  <c:v>-3586.6630445736732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Sheet1!$F$10:$H$10</c15:f>
                <c15:dlblRangeCache>
                  <c:ptCount val="3"/>
                  <c:pt idx="0">
                    <c:v>0%</c:v>
                  </c:pt>
                  <c:pt idx="1">
                    <c:v>-6%</c:v>
                  </c:pt>
                  <c:pt idx="2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CA96-4850-B1B3-A5F50E5FE2E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66227472"/>
        <c:axId val="266228912"/>
      </c:barChart>
      <c:catAx>
        <c:axId val="2662274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rgbClr val="9F9F9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8912"/>
        <c:crossesAt val="0"/>
        <c:auto val="1"/>
        <c:lblAlgn val="ctr"/>
        <c:lblOffset val="100"/>
        <c:noMultiLvlLbl val="0"/>
      </c:catAx>
      <c:valAx>
        <c:axId val="266228912"/>
        <c:scaling>
          <c:orientation val="minMax"/>
          <c:max val="45000"/>
          <c:min val="-15000"/>
        </c:scaling>
        <c:delete val="0"/>
        <c:axPos val="t"/>
        <c:numFmt formatCode="#,##0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7472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208272789485112E-2"/>
          <c:y val="2.8765454160356748E-2"/>
          <c:w val="0.93305713054705919"/>
          <c:h val="0.7570543288295786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YouTube + Facebook + Instagram</c:v>
                </c:pt>
              </c:strCache>
            </c:strRef>
          </c:tx>
          <c:spPr>
            <a:solidFill>
              <a:srgbClr val="FF637C"/>
            </a:solidFill>
            <a:ln>
              <a:noFill/>
            </a:ln>
            <a:effectLst/>
          </c:spPr>
          <c:cat>
            <c:numRef>
              <c:f>Sheet1!$A$2:$A$38</c:f>
              <c:numCache>
                <c:formatCode>mmm\ yy</c:formatCode>
                <c:ptCount val="37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44562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44682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44835</c:v>
                </c:pt>
                <c:pt idx="14">
                  <c:v>44866</c:v>
                </c:pt>
                <c:pt idx="15">
                  <c:v>44896</c:v>
                </c:pt>
                <c:pt idx="16">
                  <c:v>44927</c:v>
                </c:pt>
                <c:pt idx="17">
                  <c:v>44958</c:v>
                </c:pt>
                <c:pt idx="18">
                  <c:v>44986</c:v>
                </c:pt>
                <c:pt idx="19">
                  <c:v>45017</c:v>
                </c:pt>
                <c:pt idx="20">
                  <c:v>45047</c:v>
                </c:pt>
                <c:pt idx="21">
                  <c:v>45078</c:v>
                </c:pt>
                <c:pt idx="22">
                  <c:v>45108</c:v>
                </c:pt>
                <c:pt idx="23">
                  <c:v>45139</c:v>
                </c:pt>
                <c:pt idx="24">
                  <c:v>45170</c:v>
                </c:pt>
                <c:pt idx="25">
                  <c:v>45200</c:v>
                </c:pt>
                <c:pt idx="26">
                  <c:v>45231</c:v>
                </c:pt>
                <c:pt idx="27">
                  <c:v>45261</c:v>
                </c:pt>
                <c:pt idx="28">
                  <c:v>45292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45444</c:v>
                </c:pt>
                <c:pt idx="34">
                  <c:v>45474</c:v>
                </c:pt>
                <c:pt idx="35">
                  <c:v>45505</c:v>
                </c:pt>
                <c:pt idx="36">
                  <c:v>45536</c:v>
                </c:pt>
              </c:numCache>
            </c:numRef>
          </c:cat>
          <c:val>
            <c:numRef>
              <c:f>Sheet1!$B$2:$B$38</c:f>
              <c:numCache>
                <c:formatCode>#,##0</c:formatCode>
                <c:ptCount val="37"/>
                <c:pt idx="0">
                  <c:v>4.5318190105233498E-8</c:v>
                </c:pt>
                <c:pt idx="1">
                  <c:v>4.4237048867877399E-8</c:v>
                </c:pt>
                <c:pt idx="2">
                  <c:v>4.3414245480788497E-8</c:v>
                </c:pt>
                <c:pt idx="3">
                  <c:v>4.2091654425249099E-8</c:v>
                </c:pt>
                <c:pt idx="4">
                  <c:v>4.2168590417041297E-8</c:v>
                </c:pt>
                <c:pt idx="5">
                  <c:v>4.1765390879411201E-8</c:v>
                </c:pt>
                <c:pt idx="6">
                  <c:v>4.05556435893264E-8</c:v>
                </c:pt>
                <c:pt idx="7">
                  <c:v>4.02457591717276E-8</c:v>
                </c:pt>
                <c:pt idx="8">
                  <c:v>3.9836385025967701E-8</c:v>
                </c:pt>
                <c:pt idx="9">
                  <c:v>3.9499784912816901E-8</c:v>
                </c:pt>
                <c:pt idx="10">
                  <c:v>3.9339584048072402E-8</c:v>
                </c:pt>
                <c:pt idx="11">
                  <c:v>3.9434354509421802E-8</c:v>
                </c:pt>
                <c:pt idx="12">
                  <c:v>3.94436776975133E-8</c:v>
                </c:pt>
                <c:pt idx="13">
                  <c:v>3.9477777591955999E-8</c:v>
                </c:pt>
                <c:pt idx="14">
                  <c:v>3.93450088795054E-8</c:v>
                </c:pt>
                <c:pt idx="15">
                  <c:v>3.9018266009146901E-8</c:v>
                </c:pt>
                <c:pt idx="16">
                  <c:v>3.9326645488606497E-8</c:v>
                </c:pt>
                <c:pt idx="17">
                  <c:v>3.9407231691735598E-8</c:v>
                </c:pt>
                <c:pt idx="18">
                  <c:v>3.9227482540527199E-8</c:v>
                </c:pt>
                <c:pt idx="19">
                  <c:v>3.9185682092361997E-8</c:v>
                </c:pt>
                <c:pt idx="20">
                  <c:v>3.9197159151640998E-8</c:v>
                </c:pt>
                <c:pt idx="21">
                  <c:v>388.39791937088199</c:v>
                </c:pt>
                <c:pt idx="22">
                  <c:v>396.74059646403299</c:v>
                </c:pt>
                <c:pt idx="23">
                  <c:v>394.76450336512403</c:v>
                </c:pt>
                <c:pt idx="24">
                  <c:v>388.26951255332</c:v>
                </c:pt>
                <c:pt idx="25">
                  <c:v>348.10023965119098</c:v>
                </c:pt>
                <c:pt idx="26">
                  <c:v>192.64356170201</c:v>
                </c:pt>
                <c:pt idx="27">
                  <c:v>36.542491429094603</c:v>
                </c:pt>
                <c:pt idx="28">
                  <c:v>2.0851824161127199</c:v>
                </c:pt>
                <c:pt idx="29">
                  <c:v>5.9535282174131697E-2</c:v>
                </c:pt>
                <c:pt idx="30">
                  <c:v>1.7366023251907301E-3</c:v>
                </c:pt>
                <c:pt idx="31">
                  <c:v>212.74300391450899</c:v>
                </c:pt>
                <c:pt idx="32">
                  <c:v>375.13119066206002</c:v>
                </c:pt>
                <c:pt idx="33">
                  <c:v>375.12122710099499</c:v>
                </c:pt>
                <c:pt idx="34">
                  <c:v>375.54080359073203</c:v>
                </c:pt>
                <c:pt idx="35">
                  <c:v>375.47227683081798</c:v>
                </c:pt>
                <c:pt idx="36">
                  <c:v>375.349620736394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78-461C-A058-5EA273E690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Search</c:v>
                </c:pt>
              </c:strCache>
            </c:strRef>
          </c:tx>
          <c:spPr>
            <a:solidFill>
              <a:srgbClr val="FFE95B"/>
            </a:solidFill>
            <a:ln>
              <a:noFill/>
            </a:ln>
            <a:effectLst/>
          </c:spPr>
          <c:dPt>
            <c:idx val="22"/>
            <c:bubble3D val="0"/>
            <c:spPr>
              <a:solidFill>
                <a:srgbClr val="FFE95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178-461C-A058-5EA273E69069}"/>
              </c:ext>
            </c:extLst>
          </c:dPt>
          <c:cat>
            <c:numRef>
              <c:f>Sheet1!$A$2:$A$38</c:f>
              <c:numCache>
                <c:formatCode>mmm\ yy</c:formatCode>
                <c:ptCount val="37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44562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44682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44835</c:v>
                </c:pt>
                <c:pt idx="14">
                  <c:v>44866</c:v>
                </c:pt>
                <c:pt idx="15">
                  <c:v>44896</c:v>
                </c:pt>
                <c:pt idx="16">
                  <c:v>44927</c:v>
                </c:pt>
                <c:pt idx="17">
                  <c:v>44958</c:v>
                </c:pt>
                <c:pt idx="18">
                  <c:v>44986</c:v>
                </c:pt>
                <c:pt idx="19">
                  <c:v>45017</c:v>
                </c:pt>
                <c:pt idx="20">
                  <c:v>45047</c:v>
                </c:pt>
                <c:pt idx="21">
                  <c:v>45078</c:v>
                </c:pt>
                <c:pt idx="22">
                  <c:v>45108</c:v>
                </c:pt>
                <c:pt idx="23">
                  <c:v>45139</c:v>
                </c:pt>
                <c:pt idx="24">
                  <c:v>45170</c:v>
                </c:pt>
                <c:pt idx="25">
                  <c:v>45200</c:v>
                </c:pt>
                <c:pt idx="26">
                  <c:v>45231</c:v>
                </c:pt>
                <c:pt idx="27">
                  <c:v>45261</c:v>
                </c:pt>
                <c:pt idx="28">
                  <c:v>45292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45444</c:v>
                </c:pt>
                <c:pt idx="34">
                  <c:v>45474</c:v>
                </c:pt>
                <c:pt idx="35">
                  <c:v>45505</c:v>
                </c:pt>
                <c:pt idx="36">
                  <c:v>45536</c:v>
                </c:pt>
              </c:numCache>
            </c:numRef>
          </c:cat>
          <c:val>
            <c:numRef>
              <c:f>Sheet1!$C$2:$C$38</c:f>
              <c:numCache>
                <c:formatCode>#,##0</c:formatCode>
                <c:ptCount val="37"/>
                <c:pt idx="0">
                  <c:v>2.4060811361772499E-8</c:v>
                </c:pt>
                <c:pt idx="1">
                  <c:v>2.36856737434794E-8</c:v>
                </c:pt>
                <c:pt idx="2">
                  <c:v>2.3657323366789001E-8</c:v>
                </c:pt>
                <c:pt idx="3">
                  <c:v>2.3005333804191E-8</c:v>
                </c:pt>
                <c:pt idx="4">
                  <c:v>2.3638541308906801E-8</c:v>
                </c:pt>
                <c:pt idx="5">
                  <c:v>2.3647194714937301E-8</c:v>
                </c:pt>
                <c:pt idx="6">
                  <c:v>2.2296514990478101E-8</c:v>
                </c:pt>
                <c:pt idx="7">
                  <c:v>2.1978654621303799E-8</c:v>
                </c:pt>
                <c:pt idx="8">
                  <c:v>2.1548682655085399E-8</c:v>
                </c:pt>
                <c:pt idx="9">
                  <c:v>2.1176056663799199E-8</c:v>
                </c:pt>
                <c:pt idx="10">
                  <c:v>2.1027382542598202E-8</c:v>
                </c:pt>
                <c:pt idx="11">
                  <c:v>2.1271467683529399E-8</c:v>
                </c:pt>
                <c:pt idx="12">
                  <c:v>2.1297926193206402E-8</c:v>
                </c:pt>
                <c:pt idx="13">
                  <c:v>2.1528569691942699E-8</c:v>
                </c:pt>
                <c:pt idx="14">
                  <c:v>2.0953867689635701E-8</c:v>
                </c:pt>
                <c:pt idx="15">
                  <c:v>1.9661458477461299E-8</c:v>
                </c:pt>
                <c:pt idx="16">
                  <c:v>1.9688279762770699E-8</c:v>
                </c:pt>
                <c:pt idx="17">
                  <c:v>1.9298008225624399E-8</c:v>
                </c:pt>
                <c:pt idx="18">
                  <c:v>1.8066884288510101E-8</c:v>
                </c:pt>
                <c:pt idx="19">
                  <c:v>1.7682826303260001E-8</c:v>
                </c:pt>
                <c:pt idx="20">
                  <c:v>1.7443190530789799E-8</c:v>
                </c:pt>
                <c:pt idx="21">
                  <c:v>30.6544768856003</c:v>
                </c:pt>
                <c:pt idx="22">
                  <c:v>174.83294440917601</c:v>
                </c:pt>
                <c:pt idx="23">
                  <c:v>152.22997286211699</c:v>
                </c:pt>
                <c:pt idx="24">
                  <c:v>25.145589633063999</c:v>
                </c:pt>
                <c:pt idx="25">
                  <c:v>0.21286900655129801</c:v>
                </c:pt>
                <c:pt idx="26">
                  <c:v>6.6468973558466901E-4</c:v>
                </c:pt>
                <c:pt idx="27">
                  <c:v>7.0487086294815101E-6</c:v>
                </c:pt>
                <c:pt idx="28">
                  <c:v>4.2544307313385302E-7</c:v>
                </c:pt>
                <c:pt idx="29">
                  <c:v>8.6703063046607296E-8</c:v>
                </c:pt>
                <c:pt idx="30">
                  <c:v>3.6148983428288498E-8</c:v>
                </c:pt>
                <c:pt idx="31">
                  <c:v>2.38804353829178E-8</c:v>
                </c:pt>
                <c:pt idx="32">
                  <c:v>73.117875237566594</c:v>
                </c:pt>
                <c:pt idx="33">
                  <c:v>77.457519627112504</c:v>
                </c:pt>
                <c:pt idx="34">
                  <c:v>48.559182793547699</c:v>
                </c:pt>
                <c:pt idx="35">
                  <c:v>0.88250619127672603</c:v>
                </c:pt>
                <c:pt idx="36">
                  <c:v>2.8087807422585002E-3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178-461C-A058-5EA273E690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 Banners</c:v>
                </c:pt>
              </c:strCache>
            </c:strRef>
          </c:tx>
          <c:spPr>
            <a:solidFill>
              <a:srgbClr val="FF9362"/>
            </a:solidFill>
            <a:ln>
              <a:noFill/>
            </a:ln>
            <a:effectLst/>
          </c:spPr>
          <c:cat>
            <c:numRef>
              <c:f>Sheet1!$A$2:$A$38</c:f>
              <c:numCache>
                <c:formatCode>mmm\ yy</c:formatCode>
                <c:ptCount val="37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44562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44682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44835</c:v>
                </c:pt>
                <c:pt idx="14">
                  <c:v>44866</c:v>
                </c:pt>
                <c:pt idx="15">
                  <c:v>44896</c:v>
                </c:pt>
                <c:pt idx="16">
                  <c:v>44927</c:v>
                </c:pt>
                <c:pt idx="17">
                  <c:v>44958</c:v>
                </c:pt>
                <c:pt idx="18">
                  <c:v>44986</c:v>
                </c:pt>
                <c:pt idx="19">
                  <c:v>45017</c:v>
                </c:pt>
                <c:pt idx="20">
                  <c:v>45047</c:v>
                </c:pt>
                <c:pt idx="21">
                  <c:v>45078</c:v>
                </c:pt>
                <c:pt idx="22">
                  <c:v>45108</c:v>
                </c:pt>
                <c:pt idx="23">
                  <c:v>45139</c:v>
                </c:pt>
                <c:pt idx="24">
                  <c:v>45170</c:v>
                </c:pt>
                <c:pt idx="25">
                  <c:v>45200</c:v>
                </c:pt>
                <c:pt idx="26">
                  <c:v>45231</c:v>
                </c:pt>
                <c:pt idx="27">
                  <c:v>45261</c:v>
                </c:pt>
                <c:pt idx="28">
                  <c:v>45292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45444</c:v>
                </c:pt>
                <c:pt idx="34">
                  <c:v>45474</c:v>
                </c:pt>
                <c:pt idx="35">
                  <c:v>45505</c:v>
                </c:pt>
                <c:pt idx="36">
                  <c:v>45536</c:v>
                </c:pt>
              </c:numCache>
            </c:numRef>
          </c:cat>
          <c:val>
            <c:numRef>
              <c:f>Sheet1!$D$2:$D$38</c:f>
              <c:numCache>
                <c:formatCode>#,##0</c:formatCode>
                <c:ptCount val="37"/>
                <c:pt idx="0">
                  <c:v>3.5499081134420703E-8</c:v>
                </c:pt>
                <c:pt idx="1">
                  <c:v>3.5473090885576498E-8</c:v>
                </c:pt>
                <c:pt idx="2">
                  <c:v>3.52780814949017E-8</c:v>
                </c:pt>
                <c:pt idx="3">
                  <c:v>3.5404535137915803E-8</c:v>
                </c:pt>
                <c:pt idx="4">
                  <c:v>3.47755972442416E-8</c:v>
                </c:pt>
                <c:pt idx="5">
                  <c:v>3.4416746553248597E-8</c:v>
                </c:pt>
                <c:pt idx="6">
                  <c:v>3.4657262711967298E-8</c:v>
                </c:pt>
                <c:pt idx="7">
                  <c:v>3.4332067932189799E-8</c:v>
                </c:pt>
                <c:pt idx="8">
                  <c:v>3.405102227397E-8</c:v>
                </c:pt>
                <c:pt idx="9">
                  <c:v>3.3759913829422399E-8</c:v>
                </c:pt>
                <c:pt idx="10">
                  <c:v>3.3380169447167297E-8</c:v>
                </c:pt>
                <c:pt idx="11">
                  <c:v>3.2746273455731398E-8</c:v>
                </c:pt>
                <c:pt idx="12">
                  <c:v>3.2219928011873698E-8</c:v>
                </c:pt>
                <c:pt idx="13">
                  <c:v>3.1510766450494799E-8</c:v>
                </c:pt>
                <c:pt idx="14">
                  <c:v>3.1251207064748101E-8</c:v>
                </c:pt>
                <c:pt idx="15">
                  <c:v>3.1429200372974601E-8</c:v>
                </c:pt>
                <c:pt idx="16">
                  <c:v>3.0587930258092699E-8</c:v>
                </c:pt>
                <c:pt idx="17">
                  <c:v>3.0039915083626E-8</c:v>
                </c:pt>
                <c:pt idx="18">
                  <c:v>3.0133462321461601E-8</c:v>
                </c:pt>
                <c:pt idx="19">
                  <c:v>2.9640654373618801E-8</c:v>
                </c:pt>
                <c:pt idx="20">
                  <c:v>2.9011059651732799E-8</c:v>
                </c:pt>
                <c:pt idx="21">
                  <c:v>261.27739505869698</c:v>
                </c:pt>
                <c:pt idx="22">
                  <c:v>271.09594003145298</c:v>
                </c:pt>
                <c:pt idx="23">
                  <c:v>269.101116075297</c:v>
                </c:pt>
                <c:pt idx="24">
                  <c:v>221.077224234927</c:v>
                </c:pt>
                <c:pt idx="25">
                  <c:v>31.454487606494201</c:v>
                </c:pt>
                <c:pt idx="26">
                  <c:v>0.23669972583827001</c:v>
                </c:pt>
                <c:pt idx="27">
                  <c:v>8.0167268586186797E-4</c:v>
                </c:pt>
                <c:pt idx="28">
                  <c:v>9.8430010823080904E-6</c:v>
                </c:pt>
                <c:pt idx="29">
                  <c:v>6.38990609819129E-7</c:v>
                </c:pt>
                <c:pt idx="30">
                  <c:v>1.3983778089518E-7</c:v>
                </c:pt>
                <c:pt idx="31">
                  <c:v>6.2159987236946404E-8</c:v>
                </c:pt>
                <c:pt idx="32">
                  <c:v>4.1061125009236202E-8</c:v>
                </c:pt>
                <c:pt idx="33">
                  <c:v>3.3269419757360001E-8</c:v>
                </c:pt>
                <c:pt idx="34">
                  <c:v>2.9937239654026199E-8</c:v>
                </c:pt>
                <c:pt idx="35">
                  <c:v>2.8395308367751E-8</c:v>
                </c:pt>
                <c:pt idx="36">
                  <c:v>2.76416882247753E-8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78-461C-A058-5EA273E6906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OOH Large Format</c:v>
                </c:pt>
              </c:strCache>
            </c:strRef>
          </c:tx>
          <c:spPr>
            <a:solidFill>
              <a:srgbClr val="CEA2EA"/>
            </a:solidFill>
            <a:ln>
              <a:noFill/>
            </a:ln>
            <a:effectLst/>
          </c:spPr>
          <c:cat>
            <c:numRef>
              <c:f>Sheet1!$A$2:$A$38</c:f>
              <c:numCache>
                <c:formatCode>mmm\ yy</c:formatCode>
                <c:ptCount val="37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44562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44682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44835</c:v>
                </c:pt>
                <c:pt idx="14">
                  <c:v>44866</c:v>
                </c:pt>
                <c:pt idx="15">
                  <c:v>44896</c:v>
                </c:pt>
                <c:pt idx="16">
                  <c:v>44927</c:v>
                </c:pt>
                <c:pt idx="17">
                  <c:v>44958</c:v>
                </c:pt>
                <c:pt idx="18">
                  <c:v>44986</c:v>
                </c:pt>
                <c:pt idx="19">
                  <c:v>45017</c:v>
                </c:pt>
                <c:pt idx="20">
                  <c:v>45047</c:v>
                </c:pt>
                <c:pt idx="21">
                  <c:v>45078</c:v>
                </c:pt>
                <c:pt idx="22">
                  <c:v>45108</c:v>
                </c:pt>
                <c:pt idx="23">
                  <c:v>45139</c:v>
                </c:pt>
                <c:pt idx="24">
                  <c:v>45170</c:v>
                </c:pt>
                <c:pt idx="25">
                  <c:v>45200</c:v>
                </c:pt>
                <c:pt idx="26">
                  <c:v>45231</c:v>
                </c:pt>
                <c:pt idx="27">
                  <c:v>45261</c:v>
                </c:pt>
                <c:pt idx="28">
                  <c:v>45292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45444</c:v>
                </c:pt>
                <c:pt idx="34">
                  <c:v>45474</c:v>
                </c:pt>
                <c:pt idx="35">
                  <c:v>45505</c:v>
                </c:pt>
                <c:pt idx="36">
                  <c:v>45536</c:v>
                </c:pt>
              </c:numCache>
            </c:numRef>
          </c:cat>
          <c:val>
            <c:numRef>
              <c:f>Sheet1!$E$2:$E$38</c:f>
              <c:numCache>
                <c:formatCode>#,##0</c:formatCode>
                <c:ptCount val="37"/>
                <c:pt idx="0">
                  <c:v>2.09101244950685E-8</c:v>
                </c:pt>
                <c:pt idx="1">
                  <c:v>2.2251739465110201E-8</c:v>
                </c:pt>
                <c:pt idx="2">
                  <c:v>2.3129083605068002E-8</c:v>
                </c:pt>
                <c:pt idx="3">
                  <c:v>2.48737939297717E-8</c:v>
                </c:pt>
                <c:pt idx="4">
                  <c:v>2.4087148836215301E-8</c:v>
                </c:pt>
                <c:pt idx="5">
                  <c:v>2.43217270033122E-8</c:v>
                </c:pt>
                <c:pt idx="6">
                  <c:v>2.6368880888134798E-8</c:v>
                </c:pt>
                <c:pt idx="7">
                  <c:v>2.65494142177944E-8</c:v>
                </c:pt>
                <c:pt idx="8">
                  <c:v>2.69169240604387E-8</c:v>
                </c:pt>
                <c:pt idx="9">
                  <c:v>2.7183723151647801E-8</c:v>
                </c:pt>
                <c:pt idx="10">
                  <c:v>2.7065250059586701E-8</c:v>
                </c:pt>
                <c:pt idx="11">
                  <c:v>2.6559693935936098E-8</c:v>
                </c:pt>
                <c:pt idx="12">
                  <c:v>2.62017744417875E-8</c:v>
                </c:pt>
                <c:pt idx="13">
                  <c:v>2.5842889594420901E-8</c:v>
                </c:pt>
                <c:pt idx="14">
                  <c:v>2.5686463361454E-8</c:v>
                </c:pt>
                <c:pt idx="15">
                  <c:v>2.5714094173927302E-8</c:v>
                </c:pt>
                <c:pt idx="16">
                  <c:v>2.48285795562441E-8</c:v>
                </c:pt>
                <c:pt idx="17">
                  <c:v>2.4240870981588499E-8</c:v>
                </c:pt>
                <c:pt idx="18">
                  <c:v>2.3776206444981599E-8</c:v>
                </c:pt>
                <c:pt idx="19">
                  <c:v>2.3335715052290599E-8</c:v>
                </c:pt>
                <c:pt idx="20">
                  <c:v>2.2857842507030201E-8</c:v>
                </c:pt>
                <c:pt idx="21">
                  <c:v>224.130800982072</c:v>
                </c:pt>
                <c:pt idx="22">
                  <c:v>218.48178681111901</c:v>
                </c:pt>
                <c:pt idx="23">
                  <c:v>215.84954306063801</c:v>
                </c:pt>
                <c:pt idx="24">
                  <c:v>213.148189629218</c:v>
                </c:pt>
                <c:pt idx="25">
                  <c:v>191.53098148541599</c:v>
                </c:pt>
                <c:pt idx="26">
                  <c:v>121.229388094203</c:v>
                </c:pt>
                <c:pt idx="27">
                  <c:v>37.819119666646102</c:v>
                </c:pt>
                <c:pt idx="28">
                  <c:v>4.8345856668257099</c:v>
                </c:pt>
                <c:pt idx="29">
                  <c:v>0.31827314896863601</c:v>
                </c:pt>
                <c:pt idx="30">
                  <c:v>1.6276671463457699E-2</c:v>
                </c:pt>
                <c:pt idx="31">
                  <c:v>9.01187994543759E-4</c:v>
                </c:pt>
                <c:pt idx="32">
                  <c:v>7.2052681274695397E-5</c:v>
                </c:pt>
                <c:pt idx="33">
                  <c:v>9.09734398667923E-6</c:v>
                </c:pt>
                <c:pt idx="34">
                  <c:v>1.8031147807861601E-6</c:v>
                </c:pt>
                <c:pt idx="35">
                  <c:v>5.3154179915373195E-7</c:v>
                </c:pt>
                <c:pt idx="36">
                  <c:v>2.1569365164505699E-7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178-461C-A058-5EA273E6906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OOH Retail Media</c:v>
                </c:pt>
              </c:strCache>
            </c:strRef>
          </c:tx>
          <c:spPr>
            <a:solidFill>
              <a:srgbClr val="00A784"/>
            </a:solidFill>
            <a:ln>
              <a:noFill/>
            </a:ln>
            <a:effectLst/>
          </c:spPr>
          <c:cat>
            <c:numRef>
              <c:f>Sheet1!$A$2:$A$38</c:f>
              <c:numCache>
                <c:formatCode>mmm\ yy</c:formatCode>
                <c:ptCount val="37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44562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44682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44835</c:v>
                </c:pt>
                <c:pt idx="14">
                  <c:v>44866</c:v>
                </c:pt>
                <c:pt idx="15">
                  <c:v>44896</c:v>
                </c:pt>
                <c:pt idx="16">
                  <c:v>44927</c:v>
                </c:pt>
                <c:pt idx="17">
                  <c:v>44958</c:v>
                </c:pt>
                <c:pt idx="18">
                  <c:v>44986</c:v>
                </c:pt>
                <c:pt idx="19">
                  <c:v>45017</c:v>
                </c:pt>
                <c:pt idx="20">
                  <c:v>45047</c:v>
                </c:pt>
                <c:pt idx="21">
                  <c:v>45078</c:v>
                </c:pt>
                <c:pt idx="22">
                  <c:v>45108</c:v>
                </c:pt>
                <c:pt idx="23">
                  <c:v>45139</c:v>
                </c:pt>
                <c:pt idx="24">
                  <c:v>45170</c:v>
                </c:pt>
                <c:pt idx="25">
                  <c:v>45200</c:v>
                </c:pt>
                <c:pt idx="26">
                  <c:v>45231</c:v>
                </c:pt>
                <c:pt idx="27">
                  <c:v>45261</c:v>
                </c:pt>
                <c:pt idx="28">
                  <c:v>45292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45444</c:v>
                </c:pt>
                <c:pt idx="34">
                  <c:v>45474</c:v>
                </c:pt>
                <c:pt idx="35">
                  <c:v>45505</c:v>
                </c:pt>
                <c:pt idx="36">
                  <c:v>45536</c:v>
                </c:pt>
              </c:numCache>
            </c:numRef>
          </c:cat>
          <c:val>
            <c:numRef>
              <c:f>Sheet1!$F$2:$F$38</c:f>
              <c:numCache>
                <c:formatCode>#,##0</c:formatCode>
                <c:ptCount val="37"/>
                <c:pt idx="0">
                  <c:v>3.62337666511555E-9</c:v>
                </c:pt>
                <c:pt idx="1">
                  <c:v>3.9543282984732304E-9</c:v>
                </c:pt>
                <c:pt idx="2">
                  <c:v>3.9226534724182897E-9</c:v>
                </c:pt>
                <c:pt idx="3">
                  <c:v>4.5340985985508402E-9</c:v>
                </c:pt>
                <c:pt idx="4">
                  <c:v>3.8383432292940997E-9</c:v>
                </c:pt>
                <c:pt idx="5">
                  <c:v>3.71765953640389E-9</c:v>
                </c:pt>
                <c:pt idx="6">
                  <c:v>4.9411716872120999E-9</c:v>
                </c:pt>
                <c:pt idx="7">
                  <c:v>5.1215194343237199E-9</c:v>
                </c:pt>
                <c:pt idx="8">
                  <c:v>5.4112786716580798E-9</c:v>
                </c:pt>
                <c:pt idx="9">
                  <c:v>5.6534115094867002E-9</c:v>
                </c:pt>
                <c:pt idx="10">
                  <c:v>5.6287081955942598E-9</c:v>
                </c:pt>
                <c:pt idx="11">
                  <c:v>5.2285825996215096E-9</c:v>
                </c:pt>
                <c:pt idx="12">
                  <c:v>5.0379466521884202E-9</c:v>
                </c:pt>
                <c:pt idx="13">
                  <c:v>4.7269014422470602E-9</c:v>
                </c:pt>
                <c:pt idx="14">
                  <c:v>5.1473633720427103E-9</c:v>
                </c:pt>
                <c:pt idx="15">
                  <c:v>6.1680180514741204E-9</c:v>
                </c:pt>
                <c:pt idx="16">
                  <c:v>6.1889775180182696E-9</c:v>
                </c:pt>
                <c:pt idx="17">
                  <c:v>6.5441676004013201E-9</c:v>
                </c:pt>
                <c:pt idx="18">
                  <c:v>7.6186900264243003E-9</c:v>
                </c:pt>
                <c:pt idx="19">
                  <c:v>7.9751765078284806E-9</c:v>
                </c:pt>
                <c:pt idx="20">
                  <c:v>8.1988581631469305E-9</c:v>
                </c:pt>
                <c:pt idx="21">
                  <c:v>73.835672318537803</c:v>
                </c:pt>
                <c:pt idx="22">
                  <c:v>74.603108228397105</c:v>
                </c:pt>
                <c:pt idx="23">
                  <c:v>81.693020599560001</c:v>
                </c:pt>
                <c:pt idx="24">
                  <c:v>93.950801717283497</c:v>
                </c:pt>
                <c:pt idx="25">
                  <c:v>107.096806097978</c:v>
                </c:pt>
                <c:pt idx="26">
                  <c:v>118.429788079072</c:v>
                </c:pt>
                <c:pt idx="27">
                  <c:v>111.21873632912001</c:v>
                </c:pt>
                <c:pt idx="28">
                  <c:v>64.572100665719901</c:v>
                </c:pt>
                <c:pt idx="29">
                  <c:v>18.434886275297899</c:v>
                </c:pt>
                <c:pt idx="30">
                  <c:v>2.2716044445947601</c:v>
                </c:pt>
                <c:pt idx="31">
                  <c:v>0.141573700723961</c:v>
                </c:pt>
                <c:pt idx="32">
                  <c:v>77.838028976607603</c:v>
                </c:pt>
                <c:pt idx="33">
                  <c:v>122.29203945467199</c:v>
                </c:pt>
                <c:pt idx="34">
                  <c:v>126.615893164665</c:v>
                </c:pt>
                <c:pt idx="35">
                  <c:v>129.339304908945</c:v>
                </c:pt>
                <c:pt idx="36">
                  <c:v>115.599841631545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178-461C-A058-5EA273E69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5001056"/>
        <c:axId val="1255002976"/>
      </c:area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Total estimated 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Sheet1!$A$2:$A$38</c:f>
              <c:numCache>
                <c:formatCode>mmm\ yy</c:formatCode>
                <c:ptCount val="37"/>
                <c:pt idx="0">
                  <c:v>44440</c:v>
                </c:pt>
                <c:pt idx="1">
                  <c:v>44470</c:v>
                </c:pt>
                <c:pt idx="2">
                  <c:v>44501</c:v>
                </c:pt>
                <c:pt idx="3">
                  <c:v>44531</c:v>
                </c:pt>
                <c:pt idx="4">
                  <c:v>44562</c:v>
                </c:pt>
                <c:pt idx="5">
                  <c:v>44593</c:v>
                </c:pt>
                <c:pt idx="6">
                  <c:v>44621</c:v>
                </c:pt>
                <c:pt idx="7">
                  <c:v>44652</c:v>
                </c:pt>
                <c:pt idx="8">
                  <c:v>44682</c:v>
                </c:pt>
                <c:pt idx="9">
                  <c:v>44713</c:v>
                </c:pt>
                <c:pt idx="10">
                  <c:v>44743</c:v>
                </c:pt>
                <c:pt idx="11">
                  <c:v>44774</c:v>
                </c:pt>
                <c:pt idx="12">
                  <c:v>44805</c:v>
                </c:pt>
                <c:pt idx="13">
                  <c:v>44835</c:v>
                </c:pt>
                <c:pt idx="14">
                  <c:v>44866</c:v>
                </c:pt>
                <c:pt idx="15">
                  <c:v>44896</c:v>
                </c:pt>
                <c:pt idx="16">
                  <c:v>44927</c:v>
                </c:pt>
                <c:pt idx="17">
                  <c:v>44958</c:v>
                </c:pt>
                <c:pt idx="18">
                  <c:v>44986</c:v>
                </c:pt>
                <c:pt idx="19">
                  <c:v>45017</c:v>
                </c:pt>
                <c:pt idx="20">
                  <c:v>45047</c:v>
                </c:pt>
                <c:pt idx="21">
                  <c:v>45078</c:v>
                </c:pt>
                <c:pt idx="22">
                  <c:v>45108</c:v>
                </c:pt>
                <c:pt idx="23">
                  <c:v>45139</c:v>
                </c:pt>
                <c:pt idx="24">
                  <c:v>45170</c:v>
                </c:pt>
                <c:pt idx="25">
                  <c:v>45200</c:v>
                </c:pt>
                <c:pt idx="26">
                  <c:v>45231</c:v>
                </c:pt>
                <c:pt idx="27">
                  <c:v>45261</c:v>
                </c:pt>
                <c:pt idx="28">
                  <c:v>45292</c:v>
                </c:pt>
                <c:pt idx="29">
                  <c:v>45323</c:v>
                </c:pt>
                <c:pt idx="30">
                  <c:v>45352</c:v>
                </c:pt>
                <c:pt idx="31">
                  <c:v>45383</c:v>
                </c:pt>
                <c:pt idx="32">
                  <c:v>45413</c:v>
                </c:pt>
                <c:pt idx="33">
                  <c:v>45444</c:v>
                </c:pt>
                <c:pt idx="34">
                  <c:v>45474</c:v>
                </c:pt>
                <c:pt idx="35">
                  <c:v>45505</c:v>
                </c:pt>
                <c:pt idx="36">
                  <c:v>45536</c:v>
                </c:pt>
              </c:numCache>
            </c:numRef>
          </c:cat>
          <c:val>
            <c:numRef>
              <c:f>Sheet1!$G$2:$G$38</c:f>
              <c:numCache>
                <c:formatCode>#,##0</c:formatCode>
                <c:ptCount val="37"/>
                <c:pt idx="0">
                  <c:v>3378.921714126579</c:v>
                </c:pt>
                <c:pt idx="1">
                  <c:v>2934.4872912763553</c:v>
                </c:pt>
                <c:pt idx="2">
                  <c:v>2703.1042810969429</c:v>
                </c:pt>
                <c:pt idx="3">
                  <c:v>2294.8617526451076</c:v>
                </c:pt>
                <c:pt idx="4">
                  <c:v>2313.7008017765102</c:v>
                </c:pt>
                <c:pt idx="5">
                  <c:v>2423.8704784376832</c:v>
                </c:pt>
                <c:pt idx="6">
                  <c:v>2418.5678830835491</c:v>
                </c:pt>
                <c:pt idx="7">
                  <c:v>2525.0551683181316</c:v>
                </c:pt>
                <c:pt idx="8">
                  <c:v>3213.8702559227763</c:v>
                </c:pt>
                <c:pt idx="9">
                  <c:v>3627.6462000223314</c:v>
                </c:pt>
                <c:pt idx="10">
                  <c:v>2817.2819208656119</c:v>
                </c:pt>
                <c:pt idx="11">
                  <c:v>2916.90336332062</c:v>
                </c:pt>
                <c:pt idx="12">
                  <c:v>3687.1324564429888</c:v>
                </c:pt>
                <c:pt idx="13">
                  <c:v>2840.6742247361517</c:v>
                </c:pt>
                <c:pt idx="14">
                  <c:v>2329.6367900344458</c:v>
                </c:pt>
                <c:pt idx="15">
                  <c:v>2089.3192782937149</c:v>
                </c:pt>
                <c:pt idx="16">
                  <c:v>1906.4379504383435</c:v>
                </c:pt>
                <c:pt idx="17">
                  <c:v>1650.4221306306151</c:v>
                </c:pt>
                <c:pt idx="18">
                  <c:v>2241.3366191076716</c:v>
                </c:pt>
                <c:pt idx="19">
                  <c:v>2073.492409991572</c:v>
                </c:pt>
                <c:pt idx="20">
                  <c:v>2448.3893707859652</c:v>
                </c:pt>
                <c:pt idx="21">
                  <c:v>3982.626445494242</c:v>
                </c:pt>
                <c:pt idx="22">
                  <c:v>3438.0702998871898</c:v>
                </c:pt>
                <c:pt idx="23">
                  <c:v>2962.4676058897103</c:v>
                </c:pt>
                <c:pt idx="24">
                  <c:v>3411.4094043231971</c:v>
                </c:pt>
                <c:pt idx="25">
                  <c:v>2510.1160222356348</c:v>
                </c:pt>
                <c:pt idx="26">
                  <c:v>2182.5203986532715</c:v>
                </c:pt>
                <c:pt idx="27">
                  <c:v>2521.7387176205948</c:v>
                </c:pt>
                <c:pt idx="28">
                  <c:v>1847.7684534398763</c:v>
                </c:pt>
                <c:pt idx="29">
                  <c:v>1747.6399660999377</c:v>
                </c:pt>
                <c:pt idx="30">
                  <c:v>2507.1481919381108</c:v>
                </c:pt>
                <c:pt idx="31">
                  <c:v>2564.6946961691733</c:v>
                </c:pt>
                <c:pt idx="32">
                  <c:v>3044.1363822225403</c:v>
                </c:pt>
                <c:pt idx="33">
                  <c:v>4020.4414056066325</c:v>
                </c:pt>
                <c:pt idx="34">
                  <c:v>3572.3241690337777</c:v>
                </c:pt>
                <c:pt idx="35">
                  <c:v>3595.0603858361019</c:v>
                </c:pt>
                <c:pt idx="36">
                  <c:v>4107.5455944458909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2178-461C-A058-5EA273E69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5001056"/>
        <c:axId val="1255002976"/>
      </c:lineChart>
      <c:dateAx>
        <c:axId val="1255001056"/>
        <c:scaling>
          <c:orientation val="minMax"/>
        </c:scaling>
        <c:delete val="0"/>
        <c:axPos val="b"/>
        <c:numFmt formatCode="mmm\ 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002976"/>
        <c:crosses val="autoZero"/>
        <c:auto val="1"/>
        <c:lblOffset val="100"/>
        <c:baseTimeUnit val="months"/>
      </c:dateAx>
      <c:valAx>
        <c:axId val="1255002976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001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591901131972397E-2"/>
          <c:y val="0.79806378346794338"/>
          <c:w val="0.96518318298509187"/>
          <c:h val="0.201936216532056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985015844399768E-2"/>
          <c:y val="6.5291338582677161E-2"/>
          <c:w val="0.86363798434044059"/>
          <c:h val="0.830696628341064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817A992-05FB-49AE-BDB5-1EE35CBD0839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12A8-4E69-9012-61A6210C13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7506C61-B9FB-4046-99C6-D504D70156A4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12A8-4E69-9012-61A6210C13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1EA4479-38C0-4015-81BC-B1737854D504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12A8-4E69-9012-61A6210C13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Sheet1!$B$2:$D$2</c:f>
              <c:numCache>
                <c:formatCode>#,##0</c:formatCode>
                <c:ptCount val="3"/>
                <c:pt idx="0">
                  <c:v>29452.634512758203</c:v>
                </c:pt>
                <c:pt idx="1">
                  <c:v>29748.318116962429</c:v>
                </c:pt>
                <c:pt idx="2">
                  <c:v>29564.122541359648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Sheet1!$F$2:$H$2</c15:f>
                <c15:dlblRangeCache>
                  <c:ptCount val="3"/>
                  <c:pt idx="0">
                    <c:v>79%</c:v>
                  </c:pt>
                  <c:pt idx="1">
                    <c:v>70%</c:v>
                  </c:pt>
                  <c:pt idx="2">
                    <c:v>68%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CA96-4850-B1B3-A5F50E5FE2E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Twinings' Price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309638F-DB65-4CD2-B9F8-27764F40EECF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A-CA96-4850-B1B3-A5F50E5FE2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B39AD95-2FE7-45A7-8DD4-4682CB4496B2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12A8-4E69-9012-61A6210C13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4DE95C0-6B44-4F09-87C7-7E5285D97109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Sheet1!$B$3:$D$3</c:f>
              <c:numCache>
                <c:formatCode>#,##0</c:formatCode>
                <c:ptCount val="3"/>
                <c:pt idx="0">
                  <c:v>-2409.3376490032847</c:v>
                </c:pt>
                <c:pt idx="1">
                  <c:v>-6205.798021868437</c:v>
                </c:pt>
                <c:pt idx="2">
                  <c:v>-2869.5674712896448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Sheet1!$F$3:$H$3</c15:f>
                <c15:dlblRangeCache>
                  <c:ptCount val="3"/>
                  <c:pt idx="0">
                    <c:v>-6%</c:v>
                  </c:pt>
                  <c:pt idx="1">
                    <c:v>-15%</c:v>
                  </c:pt>
                  <c:pt idx="2">
                    <c:v>-7%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CA96-4850-B1B3-A5F50E5FE2E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Competitors' Price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07633871752188E-3"/>
                  <c:y val="-7.807149451907140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666666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9F90D71-64AE-45BB-9BAB-9C720FA4AB9C}" type="CELLRANGE">
                      <a:rPr lang="en-US"/>
                      <a:pPr>
                        <a:defRPr>
                          <a:solidFill>
                            <a:srgbClr val="666666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66666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C801CB8-6D37-4B92-A2F9-4A6CD9D231A1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4630622-C14E-4810-9B65-F16EC5D063D3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Sheet1!$B$4:$D$4</c:f>
              <c:numCache>
                <c:formatCode>#,##0</c:formatCode>
                <c:ptCount val="3"/>
                <c:pt idx="0">
                  <c:v>1026.7715010345821</c:v>
                </c:pt>
                <c:pt idx="1">
                  <c:v>3222.3832940866337</c:v>
                </c:pt>
                <c:pt idx="2">
                  <c:v>4307.6310334809041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Sheet1!$F$4:$H$4</c15:f>
                <c15:dlblRangeCache>
                  <c:ptCount val="3"/>
                  <c:pt idx="0">
                    <c:v>3%</c:v>
                  </c:pt>
                  <c:pt idx="1">
                    <c:v>8%</c:v>
                  </c:pt>
                  <c:pt idx="2">
                    <c:v>10%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2-CA96-4850-B1B3-A5F50E5FE2E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Twinings' Distribution</c:v>
                </c:pt>
              </c:strCache>
            </c:strRef>
          </c:tx>
          <c:spPr>
            <a:solidFill>
              <a:srgbClr val="00D2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D24DC2D-B111-4D87-845B-105B501BC109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7C1B6CA-422C-4AF0-BF91-0BD8119FFEEC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A018493-FD2A-4FB0-B4FE-76AA40F21918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Sheet1!$B$5:$D$5</c:f>
              <c:numCache>
                <c:formatCode>#,##0</c:formatCode>
                <c:ptCount val="3"/>
                <c:pt idx="0">
                  <c:v>3370.9158686525466</c:v>
                </c:pt>
                <c:pt idx="1">
                  <c:v>1964.036775815443</c:v>
                </c:pt>
                <c:pt idx="2">
                  <c:v>4031.0993640518163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Sheet1!$F$5:$H$5</c15:f>
                <c15:dlblRangeCache>
                  <c:ptCount val="3"/>
                  <c:pt idx="0">
                    <c:v>9%</c:v>
                  </c:pt>
                  <c:pt idx="1">
                    <c:v>5%</c:v>
                  </c:pt>
                  <c:pt idx="2">
                    <c:v>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CA96-4850-B1B3-A5F50E5FE2ED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Competitors' Distribution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2151071237433914E-3"/>
                  <c:y val="8.1481495197229387E-2"/>
                </c:manualLayout>
              </c:layout>
              <c:tx>
                <c:rich>
                  <a:bodyPr/>
                  <a:lstStyle/>
                  <a:p>
                    <a:fld id="{B1892DE1-5C95-435E-BD97-6FCE46E1D19B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9-CA96-4850-B1B3-A5F50E5FE2ED}"/>
                </c:ext>
              </c:extLst>
            </c:dLbl>
            <c:dLbl>
              <c:idx val="1"/>
              <c:layout>
                <c:manualLayout>
                  <c:x val="2.0693286286734544E-2"/>
                  <c:y val="0.10452683202766694"/>
                </c:manualLayout>
              </c:layout>
              <c:tx>
                <c:rich>
                  <a:bodyPr/>
                  <a:lstStyle/>
                  <a:p>
                    <a:fld id="{9381EBA1-0788-4933-9A3A-952C1815B116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CA96-4850-B1B3-A5F50E5FE2ED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3697EDA-26B0-43FB-9B90-0CBE7308BE26}" type="CELLRANGE">
                      <a:rPr lang="es-ES"/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Sheet1!$B$6:$D$6</c:f>
              <c:numCache>
                <c:formatCode>#,##0</c:formatCode>
                <c:ptCount val="3"/>
                <c:pt idx="0">
                  <c:v>-948.99475838486524</c:v>
                </c:pt>
                <c:pt idx="1">
                  <c:v>-911.16152727894439</c:v>
                </c:pt>
                <c:pt idx="2">
                  <c:v>-2532.5460690988998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Sheet1!$F$6:$H$6</c15:f>
                <c15:dlblRangeCache>
                  <c:ptCount val="3"/>
                  <c:pt idx="0">
                    <c:v>-3%</c:v>
                  </c:pt>
                  <c:pt idx="1">
                    <c:v>-2%</c:v>
                  </c:pt>
                  <c:pt idx="2">
                    <c:v>-6%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A96-4850-B1B3-A5F50E5FE2ED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ED666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39B7455-FC39-4C45-9138-8758CF2ACE8A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8D8FBB2-084C-4FD4-AB23-AE4B56836873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FC61-4784-9411-E6EDB84EA0FC}"/>
                </c:ext>
              </c:extLst>
            </c:dLbl>
            <c:dLbl>
              <c:idx val="2"/>
              <c:layout>
                <c:manualLayout>
                  <c:x val="0"/>
                  <c:y val="-7.195742556405723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666666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3E55AC3-1822-4BBA-A74C-A4529308784F}" type="CELLRANGE">
                      <a:rPr lang="en-US"/>
                      <a:pPr>
                        <a:defRPr>
                          <a:solidFill>
                            <a:srgbClr val="666666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66666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Sheet1!$B$7:$D$7</c:f>
              <c:numCache>
                <c:formatCode>#,##0</c:formatCode>
                <c:ptCount val="3"/>
                <c:pt idx="0">
                  <c:v>3531.783122968257</c:v>
                </c:pt>
                <c:pt idx="1">
                  <c:v>4071.3611400104924</c:v>
                </c:pt>
                <c:pt idx="2">
                  <c:v>1080.5228255051343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Sheet1!$F$7:$H$7</c15:f>
                <c15:dlblRangeCache>
                  <c:ptCount val="3"/>
                  <c:pt idx="0">
                    <c:v>9%</c:v>
                  </c:pt>
                  <c:pt idx="1">
                    <c:v>10%</c:v>
                  </c:pt>
                  <c:pt idx="2">
                    <c:v>2%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CA96-4850-B1B3-A5F50E5FE2ED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Media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62EF966-41F2-4AFB-9E9E-C8F7C7B02832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FC61-4784-9411-E6EDB84EA0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DD7A52-9457-4E92-A07A-34B4527744A3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FC61-4784-9411-E6EDB84EA0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24C9A6E-39BE-4083-8BA4-0EA78ABDFA54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FC61-4784-9411-E6EDB84EA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Sheet1!$B$8:$D$8</c:f>
              <c:numCache>
                <c:formatCode>#,##0</c:formatCode>
                <c:ptCount val="3"/>
                <c:pt idx="0">
                  <c:v>1.5384667465367936E-6</c:v>
                </c:pt>
                <c:pt idx="1">
                  <c:v>3227.6887976078679</c:v>
                </c:pt>
                <c:pt idx="2">
                  <c:v>4700.9555634417748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Sheet1!$F$8:$H$8</c15:f>
                <c15:dlblRangeCache>
                  <c:ptCount val="3"/>
                  <c:pt idx="1">
                    <c:v>8%</c:v>
                  </c:pt>
                  <c:pt idx="2">
                    <c:v>11%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CA96-4850-B1B3-A5F50E5FE2ED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Competitors Media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8796900051209991E-2"/>
                  <c:y val="-6.3492063492063787E-3"/>
                </c:manualLayout>
              </c:layout>
              <c:tx>
                <c:rich>
                  <a:bodyPr/>
                  <a:lstStyle/>
                  <a:p>
                    <a:fld id="{CCD44D05-2845-4B80-BD83-B0791FC65213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F356-4588-BA58-266C7ACEDF03}"/>
                </c:ext>
              </c:extLst>
            </c:dLbl>
            <c:dLbl>
              <c:idx val="1"/>
              <c:layout>
                <c:manualLayout>
                  <c:x val="-1.2183303867819633E-2"/>
                  <c:y val="0.10476190476190476"/>
                </c:manualLayout>
              </c:layout>
              <c:tx>
                <c:rich>
                  <a:bodyPr/>
                  <a:lstStyle/>
                  <a:p>
                    <a:fld id="{24E43563-EE51-4DD9-BA14-6006C86BC727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F356-4588-BA58-266C7ACEDF03}"/>
                </c:ext>
              </c:extLst>
            </c:dLbl>
            <c:dLbl>
              <c:idx val="2"/>
              <c:layout>
                <c:manualLayout>
                  <c:x val="-2.2151071237433914E-3"/>
                  <c:y val="6.9018200788931533E-2"/>
                </c:manualLayout>
              </c:layout>
              <c:tx>
                <c:rich>
                  <a:bodyPr/>
                  <a:lstStyle/>
                  <a:p>
                    <a:fld id="{E229FF0B-0057-408C-9B05-D8B44A0ECB64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F356-4588-BA58-266C7ACEDF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Sheet1!$B$9:$D$9</c:f>
              <c:numCache>
                <c:formatCode>#,##0</c:formatCode>
                <c:ptCount val="3"/>
                <c:pt idx="0">
                  <c:v>-552.81996685788795</c:v>
                </c:pt>
                <c:pt idx="1">
                  <c:v>-760.90257648275633</c:v>
                </c:pt>
                <c:pt idx="2">
                  <c:v>-1170.5565496982097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Sheet1!$F$9:$H$9</c15:f>
                <c15:dlblRangeCache>
                  <c:ptCount val="3"/>
                  <c:pt idx="0">
                    <c:v>-1%</c:v>
                  </c:pt>
                  <c:pt idx="1">
                    <c:v>-2%</c:v>
                  </c:pt>
                  <c:pt idx="2">
                    <c:v>-3%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CA96-4850-B1B3-A5F50E5FE2ED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External Factors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5442338524566144E-2"/>
                  <c:y val="2.9100192932617129E-17"/>
                </c:manualLayout>
              </c:layout>
              <c:tx>
                <c:rich>
                  <a:bodyPr/>
                  <a:lstStyle/>
                  <a:p>
                    <a:fld id="{7962007E-02AC-43E1-BBA1-D562604F0ADE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E-CA96-4850-B1B3-A5F50E5FE2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E376F4F-E541-400A-91DB-9B436E7B5F1B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CA96-4850-B1B3-A5F50E5FE2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868B355-BBEA-470B-A9BF-BCB5A409FA60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CA96-4850-B1B3-A5F50E5FE2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Sheet1!$B$10:$D$10</c:f>
              <c:numCache>
                <c:formatCode>#,##0</c:formatCode>
                <c:ptCount val="3"/>
                <c:pt idx="0">
                  <c:v>97.318478186184166</c:v>
                </c:pt>
                <c:pt idx="1">
                  <c:v>-2705.9204171201177</c:v>
                </c:pt>
                <c:pt idx="2">
                  <c:v>-3586.6630445736732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Sheet1!$F$10:$H$10</c15:f>
                <c15:dlblRangeCache>
                  <c:ptCount val="3"/>
                  <c:pt idx="0">
                    <c:v>0%</c:v>
                  </c:pt>
                  <c:pt idx="1">
                    <c:v>-6%</c:v>
                  </c:pt>
                  <c:pt idx="2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CA96-4850-B1B3-A5F50E5FE2E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39"/>
        <c:overlap val="100"/>
        <c:axId val="266227472"/>
        <c:axId val="266228912"/>
      </c:barChart>
      <c:catAx>
        <c:axId val="266227472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rgbClr val="9F9F9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8912"/>
        <c:crossesAt val="0"/>
        <c:auto val="1"/>
        <c:lblAlgn val="ctr"/>
        <c:lblOffset val="100"/>
        <c:noMultiLvlLbl val="0"/>
      </c:catAx>
      <c:valAx>
        <c:axId val="266228912"/>
        <c:scaling>
          <c:orientation val="minMax"/>
          <c:max val="45000"/>
          <c:min val="-15000"/>
        </c:scaling>
        <c:delete val="0"/>
        <c:axPos val="r"/>
        <c:numFmt formatCode="#,##0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7472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CONTRIBUCION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985015844399768E-2"/>
          <c:y val="6.5291338582677161E-2"/>
          <c:w val="0.86363798434044059"/>
          <c:h val="0.830696628341064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07E50A4-EE95-4A07-968B-5037BA83A8B9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CD02-4B15-99FD-FF8AE1BBE2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64959F7-B26C-4E4D-A72D-B05F374C5599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D02-4B15-99FD-FF8AE1BBE2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DDA5E4F-A142-41F8-987F-2F03B941400A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Sheet1!$B$2:$D$2</c:f>
              <c:numCache>
                <c:formatCode>#,##0</c:formatCode>
                <c:ptCount val="3"/>
                <c:pt idx="0">
                  <c:v>29452.634512758203</c:v>
                </c:pt>
                <c:pt idx="1">
                  <c:v>29748.318116962429</c:v>
                </c:pt>
                <c:pt idx="2">
                  <c:v>29564.122541359648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Sheet1!$F$2:$H$2</c15:f>
                <c15:dlblRangeCache>
                  <c:ptCount val="3"/>
                  <c:pt idx="0">
                    <c:v>79%</c:v>
                  </c:pt>
                  <c:pt idx="1">
                    <c:v>70%</c:v>
                  </c:pt>
                  <c:pt idx="2">
                    <c:v>68%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CD02-4B15-99FD-FF8AE1BBE23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Twinings' Price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38A2005-A5E7-4093-8FBF-161973E5FA6F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CD02-4B15-99FD-FF8AE1BBE2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1FA3D51-9FB5-474F-8BEF-B0D448706DAD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CD02-4B15-99FD-FF8AE1BBE2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1B43385-158B-46ED-AA97-39D9CF11D5F4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Sheet1!$B$3:$D$3</c:f>
              <c:numCache>
                <c:formatCode>#,##0</c:formatCode>
                <c:ptCount val="3"/>
                <c:pt idx="0">
                  <c:v>-2409.3376490032847</c:v>
                </c:pt>
                <c:pt idx="1">
                  <c:v>-6205.798021868437</c:v>
                </c:pt>
                <c:pt idx="2">
                  <c:v>-2869.5674712896448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Sheet1!$F$3:$H$3</c15:f>
                <c15:dlblRangeCache>
                  <c:ptCount val="3"/>
                  <c:pt idx="0">
                    <c:v>-6%</c:v>
                  </c:pt>
                  <c:pt idx="1">
                    <c:v>-15%</c:v>
                  </c:pt>
                  <c:pt idx="2">
                    <c:v>-7%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CD02-4B15-99FD-FF8AE1BBE23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Competitors' Price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07633871752188E-3"/>
                  <c:y val="-7.807149451907140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666666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56E98D2-39AE-484E-AD0E-F2417D0FEC01}" type="CELLRANGE">
                      <a:rPr lang="en-US"/>
                      <a:pPr>
                        <a:defRPr>
                          <a:solidFill>
                            <a:srgbClr val="666666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66666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CD02-4B15-99FD-FF8AE1BBE2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16A1CFC-6EAB-4A01-A5D4-22133A39E3BF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CD02-4B15-99FD-FF8AE1BBE2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285F18A-31F9-4BE5-AE5A-55415C4CDDA2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Sheet1!$B$4:$D$4</c:f>
              <c:numCache>
                <c:formatCode>#,##0</c:formatCode>
                <c:ptCount val="3"/>
                <c:pt idx="0">
                  <c:v>1026.7715010345821</c:v>
                </c:pt>
                <c:pt idx="1">
                  <c:v>3222.3832940866337</c:v>
                </c:pt>
                <c:pt idx="2">
                  <c:v>4307.6310334809041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Sheet1!$F$4:$H$4</c15:f>
                <c15:dlblRangeCache>
                  <c:ptCount val="3"/>
                  <c:pt idx="0">
                    <c:v>3%</c:v>
                  </c:pt>
                  <c:pt idx="1">
                    <c:v>8%</c:v>
                  </c:pt>
                  <c:pt idx="2">
                    <c:v>10%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B-CD02-4B15-99FD-FF8AE1BBE233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Twinings' Distribution</c:v>
                </c:pt>
              </c:strCache>
            </c:strRef>
          </c:tx>
          <c:spPr>
            <a:solidFill>
              <a:srgbClr val="00D2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FB2904D-4EDB-4F09-958D-B9EE4FE0CD2B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CD02-4B15-99FD-FF8AE1BBE2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58F35A8-1B34-4FDA-8DBF-B8E2053965EE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CD02-4B15-99FD-FF8AE1BBE2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3C54B91-0DF4-4060-B584-A11DEE30769B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Sheet1!$B$5:$D$5</c:f>
              <c:numCache>
                <c:formatCode>#,##0</c:formatCode>
                <c:ptCount val="3"/>
                <c:pt idx="0">
                  <c:v>3370.9158686525466</c:v>
                </c:pt>
                <c:pt idx="1">
                  <c:v>1964.036775815443</c:v>
                </c:pt>
                <c:pt idx="2">
                  <c:v>4031.0993640518163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Sheet1!$F$5:$H$5</c15:f>
                <c15:dlblRangeCache>
                  <c:ptCount val="3"/>
                  <c:pt idx="0">
                    <c:v>9%</c:v>
                  </c:pt>
                  <c:pt idx="1">
                    <c:v>5%</c:v>
                  </c:pt>
                  <c:pt idx="2">
                    <c:v>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F-CD02-4B15-99FD-FF8AE1BBE233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Competitors' Distribution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2151071237433914E-3"/>
                  <c:y val="8.1481495197229387E-2"/>
                </c:manualLayout>
              </c:layout>
              <c:tx>
                <c:rich>
                  <a:bodyPr/>
                  <a:lstStyle/>
                  <a:p>
                    <a:fld id="{E06746AC-FD37-484C-8C5C-C1880FB8DC44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CD02-4B15-99FD-FF8AE1BBE233}"/>
                </c:ext>
              </c:extLst>
            </c:dLbl>
            <c:dLbl>
              <c:idx val="1"/>
              <c:layout>
                <c:manualLayout>
                  <c:x val="2.0693286286734544E-2"/>
                  <c:y val="0.10452683202766694"/>
                </c:manualLayout>
              </c:layout>
              <c:tx>
                <c:rich>
                  <a:bodyPr/>
                  <a:lstStyle/>
                  <a:p>
                    <a:fld id="{EEDB967E-67DE-42B9-84C3-1862B3BACA96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1-CD02-4B15-99FD-FF8AE1BBE233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571EEC6-E701-416D-B61B-240B3E9DC1BA}" type="CELLRANGE">
                      <a:rPr lang="es-ES"/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Sheet1!$B$6:$D$6</c:f>
              <c:numCache>
                <c:formatCode>#,##0</c:formatCode>
                <c:ptCount val="3"/>
                <c:pt idx="0">
                  <c:v>-948.99475838486524</c:v>
                </c:pt>
                <c:pt idx="1">
                  <c:v>-911.16152727894439</c:v>
                </c:pt>
                <c:pt idx="2">
                  <c:v>-2532.5460690988998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Sheet1!$F$6:$H$6</c15:f>
                <c15:dlblRangeCache>
                  <c:ptCount val="3"/>
                  <c:pt idx="0">
                    <c:v>-3%</c:v>
                  </c:pt>
                  <c:pt idx="1">
                    <c:v>-2%</c:v>
                  </c:pt>
                  <c:pt idx="2">
                    <c:v>-6%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3-CD02-4B15-99FD-FF8AE1BBE233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ED666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98B0B99-DC0C-45E4-B5BA-F9076CD2C355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4-CD02-4B15-99FD-FF8AE1BBE2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47602C4-611D-470D-A466-BA511D5F6B67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CD02-4B15-99FD-FF8AE1BBE233}"/>
                </c:ext>
              </c:extLst>
            </c:dLbl>
            <c:dLbl>
              <c:idx val="2"/>
              <c:layout>
                <c:manualLayout>
                  <c:x val="0"/>
                  <c:y val="-7.195742556405723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666666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CBCD58A-2C4B-4317-AA50-89673CF17AD0}" type="CELLRANGE">
                      <a:rPr lang="en-US"/>
                      <a:pPr>
                        <a:defRPr>
                          <a:solidFill>
                            <a:srgbClr val="666666"/>
                          </a:solidFill>
                        </a:defRPr>
                      </a:pPr>
                      <a:t>[CELLRANGE]</a:t>
                    </a:fld>
                    <a:endParaRPr lang="es-E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66666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Sheet1!$B$7:$D$7</c:f>
              <c:numCache>
                <c:formatCode>#,##0</c:formatCode>
                <c:ptCount val="3"/>
                <c:pt idx="0">
                  <c:v>3531.783122968257</c:v>
                </c:pt>
                <c:pt idx="1">
                  <c:v>4071.3611400104924</c:v>
                </c:pt>
                <c:pt idx="2">
                  <c:v>1080.5228255051343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Sheet1!$F$7:$H$7</c15:f>
                <c15:dlblRangeCache>
                  <c:ptCount val="3"/>
                  <c:pt idx="0">
                    <c:v>9%</c:v>
                  </c:pt>
                  <c:pt idx="1">
                    <c:v>10%</c:v>
                  </c:pt>
                  <c:pt idx="2">
                    <c:v>2%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7-CD02-4B15-99FD-FF8AE1BBE233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Media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08FF19C-DCA6-4F95-8409-2980C2FC9F38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CD02-4B15-99FD-FF8AE1BBE2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3A71A81-F870-4126-B265-CD78CFAF3881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CD02-4B15-99FD-FF8AE1BBE2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0C1120A-BE33-42B1-9669-6308FBB0CFBE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Sheet1!$B$8:$D$8</c:f>
              <c:numCache>
                <c:formatCode>#,##0</c:formatCode>
                <c:ptCount val="3"/>
                <c:pt idx="0">
                  <c:v>1.5384667465367936E-6</c:v>
                </c:pt>
                <c:pt idx="1">
                  <c:v>3227.6887976078679</c:v>
                </c:pt>
                <c:pt idx="2">
                  <c:v>4700.9555634417748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Sheet1!$F$8:$H$8</c15:f>
                <c15:dlblRangeCache>
                  <c:ptCount val="3"/>
                  <c:pt idx="1">
                    <c:v>8%</c:v>
                  </c:pt>
                  <c:pt idx="2">
                    <c:v>11%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B-CD02-4B15-99FD-FF8AE1BBE233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Competitors Media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8796900051209991E-2"/>
                  <c:y val="-6.3492063492063787E-3"/>
                </c:manualLayout>
              </c:layout>
              <c:tx>
                <c:rich>
                  <a:bodyPr/>
                  <a:lstStyle/>
                  <a:p>
                    <a:fld id="{DF67C06A-3765-4FA8-AFD0-7A0D4AC45FDF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CD02-4B15-99FD-FF8AE1BBE233}"/>
                </c:ext>
              </c:extLst>
            </c:dLbl>
            <c:dLbl>
              <c:idx val="1"/>
              <c:layout>
                <c:manualLayout>
                  <c:x val="-1.2183303867819633E-2"/>
                  <c:y val="0.10476190476190476"/>
                </c:manualLayout>
              </c:layout>
              <c:tx>
                <c:rich>
                  <a:bodyPr/>
                  <a:lstStyle/>
                  <a:p>
                    <a:fld id="{AEB2AAB7-4E50-4525-ADC0-2956384B58AD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CD02-4B15-99FD-FF8AE1BBE233}"/>
                </c:ext>
              </c:extLst>
            </c:dLbl>
            <c:dLbl>
              <c:idx val="2"/>
              <c:layout>
                <c:manualLayout>
                  <c:x val="-2.2151071237433914E-3"/>
                  <c:y val="6.9018200788931533E-2"/>
                </c:manualLayout>
              </c:layout>
              <c:tx>
                <c:rich>
                  <a:bodyPr/>
                  <a:lstStyle/>
                  <a:p>
                    <a:fld id="{F1296FB3-976C-4D9D-A478-F7B3A0D63C3E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E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Sheet1!$B$9:$D$9</c:f>
              <c:numCache>
                <c:formatCode>#,##0</c:formatCode>
                <c:ptCount val="3"/>
                <c:pt idx="0">
                  <c:v>-552.81996685788795</c:v>
                </c:pt>
                <c:pt idx="1">
                  <c:v>-760.90257648275633</c:v>
                </c:pt>
                <c:pt idx="2">
                  <c:v>-1170.5565496982097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Sheet1!$F$9:$H$9</c15:f>
                <c15:dlblRangeCache>
                  <c:ptCount val="3"/>
                  <c:pt idx="0">
                    <c:v>-1%</c:v>
                  </c:pt>
                  <c:pt idx="1">
                    <c:v>-2%</c:v>
                  </c:pt>
                  <c:pt idx="2">
                    <c:v>-3%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F-CD02-4B15-99FD-FF8AE1BBE233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External Factors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5442338524566144E-2"/>
                  <c:y val="2.9100192932617129E-17"/>
                </c:manualLayout>
              </c:layout>
              <c:tx>
                <c:rich>
                  <a:bodyPr/>
                  <a:lstStyle/>
                  <a:p>
                    <a:fld id="{166EA7DB-3385-4AB6-9FC3-2AABC83B46FC}" type="CELLRANGE">
                      <a:rPr lang="en-U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0-CD02-4B15-99FD-FF8AE1BBE23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DD75F28-BDD9-49FD-B44A-0553B4141286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CD02-4B15-99FD-FF8AE1BBE23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1D3B3E8-3BA8-40A1-BEA5-0D47DF778BD3}" type="CELLRANGE">
                      <a:rPr lang="es-ES"/>
                      <a:pPr/>
                      <a:t>[CELLRANGE]</a:t>
                    </a:fld>
                    <a:endParaRPr lang="es-E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CD02-4B15-99FD-FF8AE1BBE2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Sheet1!$B$10:$D$10</c:f>
              <c:numCache>
                <c:formatCode>#,##0</c:formatCode>
                <c:ptCount val="3"/>
                <c:pt idx="0">
                  <c:v>97.318478186184166</c:v>
                </c:pt>
                <c:pt idx="1">
                  <c:v>-2705.9204171201177</c:v>
                </c:pt>
                <c:pt idx="2">
                  <c:v>-3586.6630445736732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Sheet1!$F$10:$H$10</c15:f>
                <c15:dlblRangeCache>
                  <c:ptCount val="3"/>
                  <c:pt idx="0">
                    <c:v>0%</c:v>
                  </c:pt>
                  <c:pt idx="1">
                    <c:v>-6%</c:v>
                  </c:pt>
                  <c:pt idx="2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3-CD02-4B15-99FD-FF8AE1BBE23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39"/>
        <c:overlap val="100"/>
        <c:axId val="266227472"/>
        <c:axId val="266228912"/>
      </c:barChart>
      <c:catAx>
        <c:axId val="266227472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rgbClr val="9F9F9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8912"/>
        <c:crossesAt val="0"/>
        <c:auto val="1"/>
        <c:lblAlgn val="ctr"/>
        <c:lblOffset val="100"/>
        <c:noMultiLvlLbl val="0"/>
      </c:catAx>
      <c:valAx>
        <c:axId val="266228912"/>
        <c:scaling>
          <c:orientation val="minMax"/>
          <c:max val="45000"/>
          <c:min val="-15000"/>
        </c:scaling>
        <c:delete val="0"/>
        <c:axPos val="r"/>
        <c:numFmt formatCode="#,##0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7472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045779278652088E-4"/>
          <c:y val="0"/>
          <c:w val="0.99935954220721346"/>
          <c:h val="0.6284364910967711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ROI</c:v>
                </c:pt>
              </c:strCache>
            </c:strRef>
          </c:tx>
          <c:spPr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9D-4EBD-B472-E19E7B10B687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A9D-4EBD-B472-E19E7B10B687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A9D-4EBD-B472-E19E7B10B687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Sheet1!$B$2:$B$10</c:f>
              <c:numCache>
                <c:formatCode>0.0</c:formatCode>
                <c:ptCount val="9"/>
                <c:pt idx="0">
                  <c:v>0.53</c:v>
                </c:pt>
                <c:pt idx="1">
                  <c:v>0.4</c:v>
                </c:pt>
                <c:pt idx="2">
                  <c:v>0.4</c:v>
                </c:pt>
                <c:pt idx="3">
                  <c:v>1.1000000000000001</c:v>
                </c:pt>
                <c:pt idx="4">
                  <c:v>0.4</c:v>
                </c:pt>
                <c:pt idx="5">
                  <c:v>1.7</c:v>
                </c:pt>
                <c:pt idx="6">
                  <c:v>0.7</c:v>
                </c:pt>
                <c:pt idx="7">
                  <c:v>0.44122531706994977</c:v>
                </c:pt>
                <c:pt idx="8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9D-4EBD-B472-E19E7B10B6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Equity ROI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Sheet1!$C$2:$C$10</c:f>
              <c:numCache>
                <c:formatCode>0.00</c:formatCode>
                <c:ptCount val="9"/>
                <c:pt idx="0">
                  <c:v>0.14000000000000001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0.1</c:v>
                </c:pt>
                <c:pt idx="5">
                  <c:v>0.2</c:v>
                </c:pt>
                <c:pt idx="6">
                  <c:v>0.1</c:v>
                </c:pt>
                <c:pt idx="7">
                  <c:v>0.1</c:v>
                </c:pt>
                <c:pt idx="8" formatCode="0.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A9D-4EBD-B472-E19E7B10B6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ROI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Sheet1!$D$2:$D$10</c:f>
              <c:numCache>
                <c:formatCode>0.0</c:formatCode>
                <c:ptCount val="9"/>
                <c:pt idx="0">
                  <c:v>0.67</c:v>
                </c:pt>
                <c:pt idx="1">
                  <c:v>0.5</c:v>
                </c:pt>
                <c:pt idx="2">
                  <c:v>0.5</c:v>
                </c:pt>
                <c:pt idx="3">
                  <c:v>1.3</c:v>
                </c:pt>
                <c:pt idx="4">
                  <c:v>0.5</c:v>
                </c:pt>
                <c:pt idx="5">
                  <c:v>1.9</c:v>
                </c:pt>
                <c:pt idx="6">
                  <c:v>0.79999999999999993</c:v>
                </c:pt>
                <c:pt idx="7">
                  <c:v>0.54122531706994981</c:v>
                </c:pt>
                <c:pt idx="8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9D-4EBD-B472-E19E7B10B68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24240303"/>
        <c:axId val="1424241135"/>
      </c:barChart>
      <c:catAx>
        <c:axId val="142424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4241135"/>
        <c:crosses val="autoZero"/>
        <c:auto val="1"/>
        <c:lblAlgn val="ctr"/>
        <c:lblOffset val="100"/>
        <c:tickLblSkip val="1"/>
        <c:noMultiLvlLbl val="0"/>
      </c:catAx>
      <c:valAx>
        <c:axId val="1424241135"/>
        <c:scaling>
          <c:orientation val="minMax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424240303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045779278652088E-4"/>
          <c:y val="0"/>
          <c:w val="0.99935954220721346"/>
          <c:h val="0.6284364910967711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ROI</c:v>
                </c:pt>
              </c:strCache>
            </c:strRef>
          </c:tx>
          <c:spPr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A6-47C8-A40F-21645C53EAAE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A6-47C8-A40F-21645C53EAAE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A6-47C8-A40F-21645C53EAAE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Sheet1!$B$2:$B$10</c:f>
              <c:numCache>
                <c:formatCode>0.0</c:formatCode>
                <c:ptCount val="9"/>
                <c:pt idx="0">
                  <c:v>0.8</c:v>
                </c:pt>
                <c:pt idx="1">
                  <c:v>0.87</c:v>
                </c:pt>
                <c:pt idx="2">
                  <c:v>0.86</c:v>
                </c:pt>
                <c:pt idx="3">
                  <c:v>1.4</c:v>
                </c:pt>
                <c:pt idx="4">
                  <c:v>0.4</c:v>
                </c:pt>
                <c:pt idx="5">
                  <c:v>0.25010584484802778</c:v>
                </c:pt>
                <c:pt idx="6">
                  <c:v>1</c:v>
                </c:pt>
                <c:pt idx="7">
                  <c:v>0.5</c:v>
                </c:pt>
                <c:pt idx="8">
                  <c:v>0.78195052111928298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A6-47C8-A40F-21645C53EA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Equity ROI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Sheet1!$C$2:$C$10</c:f>
              <c:numCache>
                <c:formatCode>0.0</c:formatCode>
                <c:ptCount val="9"/>
                <c:pt idx="0">
                  <c:v>0.18</c:v>
                </c:pt>
                <c:pt idx="1">
                  <c:v>0.25</c:v>
                </c:pt>
                <c:pt idx="2">
                  <c:v>0.15</c:v>
                </c:pt>
                <c:pt idx="3">
                  <c:v>0.3</c:v>
                </c:pt>
                <c:pt idx="4">
                  <c:v>0.1</c:v>
                </c:pt>
                <c:pt idx="5">
                  <c:v>2.3250898728332546E-2</c:v>
                </c:pt>
                <c:pt idx="6">
                  <c:v>0.2</c:v>
                </c:pt>
                <c:pt idx="7">
                  <c:v>7.5734880106530331E-2</c:v>
                </c:pt>
                <c:pt idx="8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0A6-47C8-A40F-21645C53EA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ROI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Sheet1!$D$2:$D$10</c:f>
              <c:numCache>
                <c:formatCode>0.0</c:formatCode>
                <c:ptCount val="9"/>
                <c:pt idx="0">
                  <c:v>0.98</c:v>
                </c:pt>
                <c:pt idx="1">
                  <c:v>1.1200000000000001</c:v>
                </c:pt>
                <c:pt idx="2">
                  <c:v>1.01</c:v>
                </c:pt>
                <c:pt idx="3">
                  <c:v>1.7</c:v>
                </c:pt>
                <c:pt idx="4">
                  <c:v>0.5</c:v>
                </c:pt>
                <c:pt idx="5">
                  <c:v>0.27335674357636031</c:v>
                </c:pt>
                <c:pt idx="6">
                  <c:v>1.2</c:v>
                </c:pt>
                <c:pt idx="7">
                  <c:v>0.57573488010653029</c:v>
                </c:pt>
                <c:pt idx="8">
                  <c:v>0.98195052111928294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A6-47C8-A40F-21645C53EAA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24240303"/>
        <c:axId val="1424241135"/>
      </c:barChart>
      <c:catAx>
        <c:axId val="142424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4241135"/>
        <c:crosses val="autoZero"/>
        <c:auto val="1"/>
        <c:lblAlgn val="ctr"/>
        <c:lblOffset val="100"/>
        <c:tickLblSkip val="1"/>
        <c:noMultiLvlLbl val="0"/>
      </c:catAx>
      <c:valAx>
        <c:axId val="1424241135"/>
        <c:scaling>
          <c:orientation val="minMax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424240303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654772135731766E-3"/>
          <c:y val="0"/>
          <c:w val="0.99935954220721346"/>
          <c:h val="0.6284364910967711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ROI</c:v>
                </c:pt>
              </c:strCache>
            </c:strRef>
          </c:tx>
          <c:spPr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BC1-4605-8121-DFE4B8234784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C1-4605-8121-DFE4B8234784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C1-4605-8121-DFE4B8234784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Sheet1!$B$2:$B$10</c:f>
              <c:numCache>
                <c:formatCode>0.0</c:formatCode>
                <c:ptCount val="9"/>
                <c:pt idx="0">
                  <c:v>0.7</c:v>
                </c:pt>
                <c:pt idx="1">
                  <c:v>0.77</c:v>
                </c:pt>
                <c:pt idx="2">
                  <c:v>1.2</c:v>
                </c:pt>
                <c:pt idx="3">
                  <c:v>2</c:v>
                </c:pt>
                <c:pt idx="4">
                  <c:v>0.36</c:v>
                </c:pt>
                <c:pt idx="5">
                  <c:v>1.4</c:v>
                </c:pt>
                <c:pt idx="6">
                  <c:v>0.72</c:v>
                </c:pt>
                <c:pt idx="7">
                  <c:v>0.29359515748806936</c:v>
                </c:pt>
                <c:pt idx="8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C1-4605-8121-DFE4B82347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Equity ROI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Sheet1!$C$2:$C$10</c:f>
              <c:numCache>
                <c:formatCode>0.0</c:formatCode>
                <c:ptCount val="9"/>
                <c:pt idx="0">
                  <c:v>8.9583129549216725E-2</c:v>
                </c:pt>
                <c:pt idx="1">
                  <c:v>0.18</c:v>
                </c:pt>
                <c:pt idx="2">
                  <c:v>0.16028195861107714</c:v>
                </c:pt>
                <c:pt idx="3">
                  <c:v>0.4</c:v>
                </c:pt>
                <c:pt idx="4">
                  <c:v>0.08</c:v>
                </c:pt>
                <c:pt idx="5">
                  <c:v>0.2</c:v>
                </c:pt>
                <c:pt idx="6">
                  <c:v>0.13</c:v>
                </c:pt>
                <c:pt idx="7">
                  <c:v>0.1</c:v>
                </c:pt>
                <c:pt idx="8">
                  <c:v>9.2794115869719723E-2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BC1-4605-8121-DFE4B82347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ROI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Overall Media</c:v>
                </c:pt>
                <c:pt idx="1">
                  <c:v>TV</c:v>
                </c:pt>
                <c:pt idx="2">
                  <c:v>Meta</c:v>
                </c:pt>
                <c:pt idx="3">
                  <c:v>Onsite</c:v>
                </c:pt>
                <c:pt idx="4">
                  <c:v>KOL</c:v>
                </c:pt>
                <c:pt idx="5">
                  <c:v>Offsite</c:v>
                </c:pt>
                <c:pt idx="6">
                  <c:v>TikTok</c:v>
                </c:pt>
                <c:pt idx="7">
                  <c:v>Digital Others</c:v>
                </c:pt>
                <c:pt idx="8">
                  <c:v>YT</c:v>
                </c:pt>
              </c:strCache>
            </c:strRef>
          </c:cat>
          <c:val>
            <c:numRef>
              <c:f>Sheet1!$D$2:$D$10</c:f>
              <c:numCache>
                <c:formatCode>0.0</c:formatCode>
                <c:ptCount val="9"/>
                <c:pt idx="0">
                  <c:v>0.78958312954921672</c:v>
                </c:pt>
                <c:pt idx="1">
                  <c:v>0.95</c:v>
                </c:pt>
                <c:pt idx="2">
                  <c:v>1.360281958611077</c:v>
                </c:pt>
                <c:pt idx="3">
                  <c:v>2.4</c:v>
                </c:pt>
                <c:pt idx="4">
                  <c:v>0.44</c:v>
                </c:pt>
                <c:pt idx="5">
                  <c:v>1.5999999999999999</c:v>
                </c:pt>
                <c:pt idx="6">
                  <c:v>0.85</c:v>
                </c:pt>
                <c:pt idx="7">
                  <c:v>0.39359515748806939</c:v>
                </c:pt>
                <c:pt idx="8">
                  <c:v>0.49279411586971977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C1-4605-8121-DFE4B823478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24240303"/>
        <c:axId val="1424241135"/>
      </c:barChart>
      <c:catAx>
        <c:axId val="142424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4241135"/>
        <c:crosses val="autoZero"/>
        <c:auto val="1"/>
        <c:lblAlgn val="ctr"/>
        <c:lblOffset val="100"/>
        <c:tickLblSkip val="1"/>
        <c:noMultiLvlLbl val="0"/>
      </c:catAx>
      <c:valAx>
        <c:axId val="1424241135"/>
        <c:scaling>
          <c:orientation val="minMax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1424240303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1200" b="1">
                <a:solidFill>
                  <a:schemeClr val="tx1"/>
                </a:solidFill>
              </a:rPr>
              <a:t>% of Media Spend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0.59300520434485937</c:v>
                </c:pt>
                <c:pt idx="1">
                  <c:v>4.3955509369308907E-2</c:v>
                </c:pt>
                <c:pt idx="2">
                  <c:v>5.8184002798064655E-2</c:v>
                </c:pt>
                <c:pt idx="3">
                  <c:v>0.14431334413762631</c:v>
                </c:pt>
                <c:pt idx="4">
                  <c:v>0.16054193935014072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59-4660-A096-9FD7F531AF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2023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0.35880243633646658</c:v>
                </c:pt>
                <c:pt idx="1">
                  <c:v>5.0244004842084231E-2</c:v>
                </c:pt>
                <c:pt idx="2">
                  <c:v>0.13165874713368392</c:v>
                </c:pt>
                <c:pt idx="3">
                  <c:v>0.32655219940392349</c:v>
                </c:pt>
                <c:pt idx="4">
                  <c:v>0.13274261228384185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59-4660-A096-9FD7F531AF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 2024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0.77846831323122478</c:v>
                </c:pt>
                <c:pt idx="1">
                  <c:v>3.8975705199970699E-2</c:v>
                </c:pt>
                <c:pt idx="2">
                  <c:v>0</c:v>
                </c:pt>
                <c:pt idx="3">
                  <c:v>0</c:v>
                </c:pt>
                <c:pt idx="4">
                  <c:v>0.18255598156880448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59-4660-A096-9FD7F531AF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8262335"/>
        <c:axId val="98258495"/>
      </c:barChart>
      <c:catAx>
        <c:axId val="9826233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58495"/>
        <c:crosses val="autoZero"/>
        <c:auto val="1"/>
        <c:lblAlgn val="ctr"/>
        <c:lblOffset val="100"/>
        <c:noMultiLvlLbl val="0"/>
      </c:catAx>
      <c:valAx>
        <c:axId val="98258495"/>
        <c:scaling>
          <c:orientation val="minMax"/>
        </c:scaling>
        <c:delete val="0"/>
        <c:axPos val="t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62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1200" b="1">
                <a:solidFill>
                  <a:schemeClr val="tx1"/>
                </a:solidFill>
              </a:rPr>
              <a:t>% of Media Contributed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0.48704590661276531</c:v>
                </c:pt>
                <c:pt idx="1">
                  <c:v>7.3542661612446214E-2</c:v>
                </c:pt>
                <c:pt idx="2">
                  <c:v>0.13296644769264329</c:v>
                </c:pt>
                <c:pt idx="3">
                  <c:v>0.15480072939118522</c:v>
                </c:pt>
                <c:pt idx="4">
                  <c:v>0.15164425469096002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44-4D60-8451-9D1145840B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2023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0.36555662380714266</c:v>
                </c:pt>
                <c:pt idx="1">
                  <c:v>0.11082772124674128</c:v>
                </c:pt>
                <c:pt idx="2">
                  <c:v>0.24831218301939972</c:v>
                </c:pt>
                <c:pt idx="3">
                  <c:v>0.20400421861126095</c:v>
                </c:pt>
                <c:pt idx="4">
                  <c:v>7.1299253315455391E-2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44-4D60-8451-9D1145840B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 2024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0.57046077665366068</c:v>
                </c:pt>
                <c:pt idx="1">
                  <c:v>4.7942638843990866E-2</c:v>
                </c:pt>
                <c:pt idx="2">
                  <c:v>5.3769753967113559E-2</c:v>
                </c:pt>
                <c:pt idx="3">
                  <c:v>0.12101748067129191</c:v>
                </c:pt>
                <c:pt idx="4">
                  <c:v>0.20680934986394306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44-4D60-8451-9D1145840B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8262335"/>
        <c:axId val="98258495"/>
      </c:barChart>
      <c:catAx>
        <c:axId val="9826233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58495"/>
        <c:crosses val="autoZero"/>
        <c:auto val="1"/>
        <c:lblAlgn val="ctr"/>
        <c:lblOffset val="100"/>
        <c:noMultiLvlLbl val="0"/>
      </c:catAx>
      <c:valAx>
        <c:axId val="98258495"/>
        <c:scaling>
          <c:orientation val="minMax"/>
        </c:scaling>
        <c:delete val="0"/>
        <c:axPos val="t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62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1200" b="1" err="1">
                <a:solidFill>
                  <a:schemeClr val="tx1"/>
                </a:solidFill>
              </a:rPr>
              <a:t>Index</a:t>
            </a:r>
            <a:r>
              <a:rPr lang="es-ES" sz="1200" b="1">
                <a:solidFill>
                  <a:schemeClr val="tx1"/>
                </a:solidFill>
              </a:rPr>
              <a:t> </a:t>
            </a:r>
            <a:r>
              <a:rPr lang="es-ES" sz="1200" b="1" err="1">
                <a:solidFill>
                  <a:schemeClr val="tx1"/>
                </a:solidFill>
              </a:rPr>
              <a:t>of</a:t>
            </a:r>
            <a:r>
              <a:rPr lang="es-ES" sz="1200" b="1">
                <a:solidFill>
                  <a:schemeClr val="tx1"/>
                </a:solidFill>
              </a:rPr>
              <a:t> </a:t>
            </a:r>
            <a:r>
              <a:rPr lang="es-ES" sz="1200" b="1" err="1">
                <a:solidFill>
                  <a:schemeClr val="tx1"/>
                </a:solidFill>
              </a:rPr>
              <a:t>Contribution</a:t>
            </a:r>
            <a:r>
              <a:rPr lang="es-ES" sz="1200" b="1">
                <a:solidFill>
                  <a:schemeClr val="tx1"/>
                </a:solidFill>
              </a:rPr>
              <a:t>/</a:t>
            </a:r>
            <a:r>
              <a:rPr lang="es-ES" sz="1200" b="1" err="1">
                <a:solidFill>
                  <a:schemeClr val="tx1"/>
                </a:solidFill>
              </a:rPr>
              <a:t>Spend</a:t>
            </a:r>
            <a:endParaRPr lang="es-ES" sz="1200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1372228618243161"/>
          <c:y val="8.787931978177327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82.131809812840402</c:v>
                </c:pt>
                <c:pt idx="1">
                  <c:v>167.3115899864784</c:v>
                </c:pt>
                <c:pt idx="2">
                  <c:v>228.52750120015136</c:v>
                </c:pt>
                <c:pt idx="3">
                  <c:v>107.2670932242811</c:v>
                </c:pt>
                <c:pt idx="4">
                  <c:v>94.457719462467111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BC-4DF3-AA8C-F1DE89A29A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2023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101.88242519745387</c:v>
                </c:pt>
                <c:pt idx="1">
                  <c:v>220.57899563354931</c:v>
                </c:pt>
                <c:pt idx="2">
                  <c:v>188.60287555924259</c:v>
                </c:pt>
                <c:pt idx="3">
                  <c:v>62.472161872938791</c:v>
                </c:pt>
                <c:pt idx="4">
                  <c:v>53.712407861159981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BC-4DF3-AA8C-F1DE89A29A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 2024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Sheet1!$D$2:$D$6</c:f>
              <c:numCache>
                <c:formatCode>0</c:formatCode>
                <c:ptCount val="5"/>
                <c:pt idx="0">
                  <c:v>73.27989681247557</c:v>
                </c:pt>
                <c:pt idx="1">
                  <c:v>123.0064692813484</c:v>
                </c:pt>
                <c:pt idx="4">
                  <c:v>113.28544158713179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BC-4DF3-AA8C-F1DE89A29A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8262335"/>
        <c:axId val="98258495"/>
      </c:barChart>
      <c:catAx>
        <c:axId val="9826233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58495"/>
        <c:crosses val="autoZero"/>
        <c:auto val="1"/>
        <c:lblAlgn val="ctr"/>
        <c:lblOffset val="100"/>
        <c:noMultiLvlLbl val="0"/>
      </c:catAx>
      <c:valAx>
        <c:axId val="98258495"/>
        <c:scaling>
          <c:orientation val="minMax"/>
        </c:scaling>
        <c:delete val="0"/>
        <c:axPos val="t"/>
        <c:numFmt formatCode="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62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kern="1200" spc="0" baseline="0">
                <a:solidFill>
                  <a:schemeClr val="tx1"/>
                </a:solidFill>
              </a:rPr>
              <a:t>ROI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1.9471255363434905</c:v>
                </c:pt>
                <c:pt idx="1">
                  <c:v>3.9220143796252751</c:v>
                </c:pt>
                <c:pt idx="2">
                  <c:v>5.2662043649127677</c:v>
                </c:pt>
                <c:pt idx="3">
                  <c:v>2.4934118451728815</c:v>
                </c:pt>
                <c:pt idx="4">
                  <c:v>2.2412550819169748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7E-42EC-958E-0A6C24B88E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2023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2.1526666481804129</c:v>
                </c:pt>
                <c:pt idx="1">
                  <c:v>4.6619312344619273</c:v>
                </c:pt>
                <c:pt idx="2">
                  <c:v>3.9849908959128708</c:v>
                </c:pt>
                <c:pt idx="3">
                  <c:v>1.3197886676740955</c:v>
                </c:pt>
                <c:pt idx="4">
                  <c:v>1.1358425248733039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7E-42EC-958E-0A6C24B88E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 2024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YouTube + Facebook + Instagram</c:v>
                </c:pt>
                <c:pt idx="1">
                  <c:v>Paid Search</c:v>
                </c:pt>
                <c:pt idx="2">
                  <c:v>Online Banners</c:v>
                </c:pt>
                <c:pt idx="3">
                  <c:v>OOH Large format</c:v>
                </c:pt>
                <c:pt idx="4">
                  <c:v>OOH Retail Media</c:v>
                </c:pt>
              </c:strCache>
            </c:strRef>
          </c:cat>
          <c:val>
            <c:numRef>
              <c:f>Sheet1!$D$2:$D$6</c:f>
              <c:numCache>
                <c:formatCode>0.00</c:formatCode>
                <c:ptCount val="5"/>
                <c:pt idx="0">
                  <c:v>1.8721052601434622</c:v>
                </c:pt>
                <c:pt idx="1">
                  <c:v>3.1666809584764595</c:v>
                </c:pt>
                <c:pt idx="4">
                  <c:v>2.8777635677907059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7E-42EC-958E-0A6C24B88E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8262335"/>
        <c:axId val="98258495"/>
      </c:barChart>
      <c:catAx>
        <c:axId val="9826233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58495"/>
        <c:crosses val="autoZero"/>
        <c:auto val="1"/>
        <c:lblAlgn val="ctr"/>
        <c:lblOffset val="100"/>
        <c:noMultiLvlLbl val="0"/>
      </c:catAx>
      <c:valAx>
        <c:axId val="98258495"/>
        <c:scaling>
          <c:orientation val="minMax"/>
        </c:scaling>
        <c:delete val="0"/>
        <c:axPos val="t"/>
        <c:numFmt formatCode="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262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152841885462951"/>
          <c:y val="1.4423224503578131E-2"/>
          <c:w val="0.65766431431756811"/>
          <c:h val="0.952188198385348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Due-to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9CF-4059-B645-E825436B35C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9CF-4059-B645-E825436B35C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9CF-4059-B645-E825436B35C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9CF-4059-B645-E825436B35CF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9CF-4059-B645-E825436B35CF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9CF-4059-B645-E825436B35CF}"/>
              </c:ext>
            </c:extLst>
          </c:dPt>
          <c:dPt>
            <c:idx val="6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9CF-4059-B645-E825436B35CF}"/>
              </c:ext>
            </c:extLst>
          </c:dPt>
          <c:dPt>
            <c:idx val="7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9CF-4059-B645-E825436B35CF}"/>
              </c:ext>
            </c:extLst>
          </c:dPt>
          <c:dPt>
            <c:idx val="8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B9CF-4059-B645-E825436B35CF}"/>
              </c:ext>
            </c:extLst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9CF-4059-B645-E825436B35CF}"/>
              </c:ext>
            </c:extLst>
          </c:dPt>
          <c:dPt>
            <c:idx val="1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B9CF-4059-B645-E825436B35CF}"/>
              </c:ext>
            </c:extLst>
          </c:dPt>
          <c:dPt>
            <c:idx val="1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9CF-4059-B645-E825436B35CF}"/>
              </c:ext>
            </c:extLst>
          </c:dPt>
          <c:dPt>
            <c:idx val="1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B9CF-4059-B645-E825436B35C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Inter" panose="020B0604020202020204" charset="0"/>
                      <a:ea typeface="Inter" panose="020B0604020202020204" charset="0"/>
                      <a:cs typeface="+mn-cs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9CF-4059-B645-E825436B35CF}"/>
                </c:ext>
              </c:extLst>
            </c:dLbl>
            <c:dLbl>
              <c:idx val="1"/>
              <c:layout>
                <c:manualLayout>
                  <c:x val="-6.1220530087841823E-3"/>
                  <c:y val="-3.8428227940864742E-3"/>
                </c:manualLayout>
              </c:layout>
              <c:tx>
                <c:rich>
                  <a:bodyPr/>
                  <a:lstStyle/>
                  <a:p>
                    <a:fld id="{FB7D6645-D5F2-49E9-AFC6-77C420CA4B42}" type="VALUE">
                      <a:rPr lang="en-US"/>
                      <a:pPr/>
                      <a:t>[VALUE]</a:t>
                    </a:fld>
                    <a:endParaRPr lang="es-E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9CF-4059-B645-E825436B35CF}"/>
                </c:ext>
              </c:extLst>
            </c:dLbl>
            <c:dLbl>
              <c:idx val="5"/>
              <c:layout>
                <c:manualLayout>
                  <c:x val="-1.2322906731120967E-2"/>
                  <c:y val="-3.90572142057546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9CF-4059-B645-E825436B35CF}"/>
                </c:ext>
              </c:extLst>
            </c:dLbl>
            <c:dLbl>
              <c:idx val="6"/>
              <c:layout>
                <c:manualLayout>
                  <c:x val="-1.5403148260092897E-2"/>
                  <c:y val="-3.90510634633593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9CF-4059-B645-E825436B35CF}"/>
                </c:ext>
              </c:extLst>
            </c:dLbl>
            <c:dLbl>
              <c:idx val="9"/>
              <c:layout>
                <c:manualLayout>
                  <c:x val="-1.2332440873118007E-2"/>
                  <c:y val="-3.8443369086625522E-3"/>
                </c:manualLayout>
              </c:layout>
              <c:tx>
                <c:rich>
                  <a:bodyPr/>
                  <a:lstStyle/>
                  <a:p>
                    <a:fld id="{C94606FC-EBBE-4191-8C2E-810723DF5AF0}" type="VALUE">
                      <a:rPr lang="en-US"/>
                      <a:pPr/>
                      <a:t>[VALUE]</a:t>
                    </a:fld>
                    <a:endParaRPr lang="es-E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B9CF-4059-B645-E825436B35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TOTAL</c:v>
                </c:pt>
                <c:pt idx="1">
                  <c:v>Distribution</c:v>
                </c:pt>
                <c:pt idx="2">
                  <c:v>UPCs</c:v>
                </c:pt>
                <c:pt idx="3">
                  <c:v>Regular Price Competitors</c:v>
                </c:pt>
                <c:pt idx="4">
                  <c:v>Open TV Competitors</c:v>
                </c:pt>
                <c:pt idx="5">
                  <c:v>Pay TV Competitors</c:v>
                </c:pt>
                <c:pt idx="6">
                  <c:v>Regular Price</c:v>
                </c:pt>
                <c:pt idx="7">
                  <c:v>Offline media</c:v>
                </c:pt>
                <c:pt idx="8">
                  <c:v>Digital media</c:v>
                </c:pt>
                <c:pt idx="9">
                  <c:v>Discounts</c:v>
                </c:pt>
              </c:strCache>
            </c:strRef>
          </c:cat>
          <c:val>
            <c:numRef>
              <c:f>Sheet1!$B$2:$B$11</c:f>
              <c:numCache>
                <c:formatCode>0.0%</c:formatCode>
                <c:ptCount val="10"/>
                <c:pt idx="0">
                  <c:v>-2.6430944788560822E-2</c:v>
                </c:pt>
                <c:pt idx="1">
                  <c:v>5.0838210182696367E-2</c:v>
                </c:pt>
                <c:pt idx="2">
                  <c:v>6.3238461492098339E-3</c:v>
                </c:pt>
                <c:pt idx="3">
                  <c:v>7.0000000000000001E-3</c:v>
                </c:pt>
                <c:pt idx="4">
                  <c:v>-1.1785250328783053E-3</c:v>
                </c:pt>
                <c:pt idx="5">
                  <c:v>-1.5278421667923126E-3</c:v>
                </c:pt>
                <c:pt idx="6">
                  <c:v>-7.9541627933644179E-2</c:v>
                </c:pt>
                <c:pt idx="7">
                  <c:v>-1E-3</c:v>
                </c:pt>
                <c:pt idx="8">
                  <c:v>-1E-3</c:v>
                </c:pt>
                <c:pt idx="9">
                  <c:v>-5.8866339207964075E-3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B9CF-4059-B645-E825436B3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91162880"/>
        <c:axId val="491160920"/>
      </c:barChart>
      <c:catAx>
        <c:axId val="4911628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491160920"/>
        <c:crosses val="autoZero"/>
        <c:auto val="1"/>
        <c:lblAlgn val="ctr"/>
        <c:lblOffset val="100"/>
        <c:noMultiLvlLbl val="0"/>
      </c:catAx>
      <c:valAx>
        <c:axId val="491160920"/>
        <c:scaling>
          <c:orientation val="minMax"/>
        </c:scaling>
        <c:delete val="0"/>
        <c:axPos val="t"/>
        <c:numFmt formatCode="0.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49116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Inter" panose="020B0604020202020204" charset="0"/>
          <a:ea typeface="Inter" panose="020B0604020202020204" charset="0"/>
        </a:defRPr>
      </a:pPr>
      <a:endParaRPr lang="es-MX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467572353301507E-2"/>
          <c:y val="3.4920634920634921E-2"/>
          <c:w val="0.93436225418854491"/>
          <c:h val="0.89530158730158726"/>
        </c:manualLayout>
      </c:layout>
      <c:bubbleChart>
        <c:varyColors val="0"/>
        <c:ser>
          <c:idx val="0"/>
          <c:order val="0"/>
          <c:tx>
            <c:strRef>
              <c:f>Sheet1!$C$20:$C$29</c:f>
              <c:strCache>
                <c:ptCount val="10"/>
                <c:pt idx="0">
                  <c:v>2023-Facebook+Instagram</c:v>
                </c:pt>
                <c:pt idx="1">
                  <c:v>2023-Youtube</c:v>
                </c:pt>
                <c:pt idx="2">
                  <c:v>2023-Paid search</c:v>
                </c:pt>
                <c:pt idx="3">
                  <c:v>2023-Online banners</c:v>
                </c:pt>
                <c:pt idx="4">
                  <c:v>2023-OOH Large format</c:v>
                </c:pt>
                <c:pt idx="5">
                  <c:v>2023-OOH Retail</c:v>
                </c:pt>
                <c:pt idx="6">
                  <c:v>2024-Facebook+Instagram</c:v>
                </c:pt>
                <c:pt idx="7">
                  <c:v>2024-Youtube</c:v>
                </c:pt>
                <c:pt idx="8">
                  <c:v>2024-Paid search</c:v>
                </c:pt>
                <c:pt idx="9">
                  <c:v>2024-OOH Retail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1FF0-4D9D-9F8C-15BA10ACD006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FF0-4D9D-9F8C-15BA10ACD006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1FF0-4D9D-9F8C-15BA10ACD006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FF0-4D9D-9F8C-15BA10ACD006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1FF0-4D9D-9F8C-15BA10ACD006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FF0-4D9D-9F8C-15BA10ACD006}"/>
              </c:ext>
            </c:extLst>
          </c:dPt>
          <c:dPt>
            <c:idx val="6"/>
            <c:invertIfNegative val="0"/>
            <c:bubble3D val="0"/>
            <c:spPr>
              <a:solidFill>
                <a:srgbClr val="FFDCCC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F0-4D9D-9F8C-15BA10ACD006}"/>
              </c:ext>
            </c:extLst>
          </c:dPt>
          <c:dPt>
            <c:idx val="7"/>
            <c:invertIfNegative val="0"/>
            <c:bubble3D val="0"/>
            <c:spPr>
              <a:solidFill>
                <a:srgbClr val="FFDCCC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F0-4D9D-9F8C-15BA10ACD006}"/>
              </c:ext>
            </c:extLst>
          </c:dPt>
          <c:dPt>
            <c:idx val="8"/>
            <c:invertIfNegative val="0"/>
            <c:bubble3D val="0"/>
            <c:spPr>
              <a:solidFill>
                <a:srgbClr val="FFDCCC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FF0-4D9D-9F8C-15BA10ACD006}"/>
              </c:ext>
            </c:extLst>
          </c:dPt>
          <c:dPt>
            <c:idx val="9"/>
            <c:invertIfNegative val="0"/>
            <c:bubble3D val="0"/>
            <c:spPr>
              <a:solidFill>
                <a:srgbClr val="FFDCCC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FF0-4D9D-9F8C-15BA10ACD006}"/>
              </c:ext>
            </c:extLst>
          </c:dPt>
          <c:dLbls>
            <c:dLbl>
              <c:idx val="0"/>
              <c:layout>
                <c:manualLayout>
                  <c:x val="1.4700681147476587E-2"/>
                  <c:y val="-3.3839818047055117E-2"/>
                </c:manualLayout>
              </c:layout>
              <c:tx>
                <c:rich>
                  <a:bodyPr/>
                  <a:lstStyle/>
                  <a:p>
                    <a:fld id="{9C4742FC-B096-4A52-9D24-32B591C2E4F6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DF751C27-20EB-45CD-8011-A99CCD1003CE}" type="BUBBLESIZE">
                      <a:rPr lang="en-US"/>
                      <a:pPr/>
                      <a:t>[BUBBLE SIZE]</a:t>
                    </a:fld>
                    <a:endParaRPr lang="es-E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998191777935609"/>
                      <c:h val="9.714285714285714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1FF0-4D9D-9F8C-15BA10ACD006}"/>
                </c:ext>
              </c:extLst>
            </c:dLbl>
            <c:dLbl>
              <c:idx val="1"/>
              <c:layout>
                <c:manualLayout>
                  <c:x val="-0.16757537078407103"/>
                  <c:y val="-0.1324551931008624"/>
                </c:manualLayout>
              </c:layout>
              <c:tx>
                <c:rich>
                  <a:bodyPr/>
                  <a:lstStyle/>
                  <a:p>
                    <a:fld id="{D31262A3-193C-4F83-8157-18D8E9AFC9E7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EC293DF4-B521-4C8A-BCC8-9316BC147524}" type="BUBBLESIZE">
                      <a:rPr lang="en-US"/>
                      <a:pPr/>
                      <a:t>[BUBBLE SIZE]</a:t>
                    </a:fld>
                    <a:endParaRPr lang="es-E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1FF0-4D9D-9F8C-15BA10ACD006}"/>
                </c:ext>
              </c:extLst>
            </c:dLbl>
            <c:dLbl>
              <c:idx val="2"/>
              <c:layout>
                <c:manualLayout>
                  <c:x val="-0.12348776715410574"/>
                  <c:y val="-9.9966216992427331E-2"/>
                </c:manualLayout>
              </c:layout>
              <c:tx>
                <c:rich>
                  <a:bodyPr/>
                  <a:lstStyle/>
                  <a:p>
                    <a:fld id="{F903D4A8-2496-4B8F-93F1-E546712862FD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15ABDE98-2E3C-4093-86B8-3DDA2420F190}" type="BUBBLESIZE">
                      <a:rPr lang="en-US"/>
                      <a:pPr/>
                      <a:t>[BUBBLE SIZE]</a:t>
                    </a:fld>
                    <a:endParaRPr lang="es-E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1FF0-4D9D-9F8C-15BA10ACD006}"/>
                </c:ext>
              </c:extLst>
            </c:dLbl>
            <c:dLbl>
              <c:idx val="3"/>
              <c:layout>
                <c:manualLayout>
                  <c:x val="-3.825897535362105E-2"/>
                  <c:y val="-0.13488688913885763"/>
                </c:manualLayout>
              </c:layout>
              <c:tx>
                <c:rich>
                  <a:bodyPr/>
                  <a:lstStyle/>
                  <a:p>
                    <a:fld id="{A5C7CC07-7445-4E04-95DD-FDCD31734720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D5B353E0-F7FC-4A7F-8F58-DD82FE62EE33}" type="BUBBLESIZE">
                      <a:rPr lang="en-US"/>
                      <a:pPr/>
                      <a:t>[BUBBLE SIZE]</a:t>
                    </a:fld>
                    <a:endParaRPr lang="es-E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1FF0-4D9D-9F8C-15BA10ACD006}"/>
                </c:ext>
              </c:extLst>
            </c:dLbl>
            <c:dLbl>
              <c:idx val="4"/>
              <c:layout>
                <c:manualLayout>
                  <c:x val="-8.8074647285940139E-2"/>
                  <c:y val="0.2485646794150731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2739258-BAF2-4A8C-9CFD-EF8BD184E1DC}" type="CELLRANGE">
                      <a:rPr lang="en-US"/>
                      <a:pPr>
                        <a:defRPr/>
                      </a:pPr>
                      <a:t>[CELLRANGE]</a:t>
                    </a:fld>
                    <a:endParaRPr lang="en-US" baseline="0"/>
                  </a:p>
                  <a:p>
                    <a:pPr>
                      <a:defRPr/>
                    </a:pPr>
                    <a:fld id="{9DCE1572-C982-4036-A2DA-79C27FCAA8EF}" type="BUBBLESIZE">
                      <a:rPr lang="en-US"/>
                      <a:pPr>
                        <a:defRPr/>
                      </a:pPr>
                      <a:t>[BUBBLE SIZE]</a:t>
                    </a:fld>
                    <a:endParaRPr lang="es-ES"/>
                  </a:p>
                </c:rich>
              </c:tx>
              <c:numFmt formatCode="&quot;$&quot;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451418705182535"/>
                      <c:h val="7.5206349206349207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1FF0-4D9D-9F8C-15BA10ACD006}"/>
                </c:ext>
              </c:extLst>
            </c:dLbl>
            <c:dLbl>
              <c:idx val="5"/>
              <c:layout>
                <c:manualLayout>
                  <c:x val="-0.1571764805199698"/>
                  <c:y val="-8.1864266966629226E-2"/>
                </c:manualLayout>
              </c:layout>
              <c:tx>
                <c:rich>
                  <a:bodyPr/>
                  <a:lstStyle/>
                  <a:p>
                    <a:fld id="{51FB1B2A-7758-43D2-9875-34D2C6635825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DFAF92B7-7FC6-4DE9-8751-E24A965F5444}" type="BUBBLESIZE">
                      <a:rPr lang="en-US"/>
                      <a:pPr/>
                      <a:t>[BUBBLE SIZE]</a:t>
                    </a:fld>
                    <a:endParaRPr lang="es-E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1FF0-4D9D-9F8C-15BA10ACD006}"/>
                </c:ext>
              </c:extLst>
            </c:dLbl>
            <c:dLbl>
              <c:idx val="6"/>
              <c:layout>
                <c:manualLayout>
                  <c:x val="8.6602185564363422E-3"/>
                  <c:y val="-5.818972628421453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5866185-96B8-494B-85E5-1575D3C6517C}" type="CELLRANGE">
                      <a:rPr lang="en-US"/>
                      <a:pPr>
                        <a:defRPr/>
                      </a:pPr>
                      <a:t>[CELLRANGE]</a:t>
                    </a:fld>
                    <a:endParaRPr lang="en-US" baseline="0"/>
                  </a:p>
                  <a:p>
                    <a:pPr>
                      <a:defRPr/>
                    </a:pPr>
                    <a:fld id="{CBF7D16F-F155-4F55-B8D7-0E66EB35E153}" type="BUBBLESIZE">
                      <a:rPr lang="en-US"/>
                      <a:pPr>
                        <a:defRPr/>
                      </a:pPr>
                      <a:t>[BUBBLE SIZE]</a:t>
                    </a:fld>
                    <a:endParaRPr lang="es-ES"/>
                  </a:p>
                </c:rich>
              </c:tx>
              <c:numFmt formatCode="&quot;$&quot;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640982890001772"/>
                      <c:h val="0.13206349206349208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FF0-4D9D-9F8C-15BA10ACD006}"/>
                </c:ext>
              </c:extLst>
            </c:dLbl>
            <c:dLbl>
              <c:idx val="7"/>
              <c:layout>
                <c:manualLayout>
                  <c:x val="-3.979457746174251E-2"/>
                  <c:y val="0.19493413323334571"/>
                </c:manualLayout>
              </c:layout>
              <c:tx>
                <c:rich>
                  <a:bodyPr/>
                  <a:lstStyle/>
                  <a:p>
                    <a:fld id="{0327A072-7454-4DEC-962C-0E7B5C01AD70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96A95FDC-AC22-4903-80B1-AC2F165989F3}" type="BUBBLESIZE">
                      <a:rPr lang="en-US"/>
                      <a:pPr/>
                      <a:t>[BUBBLE SIZE]</a:t>
                    </a:fld>
                    <a:endParaRPr lang="es-E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1FF0-4D9D-9F8C-15BA10ACD006}"/>
                </c:ext>
              </c:extLst>
            </c:dLbl>
            <c:dLbl>
              <c:idx val="8"/>
              <c:layout>
                <c:manualLayout>
                  <c:x val="-9.9438347075379158E-2"/>
                  <c:y val="0.13887189101362329"/>
                </c:manualLayout>
              </c:layout>
              <c:tx>
                <c:rich>
                  <a:bodyPr/>
                  <a:lstStyle/>
                  <a:p>
                    <a:fld id="{27F9FFF2-7C8E-4499-B89F-70D0BDBDBF68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F5858E48-AF96-4D98-8C16-78DA3067BCAE}" type="BUBBLESIZE">
                      <a:rPr lang="en-US"/>
                      <a:pPr/>
                      <a:t>[BUBBLE SIZE]</a:t>
                    </a:fld>
                    <a:endParaRPr lang="es-E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1FF0-4D9D-9F8C-15BA10ACD006}"/>
                </c:ext>
              </c:extLst>
            </c:dLbl>
            <c:dLbl>
              <c:idx val="9"/>
              <c:layout>
                <c:manualLayout>
                  <c:x val="-0.18609905087091871"/>
                  <c:y val="-6.3492063492063492E-3"/>
                </c:manualLayout>
              </c:layout>
              <c:tx>
                <c:rich>
                  <a:bodyPr/>
                  <a:lstStyle/>
                  <a:p>
                    <a:fld id="{57BA38E6-0A45-4949-BD88-72EDCCA936F4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C1186989-4EC6-4B2F-8973-06DBDD6214A2}" type="BUBBLESIZE">
                      <a:rPr lang="en-US"/>
                      <a:pPr/>
                      <a:t>[BUBBLE SIZE]</a:t>
                    </a:fld>
                    <a:endParaRPr lang="es-E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1FF0-4D9D-9F8C-15BA10ACD006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1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Sheet1!$D$20:$D$29</c:f>
              <c:numCache>
                <c:formatCode>0%</c:formatCode>
                <c:ptCount val="10"/>
                <c:pt idx="0">
                  <c:v>3.7544109728606986E-2</c:v>
                </c:pt>
                <c:pt idx="1">
                  <c:v>3.0937391437945789E-2</c:v>
                </c:pt>
                <c:pt idx="2">
                  <c:v>1.2227526888757195E-2</c:v>
                </c:pt>
                <c:pt idx="3">
                  <c:v>3.3650698821059498E-2</c:v>
                </c:pt>
                <c:pt idx="4">
                  <c:v>3.901141887415803E-2</c:v>
                </c:pt>
                <c:pt idx="5">
                  <c:v>2.1093151903355277E-2</c:v>
                </c:pt>
                <c:pt idx="6">
                  <c:v>4.4904974562441788E-2</c:v>
                </c:pt>
                <c:pt idx="7">
                  <c:v>3.2538770471107308E-2</c:v>
                </c:pt>
                <c:pt idx="8">
                  <c:v>7.4062900842496674E-3</c:v>
                </c:pt>
                <c:pt idx="9">
                  <c:v>2.4331141225302208E-2</c:v>
                </c:pt>
              </c:numCache>
            </c:numRef>
          </c:xVal>
          <c:yVal>
            <c:numRef>
              <c:f>Sheet1!$E$20:$E$29</c:f>
              <c:numCache>
                <c:formatCode>_("$"* #,##0.00_);_("$"* \(#,##0.00\);_("$"* "-"??_);_(@_)</c:formatCode>
                <c:ptCount val="10"/>
                <c:pt idx="0">
                  <c:v>4.8424146788155102</c:v>
                </c:pt>
                <c:pt idx="1">
                  <c:v>3.2500772818016292</c:v>
                </c:pt>
                <c:pt idx="2">
                  <c:v>4.9984139354809658</c:v>
                </c:pt>
                <c:pt idx="3">
                  <c:v>5.2662043061630177</c:v>
                </c:pt>
                <c:pt idx="4">
                  <c:v>2.4825923703288799</c:v>
                </c:pt>
                <c:pt idx="5">
                  <c:v>3.1217123193975436</c:v>
                </c:pt>
                <c:pt idx="6">
                  <c:v>1.6487696578530235</c:v>
                </c:pt>
                <c:pt idx="7">
                  <c:v>1.2823150520863669</c:v>
                </c:pt>
                <c:pt idx="8">
                  <c:v>2.8232265286486027</c:v>
                </c:pt>
                <c:pt idx="9">
                  <c:v>2.0380361072484656</c:v>
                </c:pt>
              </c:numCache>
            </c:numRef>
          </c:yVal>
          <c:bubbleSize>
            <c:numRef>
              <c:f>Sheet1!$F$20:$F$29</c:f>
              <c:numCache>
                <c:formatCode>_("$"* #,##0_);_("$"* \(#,##0\);_("$"* "-"??_);_(@_)</c:formatCode>
                <c:ptCount val="10"/>
                <c:pt idx="0">
                  <c:v>22488896</c:v>
                </c:pt>
                <c:pt idx="1">
                  <c:v>27586998</c:v>
                </c:pt>
                <c:pt idx="2">
                  <c:v>7012253</c:v>
                </c:pt>
                <c:pt idx="3">
                  <c:v>18374818</c:v>
                </c:pt>
                <c:pt idx="4">
                  <c:v>45574922.761904821</c:v>
                </c:pt>
                <c:pt idx="5">
                  <c:v>19699999.571428571</c:v>
                </c:pt>
                <c:pt idx="6">
                  <c:v>70999307.495117232</c:v>
                </c:pt>
                <c:pt idx="7">
                  <c:v>66199000.671875007</c:v>
                </c:pt>
                <c:pt idx="8">
                  <c:v>6869130.9873046903</c:v>
                </c:pt>
                <c:pt idx="9">
                  <c:v>30999999.999999948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Sheet1!$C$20:$C$29</c15:f>
                <c15:dlblRangeCache>
                  <c:ptCount val="10"/>
                  <c:pt idx="0">
                    <c:v>2023-Facebook+Instagram</c:v>
                  </c:pt>
                  <c:pt idx="1">
                    <c:v>2023-Youtube</c:v>
                  </c:pt>
                  <c:pt idx="2">
                    <c:v>2023-Paid search</c:v>
                  </c:pt>
                  <c:pt idx="3">
                    <c:v>2023-Online banners</c:v>
                  </c:pt>
                  <c:pt idx="4">
                    <c:v>2023-OOH Large format</c:v>
                  </c:pt>
                  <c:pt idx="5">
                    <c:v>2023-OOH Retail</c:v>
                  </c:pt>
                  <c:pt idx="6">
                    <c:v>2024-Facebook+Instagram</c:v>
                  </c:pt>
                  <c:pt idx="7">
                    <c:v>2024-Youtube</c:v>
                  </c:pt>
                  <c:pt idx="8">
                    <c:v>2024-Paid search</c:v>
                  </c:pt>
                  <c:pt idx="9">
                    <c:v>2024-OOH Retail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E-1FF0-4D9D-9F8C-15BA10ACD0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1316835920"/>
        <c:axId val="1316832560"/>
      </c:bubbleChart>
      <c:valAx>
        <c:axId val="1316835920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832560"/>
        <c:crossesAt val="2.9699999999999998"/>
        <c:crossBetween val="midCat"/>
      </c:valAx>
      <c:valAx>
        <c:axId val="1316832560"/>
        <c:scaling>
          <c:orientation val="minMax"/>
          <c:min val="-1"/>
        </c:scaling>
        <c:delete val="0"/>
        <c:axPos val="l"/>
        <c:numFmt formatCode="_(&quot;$&quot;* #,##0.00_);_(&quot;$&quot;* \(#,##0.00\);_(&quot;$&quot;* &quot;-&quot;??_);_(@_)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835920"/>
        <c:crossesAt val="3.2000000000000008E-2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800" b="0" i="0" u="none" strike="noStrike" kern="1200" spc="0" baseline="0" err="1">
                <a:solidFill>
                  <a:srgbClr val="333333">
                    <a:lumMod val="65000"/>
                    <a:lumOff val="35000"/>
                  </a:srgbClr>
                </a:solidFill>
              </a:rPr>
              <a:t>Saturation</a:t>
            </a:r>
            <a:r>
              <a:rPr lang="es-ES" sz="1800" b="0" i="0" u="none" strike="noStrike" kern="1200" spc="0" baseline="0">
                <a:solidFill>
                  <a:srgbClr val="333333">
                    <a:lumMod val="65000"/>
                    <a:lumOff val="35000"/>
                  </a:srgbClr>
                </a:solidFill>
              </a:rPr>
              <a:t> curves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757251645791286E-2"/>
          <c:y val="7.0170836467519149E-2"/>
          <c:w val="0.83334577183383296"/>
          <c:h val="0.652856827056959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13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131"/>
                <c:pt idx="0">
                  <c:v>0</c:v>
                </c:pt>
                <c:pt idx="1">
                  <c:v>12964.318624639407</c:v>
                </c:pt>
                <c:pt idx="2">
                  <c:v>51676.638362899066</c:v>
                </c:pt>
                <c:pt idx="3">
                  <c:v>115601.30667525688</c:v>
                </c:pt>
                <c:pt idx="4">
                  <c:v>203866.02095183553</c:v>
                </c:pt>
                <c:pt idx="5">
                  <c:v>315291.14273246808</c:v>
                </c:pt>
                <c:pt idx="6">
                  <c:v>448428.15250045416</c:v>
                </c:pt>
                <c:pt idx="7">
                  <c:v>601604.96863220003</c:v>
                </c:pt>
                <c:pt idx="8">
                  <c:v>772975.59497772879</c:v>
                </c:pt>
                <c:pt idx="9">
                  <c:v>960571.51938186132</c:v>
                </c:pt>
                <c:pt idx="10">
                  <c:v>1162352.4415347625</c:v>
                </c:pt>
                <c:pt idx="11">
                  <c:v>1376254.224185701</c:v>
                </c:pt>
                <c:pt idx="12">
                  <c:v>1600232.3862808784</c:v>
                </c:pt>
                <c:pt idx="13">
                  <c:v>1832299.9357895332</c:v>
                </c:pt>
                <c:pt idx="14">
                  <c:v>2070558.8235692868</c:v>
                </c:pt>
                <c:pt idx="15">
                  <c:v>2313224.7465671422</c:v>
                </c:pt>
                <c:pt idx="16">
                  <c:v>2558645.4100641869</c:v>
                </c:pt>
                <c:pt idx="17">
                  <c:v>2805312.6583239078</c:v>
                </c:pt>
                <c:pt idx="18">
                  <c:v>3051869.0960613885</c:v>
                </c:pt>
                <c:pt idx="19">
                  <c:v>3297109.9537762599</c:v>
                </c:pt>
                <c:pt idx="20">
                  <c:v>3539981.0085049472</c:v>
                </c:pt>
                <c:pt idx="21">
                  <c:v>3779573.3716658591</c:v>
                </c:pt>
                <c:pt idx="22">
                  <c:v>4015115.9121897491</c:v>
                </c:pt>
                <c:pt idx="23">
                  <c:v>4245966.0101919807</c:v>
                </c:pt>
                <c:pt idx="24">
                  <c:v>4471599.246443172</c:v>
                </c:pt>
                <c:pt idx="25">
                  <c:v>4691598.5358991167</c:v>
                </c:pt>
                <c:pt idx="26">
                  <c:v>4905643.1171702277</c:v>
                </c:pt>
                <c:pt idx="27">
                  <c:v>5113497.7193427878</c:v>
                </c:pt>
                <c:pt idx="28">
                  <c:v>5315002.1463122955</c:v>
                </c:pt>
                <c:pt idx="29">
                  <c:v>5510061.4484549472</c:v>
                </c:pt>
                <c:pt idx="30">
                  <c:v>5698636.7925425069</c:v>
                </c:pt>
                <c:pt idx="31">
                  <c:v>5880737.0929501671</c:v>
                </c:pt>
                <c:pt idx="32">
                  <c:v>6056411.4295308199</c:v>
                </c:pt>
                <c:pt idx="33">
                  <c:v>6225742.2488446152</c:v>
                </c:pt>
                <c:pt idx="34">
                  <c:v>6388839.3244329197</c:v>
                </c:pt>
                <c:pt idx="35">
                  <c:v>6545834.4372022776</c:v>
                </c:pt>
                <c:pt idx="36">
                  <c:v>6696876.7275144774</c:v>
                </c:pt>
                <c:pt idx="37">
                  <c:v>6842128.6651618527</c:v>
                </c:pt>
                <c:pt idx="38">
                  <c:v>6981762.5810941271</c:v>
                </c:pt>
                <c:pt idx="39">
                  <c:v>7115957.7047532145</c:v>
                </c:pt>
                <c:pt idx="40">
                  <c:v>7244897.6525104046</c:v>
                </c:pt>
                <c:pt idx="41">
                  <c:v>7368768.315460097</c:v>
                </c:pt>
                <c:pt idx="42">
                  <c:v>7487756.0982953692</c:v>
                </c:pt>
                <c:pt idx="43">
                  <c:v>7602046.4648562875</c:v>
                </c:pt>
                <c:pt idx="44">
                  <c:v>7711822.7499693381</c:v>
                </c:pt>
                <c:pt idx="45">
                  <c:v>7817265.2012129743</c:v>
                </c:pt>
                <c:pt idx="46">
                  <c:v>7918550.2181328936</c:v>
                </c:pt>
                <c:pt idx="47">
                  <c:v>8015849.760111724</c:v>
                </c:pt>
                <c:pt idx="48">
                  <c:v>8109330.8975225016</c:v>
                </c:pt>
                <c:pt idx="49">
                  <c:v>8199155.4839391932</c:v>
                </c:pt>
                <c:pt idx="50">
                  <c:v>8285479.9300311226</c:v>
                </c:pt>
                <c:pt idx="51">
                  <c:v>8368455.062333826</c:v>
                </c:pt>
                <c:pt idx="52">
                  <c:v>8448226.0523793455</c:v>
                </c:pt>
                <c:pt idx="53">
                  <c:v>8524932.4036982227</c:v>
                </c:pt>
                <c:pt idx="54">
                  <c:v>8598707.9859943297</c:v>
                </c:pt>
                <c:pt idx="55">
                  <c:v>8669681.1073621474</c:v>
                </c:pt>
                <c:pt idx="56">
                  <c:v>8737974.6167846471</c:v>
                </c:pt>
                <c:pt idx="57">
                  <c:v>8803706.0303401183</c:v>
                </c:pt>
                <c:pt idx="58">
                  <c:v>8866987.6755768154</c:v>
                </c:pt>
                <c:pt idx="59">
                  <c:v>8927926.8494036272</c:v>
                </c:pt>
                <c:pt idx="60">
                  <c:v>8986625.9856105819</c:v>
                </c:pt>
                <c:pt idx="61">
                  <c:v>9043182.8287888579</c:v>
                </c:pt>
                <c:pt idx="62">
                  <c:v>9097690.6119820308</c:v>
                </c:pt>
                <c:pt idx="63">
                  <c:v>9150238.2358782403</c:v>
                </c:pt>
                <c:pt idx="64">
                  <c:v>9200910.4477605801</c:v>
                </c:pt>
                <c:pt idx="65">
                  <c:v>9249788.0187776592</c:v>
                </c:pt>
                <c:pt idx="66">
                  <c:v>9296947.918388268</c:v>
                </c:pt>
                <c:pt idx="67">
                  <c:v>9342463.4850794747</c:v>
                </c:pt>
                <c:pt idx="68">
                  <c:v>9386404.5926640201</c:v>
                </c:pt>
                <c:pt idx="69">
                  <c:v>9428837.8116354439</c:v>
                </c:pt>
                <c:pt idx="70">
                  <c:v>9469826.5652028229</c:v>
                </c:pt>
                <c:pt idx="71">
                  <c:v>9509431.2797467541</c:v>
                </c:pt>
                <c:pt idx="72">
                  <c:v>9547709.529535884</c:v>
                </c:pt>
                <c:pt idx="73">
                  <c:v>9584716.1756243687</c:v>
                </c:pt>
                <c:pt idx="74">
                  <c:v>9620503.498915948</c:v>
                </c:pt>
                <c:pt idx="75">
                  <c:v>9655121.3274333067</c:v>
                </c:pt>
                <c:pt idx="76">
                  <c:v>9688617.1578735132</c:v>
                </c:pt>
                <c:pt idx="77">
                  <c:v>9721036.2715637404</c:v>
                </c:pt>
                <c:pt idx="78">
                  <c:v>9752421.8449569475</c:v>
                </c:pt>
                <c:pt idx="79">
                  <c:v>9782815.0548269022</c:v>
                </c:pt>
                <c:pt idx="80">
                  <c:v>9812255.178335879</c:v>
                </c:pt>
                <c:pt idx="81">
                  <c:v>9840779.6881584879</c:v>
                </c:pt>
                <c:pt idx="82">
                  <c:v>9868424.3428513017</c:v>
                </c:pt>
                <c:pt idx="83">
                  <c:v>9895223.2726614047</c:v>
                </c:pt>
                <c:pt idx="84">
                  <c:v>9921209.0609679651</c:v>
                </c:pt>
                <c:pt idx="85">
                  <c:v>9946412.8215502203</c:v>
                </c:pt>
                <c:pt idx="86">
                  <c:v>9970864.271872621</c:v>
                </c:pt>
                <c:pt idx="87">
                  <c:v>9994591.8025744818</c:v>
                </c:pt>
                <c:pt idx="88">
                  <c:v>10017622.543346802</c:v>
                </c:pt>
                <c:pt idx="89">
                  <c:v>10039982.425373737</c:v>
                </c:pt>
                <c:pt idx="90">
                  <c:v>10061696.240510389</c:v>
                </c:pt>
                <c:pt idx="91">
                  <c:v>10082787.697362404</c:v>
                </c:pt>
                <c:pt idx="92">
                  <c:v>10103279.47442651</c:v>
                </c:pt>
                <c:pt idx="93">
                  <c:v>10123193.270444687</c:v>
                </c:pt>
                <c:pt idx="94">
                  <c:v>10142549.852117863</c:v>
                </c:pt>
                <c:pt idx="95">
                  <c:v>10161369.099318689</c:v>
                </c:pt>
                <c:pt idx="96">
                  <c:v>10179670.047936488</c:v>
                </c:pt>
                <c:pt idx="97">
                  <c:v>10197470.930480806</c:v>
                </c:pt>
                <c:pt idx="98">
                  <c:v>10214789.21456418</c:v>
                </c:pt>
                <c:pt idx="99">
                  <c:v>10231641.63937843</c:v>
                </c:pt>
                <c:pt idx="100">
                  <c:v>10248044.250273118</c:v>
                </c:pt>
                <c:pt idx="101">
                  <c:v>10264012.431538962</c:v>
                </c:pt>
                <c:pt idx="102">
                  <c:v>10279560.93749395</c:v>
                </c:pt>
                <c:pt idx="103">
                  <c:v>10294703.921964303</c:v>
                </c:pt>
                <c:pt idx="104">
                  <c:v>10309454.966247799</c:v>
                </c:pt>
                <c:pt idx="105">
                  <c:v>10323827.105642058</c:v>
                </c:pt>
                <c:pt idx="106">
                  <c:v>10337832.854615992</c:v>
                </c:pt>
                <c:pt idx="107">
                  <c:v>10351484.230698192</c:v>
                </c:pt>
                <c:pt idx="108">
                  <c:v>10364792.777152125</c:v>
                </c:pt>
                <c:pt idx="109">
                  <c:v>10377769.584503978</c:v>
                </c:pt>
                <c:pt idx="110">
                  <c:v>10390425.310985442</c:v>
                </c:pt>
                <c:pt idx="111">
                  <c:v>10402770.20195017</c:v>
                </c:pt>
                <c:pt idx="112">
                  <c:v>10414814.108319417</c:v>
                </c:pt>
                <c:pt idx="113">
                  <c:v>10426566.504109183</c:v>
                </c:pt>
                <c:pt idx="114">
                  <c:v>10438036.503088359</c:v>
                </c:pt>
                <c:pt idx="115">
                  <c:v>10449232.874614434</c:v>
                </c:pt>
                <c:pt idx="116">
                  <c:v>10460164.058690866</c:v>
                </c:pt>
                <c:pt idx="117">
                  <c:v>10470838.180287661</c:v>
                </c:pt>
                <c:pt idx="118">
                  <c:v>10481263.062964298</c:v>
                </c:pt>
                <c:pt idx="119">
                  <c:v>10491446.241832126</c:v>
                </c:pt>
                <c:pt idx="120">
                  <c:v>10501394.975891061</c:v>
                </c:pt>
                <c:pt idx="121">
                  <c:v>10511116.259773647</c:v>
                </c:pt>
                <c:pt idx="122">
                  <c:v>10520616.834927553</c:v>
                </c:pt>
                <c:pt idx="123">
                  <c:v>10529903.200265871</c:v>
                </c:pt>
                <c:pt idx="124">
                  <c:v>10538981.62231308</c:v>
                </c:pt>
                <c:pt idx="125">
                  <c:v>10547858.144872731</c:v>
                </c:pt>
                <c:pt idx="126">
                  <c:v>10556538.598241717</c:v>
                </c:pt>
                <c:pt idx="127">
                  <c:v>10565028.607994402</c:v>
                </c:pt>
                <c:pt idx="128">
                  <c:v>10573333.603358807</c:v>
                </c:pt>
                <c:pt idx="129">
                  <c:v>10581458.825205574</c:v>
                </c:pt>
                <c:pt idx="130">
                  <c:v>10589409.333669597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53-4F5F-9C48-ABEEDA6094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13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131"/>
                <c:pt idx="0">
                  <c:v>0</c:v>
                </c:pt>
                <c:pt idx="1">
                  <c:v>0.12964318624639407</c:v>
                </c:pt>
                <c:pt idx="2">
                  <c:v>0.25838319181449532</c:v>
                </c:pt>
                <c:pt idx="3">
                  <c:v>0.38533768891752296</c:v>
                </c:pt>
                <c:pt idx="4">
                  <c:v>0.50966505237958881</c:v>
                </c:pt>
                <c:pt idx="5">
                  <c:v>0.63058228546493622</c:v>
                </c:pt>
                <c:pt idx="6">
                  <c:v>0.7473802541674236</c:v>
                </c:pt>
                <c:pt idx="7">
                  <c:v>0.85943566947457151</c:v>
                </c:pt>
                <c:pt idx="8">
                  <c:v>0.96621949372216098</c:v>
                </c:pt>
                <c:pt idx="9">
                  <c:v>1.0673016882020681</c:v>
                </c:pt>
                <c:pt idx="10">
                  <c:v>1.1623524415347626</c:v>
                </c:pt>
                <c:pt idx="11">
                  <c:v>1.2511402038051826</c:v>
                </c:pt>
                <c:pt idx="12">
                  <c:v>1.3335269885673986</c:v>
                </c:pt>
                <c:pt idx="13">
                  <c:v>1.4094614890688717</c:v>
                </c:pt>
                <c:pt idx="14">
                  <c:v>1.4789705882637763</c:v>
                </c:pt>
                <c:pt idx="15">
                  <c:v>1.5421498310447614</c:v>
                </c:pt>
                <c:pt idx="16">
                  <c:v>1.5991533812901169</c:v>
                </c:pt>
                <c:pt idx="17">
                  <c:v>1.6501839166611223</c:v>
                </c:pt>
                <c:pt idx="18">
                  <c:v>1.6954828311452159</c:v>
                </c:pt>
                <c:pt idx="19">
                  <c:v>1.7353210283032947</c:v>
                </c:pt>
                <c:pt idx="20">
                  <c:v>1.7699905042524735</c:v>
                </c:pt>
                <c:pt idx="21">
                  <c:v>1.799796843650409</c:v>
                </c:pt>
                <c:pt idx="22">
                  <c:v>1.8250526873589767</c:v>
                </c:pt>
                <c:pt idx="23">
                  <c:v>1.8460721783443395</c:v>
                </c:pt>
                <c:pt idx="24">
                  <c:v>1.8631663526846549</c:v>
                </c:pt>
                <c:pt idx="25">
                  <c:v>1.8766394143596468</c:v>
                </c:pt>
                <c:pt idx="26">
                  <c:v>1.8867858142962415</c:v>
                </c:pt>
                <c:pt idx="27">
                  <c:v>1.8938880442010324</c:v>
                </c:pt>
                <c:pt idx="28">
                  <c:v>1.8982150522543912</c:v>
                </c:pt>
                <c:pt idx="29">
                  <c:v>1.9000211891223955</c:v>
                </c:pt>
                <c:pt idx="30">
                  <c:v>1.8995455975141691</c:v>
                </c:pt>
                <c:pt idx="31">
                  <c:v>1.8970119654677959</c:v>
                </c:pt>
                <c:pt idx="32">
                  <c:v>1.8926285717283813</c:v>
                </c:pt>
                <c:pt idx="33">
                  <c:v>1.886588560255944</c:v>
                </c:pt>
                <c:pt idx="34">
                  <c:v>1.8790703895390941</c:v>
                </c:pt>
                <c:pt idx="35">
                  <c:v>1.8702384106292222</c:v>
                </c:pt>
                <c:pt idx="36">
                  <c:v>1.8602435354206881</c:v>
                </c:pt>
                <c:pt idx="37">
                  <c:v>1.8492239635572576</c:v>
                </c:pt>
                <c:pt idx="38">
                  <c:v>1.8373059423931914</c:v>
                </c:pt>
                <c:pt idx="39">
                  <c:v>1.8246045396803114</c:v>
                </c:pt>
                <c:pt idx="40">
                  <c:v>1.8112244131276012</c:v>
                </c:pt>
                <c:pt idx="41">
                  <c:v>1.7972605647463651</c:v>
                </c:pt>
                <c:pt idx="42">
                  <c:v>1.7827990710227068</c:v>
                </c:pt>
                <c:pt idx="43">
                  <c:v>1.7679177825247181</c:v>
                </c:pt>
                <c:pt idx="44">
                  <c:v>1.752686988629395</c:v>
                </c:pt>
                <c:pt idx="45">
                  <c:v>1.7371700447139944</c:v>
                </c:pt>
                <c:pt idx="46">
                  <c:v>1.7214239604636725</c:v>
                </c:pt>
                <c:pt idx="47">
                  <c:v>1.7054999489599414</c:v>
                </c:pt>
                <c:pt idx="48">
                  <c:v>1.6894439369838545</c:v>
                </c:pt>
                <c:pt idx="49">
                  <c:v>1.6732970375386109</c:v>
                </c:pt>
                <c:pt idx="50">
                  <c:v>1.6570959860062244</c:v>
                </c:pt>
                <c:pt idx="51">
                  <c:v>1.6408735416340836</c:v>
                </c:pt>
                <c:pt idx="52">
                  <c:v>1.6246588562267972</c:v>
                </c:pt>
                <c:pt idx="53">
                  <c:v>1.6084778120185326</c:v>
                </c:pt>
                <c:pt idx="54">
                  <c:v>1.5923533307396907</c:v>
                </c:pt>
                <c:pt idx="55">
                  <c:v>1.5763056558840267</c:v>
                </c:pt>
                <c:pt idx="56">
                  <c:v>1.5603526101401155</c:v>
                </c:pt>
                <c:pt idx="57">
                  <c:v>1.5445098298842312</c:v>
                </c:pt>
                <c:pt idx="58">
                  <c:v>1.5287909785477267</c:v>
                </c:pt>
                <c:pt idx="59">
                  <c:v>1.5132079405768859</c:v>
                </c:pt>
                <c:pt idx="60">
                  <c:v>1.4977709976017637</c:v>
                </c:pt>
                <c:pt idx="61">
                  <c:v>1.4824889883260424</c:v>
                </c:pt>
                <c:pt idx="62">
                  <c:v>1.4673694535454889</c:v>
                </c:pt>
                <c:pt idx="63">
                  <c:v>1.4524187675997207</c:v>
                </c:pt>
                <c:pt idx="64">
                  <c:v>1.4376422574625907</c:v>
                </c:pt>
                <c:pt idx="65">
                  <c:v>1.4230443105811783</c:v>
                </c:pt>
                <c:pt idx="66">
                  <c:v>1.4086284724830709</c:v>
                </c:pt>
                <c:pt idx="67">
                  <c:v>1.3943975350864888</c:v>
                </c:pt>
                <c:pt idx="68">
                  <c:v>1.3803536165682382</c:v>
                </c:pt>
                <c:pt idx="69">
                  <c:v>1.3664982335703542</c:v>
                </c:pt>
                <c:pt idx="70">
                  <c:v>1.3528323664575461</c:v>
                </c:pt>
                <c:pt idx="71">
                  <c:v>1.3393565182741907</c:v>
                </c:pt>
                <c:pt idx="72">
                  <c:v>1.326070767991095</c:v>
                </c:pt>
                <c:pt idx="73">
                  <c:v>1.3129748185786807</c:v>
                </c:pt>
                <c:pt idx="74">
                  <c:v>1.300068040394047</c:v>
                </c:pt>
                <c:pt idx="75">
                  <c:v>1.287349510324441</c:v>
                </c:pt>
                <c:pt idx="76">
                  <c:v>1.2748180470886201</c:v>
                </c:pt>
                <c:pt idx="77">
                  <c:v>1.262472243060226</c:v>
                </c:pt>
                <c:pt idx="78">
                  <c:v>1.2503104929431983</c:v>
                </c:pt>
                <c:pt idx="79">
                  <c:v>1.2383310195983421</c:v>
                </c:pt>
                <c:pt idx="80">
                  <c:v>1.226531897291985</c:v>
                </c:pt>
                <c:pt idx="81">
                  <c:v>1.214911072612159</c:v>
                </c:pt>
                <c:pt idx="82">
                  <c:v>1.2034663832745489</c:v>
                </c:pt>
                <c:pt idx="83">
                  <c:v>1.1921955750194464</c:v>
                </c:pt>
                <c:pt idx="84">
                  <c:v>1.1810963167819006</c:v>
                </c:pt>
                <c:pt idx="85">
                  <c:v>1.170166214300026</c:v>
                </c:pt>
                <c:pt idx="86">
                  <c:v>1.15940282231077</c:v>
                </c:pt>
                <c:pt idx="87">
                  <c:v>1.1488036554683312</c:v>
                </c:pt>
                <c:pt idx="88">
                  <c:v>1.1383661981075912</c:v>
                </c:pt>
                <c:pt idx="89">
                  <c:v>1.1280879129633412</c:v>
                </c:pt>
                <c:pt idx="90">
                  <c:v>1.1179662489455988</c:v>
                </c:pt>
                <c:pt idx="91">
                  <c:v>1.1079986480618027</c:v>
                </c:pt>
                <c:pt idx="92">
                  <c:v>1.098182551568099</c:v>
                </c:pt>
                <c:pt idx="93">
                  <c:v>1.0885154054241599</c:v>
                </c:pt>
                <c:pt idx="94">
                  <c:v>1.0789946651189215</c:v>
                </c:pt>
                <c:pt idx="95">
                  <c:v>1.069617799928283</c:v>
                </c:pt>
                <c:pt idx="96">
                  <c:v>1.0603822966600509</c:v>
                </c:pt>
                <c:pt idx="97">
                  <c:v>1.0512856629361655</c:v>
                </c:pt>
                <c:pt idx="98">
                  <c:v>1.0423254300575693</c:v>
                </c:pt>
                <c:pt idx="99">
                  <c:v>1.0334991554927708</c:v>
                </c:pt>
                <c:pt idx="100">
                  <c:v>1.0248044250273118</c:v>
                </c:pt>
                <c:pt idx="101">
                  <c:v>1.016238854607818</c:v>
                </c:pt>
                <c:pt idx="102">
                  <c:v>1.0078000919111716</c:v>
                </c:pt>
                <c:pt idx="103">
                  <c:v>0.99948581766643718</c:v>
                </c:pt>
                <c:pt idx="104">
                  <c:v>0.99129374675459603</c:v>
                </c:pt>
                <c:pt idx="105">
                  <c:v>0.98322162910876743</c:v>
                </c:pt>
                <c:pt idx="106">
                  <c:v>0.97526725043547091</c:v>
                </c:pt>
                <c:pt idx="107">
                  <c:v>0.96742843277553203</c:v>
                </c:pt>
                <c:pt idx="108">
                  <c:v>0.959703034921493</c:v>
                </c:pt>
                <c:pt idx="109">
                  <c:v>0.95208895270678706</c:v>
                </c:pt>
                <c:pt idx="110">
                  <c:v>0.94458411918049479</c:v>
                </c:pt>
                <c:pt idx="111">
                  <c:v>0.93718650468019549</c:v>
                </c:pt>
                <c:pt idx="112">
                  <c:v>0.92989411681423362</c:v>
                </c:pt>
                <c:pt idx="113">
                  <c:v>0.92270500036364456</c:v>
                </c:pt>
                <c:pt idx="114">
                  <c:v>0.9156172371130139</c:v>
                </c:pt>
                <c:pt idx="115">
                  <c:v>0.90862894561864649</c:v>
                </c:pt>
                <c:pt idx="116">
                  <c:v>0.90173828092162644</c:v>
                </c:pt>
                <c:pt idx="117">
                  <c:v>0.89494343421262057</c:v>
                </c:pt>
                <c:pt idx="118">
                  <c:v>0.88824263245460156</c:v>
                </c:pt>
                <c:pt idx="119">
                  <c:v>0.88163413796908618</c:v>
                </c:pt>
                <c:pt idx="120">
                  <c:v>0.8751162479909218</c:v>
                </c:pt>
                <c:pt idx="121">
                  <c:v>0.86868729419616919</c:v>
                </c:pt>
                <c:pt idx="122">
                  <c:v>0.86234564220717647</c:v>
                </c:pt>
                <c:pt idx="123">
                  <c:v>0.85608969107852617</c:v>
                </c:pt>
                <c:pt idx="124">
                  <c:v>0.84991787276718389</c:v>
                </c:pt>
                <c:pt idx="125">
                  <c:v>0.84382865158981846</c:v>
                </c:pt>
                <c:pt idx="126">
                  <c:v>0.8378205236699775</c:v>
                </c:pt>
                <c:pt idx="127">
                  <c:v>0.83189201637751198</c:v>
                </c:pt>
                <c:pt idx="128">
                  <c:v>0.82604168776240683</c:v>
                </c:pt>
                <c:pt idx="129">
                  <c:v>0.82026812598492815</c:v>
                </c:pt>
                <c:pt idx="130">
                  <c:v>0.81456994874381516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553-4F5F-9C48-ABEEDA6094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255942656"/>
        <c:scaling>
          <c:orientation val="minMax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59445843828715"/>
          <c:y val="0.15195971728104551"/>
          <c:w val="0.83973288032335536"/>
          <c:h val="0.60534683088652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PTV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Sheet1!$B$2:$B$105</c:f>
              <c:numCache>
                <c:formatCode>General</c:formatCode>
                <c:ptCount val="104"/>
                <c:pt idx="13">
                  <c:v>367</c:v>
                </c:pt>
                <c:pt idx="14">
                  <c:v>463</c:v>
                </c:pt>
                <c:pt idx="15">
                  <c:v>715</c:v>
                </c:pt>
                <c:pt idx="16">
                  <c:v>591</c:v>
                </c:pt>
                <c:pt idx="17">
                  <c:v>324</c:v>
                </c:pt>
                <c:pt idx="18">
                  <c:v>765</c:v>
                </c:pt>
                <c:pt idx="20">
                  <c:v>11</c:v>
                </c:pt>
                <c:pt idx="21">
                  <c:v>2</c:v>
                </c:pt>
                <c:pt idx="47">
                  <c:v>77</c:v>
                </c:pt>
                <c:pt idx="48">
                  <c:v>146</c:v>
                </c:pt>
                <c:pt idx="49">
                  <c:v>180</c:v>
                </c:pt>
                <c:pt idx="50">
                  <c:v>210</c:v>
                </c:pt>
                <c:pt idx="51">
                  <c:v>235</c:v>
                </c:pt>
                <c:pt idx="52">
                  <c:v>219</c:v>
                </c:pt>
                <c:pt idx="53">
                  <c:v>262</c:v>
                </c:pt>
                <c:pt idx="54">
                  <c:v>224</c:v>
                </c:pt>
                <c:pt idx="55">
                  <c:v>125</c:v>
                </c:pt>
                <c:pt idx="78">
                  <c:v>7.5</c:v>
                </c:pt>
                <c:pt idx="79">
                  <c:v>7.5</c:v>
                </c:pt>
                <c:pt idx="80">
                  <c:v>7.5</c:v>
                </c:pt>
                <c:pt idx="81">
                  <c:v>63.5</c:v>
                </c:pt>
                <c:pt idx="82">
                  <c:v>92.799999999999969</c:v>
                </c:pt>
                <c:pt idx="83">
                  <c:v>102.79999999999997</c:v>
                </c:pt>
                <c:pt idx="84">
                  <c:v>84.799999999999983</c:v>
                </c:pt>
                <c:pt idx="85">
                  <c:v>92.799999999999969</c:v>
                </c:pt>
                <c:pt idx="86">
                  <c:v>92.799999999999969</c:v>
                </c:pt>
                <c:pt idx="87">
                  <c:v>78.25</c:v>
                </c:pt>
                <c:pt idx="88">
                  <c:v>28.25</c:v>
                </c:pt>
                <c:pt idx="89">
                  <c:v>38.25</c:v>
                </c:pt>
                <c:pt idx="90">
                  <c:v>37.25</c:v>
                </c:pt>
                <c:pt idx="91">
                  <c:v>257.5</c:v>
                </c:pt>
                <c:pt idx="92">
                  <c:v>440.5</c:v>
                </c:pt>
                <c:pt idx="93">
                  <c:v>386.5</c:v>
                </c:pt>
                <c:pt idx="94">
                  <c:v>101.5</c:v>
                </c:pt>
                <c:pt idx="95">
                  <c:v>85.2</c:v>
                </c:pt>
                <c:pt idx="96">
                  <c:v>253.2</c:v>
                </c:pt>
                <c:pt idx="97">
                  <c:v>269.2</c:v>
                </c:pt>
                <c:pt idx="98">
                  <c:v>201.2</c:v>
                </c:pt>
                <c:pt idx="99">
                  <c:v>51.2</c:v>
                </c:pt>
                <c:pt idx="100">
                  <c:v>33</c:v>
                </c:pt>
                <c:pt idx="101">
                  <c:v>29</c:v>
                </c:pt>
                <c:pt idx="102">
                  <c:v>25</c:v>
                </c:pt>
                <c:pt idx="10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22-4AFF-94A2-16ED413807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98686328"/>
        <c:axId val="498686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Min</c:v>
                </c:pt>
              </c:strCache>
            </c:strRef>
          </c:tx>
          <c:spPr>
            <a:ln w="12700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Sheet1!$C$2:$C$105</c:f>
              <c:numCache>
                <c:formatCode>#,##0</c:formatCode>
                <c:ptCount val="104"/>
                <c:pt idx="0">
                  <c:v>61</c:v>
                </c:pt>
                <c:pt idx="1">
                  <c:v>61</c:v>
                </c:pt>
                <c:pt idx="2">
                  <c:v>61</c:v>
                </c:pt>
                <c:pt idx="3">
                  <c:v>61</c:v>
                </c:pt>
                <c:pt idx="4">
                  <c:v>61</c:v>
                </c:pt>
                <c:pt idx="5">
                  <c:v>61</c:v>
                </c:pt>
                <c:pt idx="6">
                  <c:v>61</c:v>
                </c:pt>
                <c:pt idx="7">
                  <c:v>61</c:v>
                </c:pt>
                <c:pt idx="8">
                  <c:v>61</c:v>
                </c:pt>
                <c:pt idx="9">
                  <c:v>61</c:v>
                </c:pt>
                <c:pt idx="10">
                  <c:v>61</c:v>
                </c:pt>
                <c:pt idx="11">
                  <c:v>61</c:v>
                </c:pt>
                <c:pt idx="12">
                  <c:v>61</c:v>
                </c:pt>
                <c:pt idx="13">
                  <c:v>61</c:v>
                </c:pt>
                <c:pt idx="14">
                  <c:v>61</c:v>
                </c:pt>
                <c:pt idx="15">
                  <c:v>61</c:v>
                </c:pt>
                <c:pt idx="16">
                  <c:v>61</c:v>
                </c:pt>
                <c:pt idx="17">
                  <c:v>61</c:v>
                </c:pt>
                <c:pt idx="18">
                  <c:v>61</c:v>
                </c:pt>
                <c:pt idx="19">
                  <c:v>61</c:v>
                </c:pt>
                <c:pt idx="20">
                  <c:v>61</c:v>
                </c:pt>
                <c:pt idx="21">
                  <c:v>61</c:v>
                </c:pt>
                <c:pt idx="22">
                  <c:v>61</c:v>
                </c:pt>
                <c:pt idx="23">
                  <c:v>61</c:v>
                </c:pt>
                <c:pt idx="24">
                  <c:v>61</c:v>
                </c:pt>
                <c:pt idx="25">
                  <c:v>61</c:v>
                </c:pt>
                <c:pt idx="26">
                  <c:v>61</c:v>
                </c:pt>
                <c:pt idx="27">
                  <c:v>61</c:v>
                </c:pt>
                <c:pt idx="28">
                  <c:v>61</c:v>
                </c:pt>
                <c:pt idx="29">
                  <c:v>61</c:v>
                </c:pt>
                <c:pt idx="30">
                  <c:v>61</c:v>
                </c:pt>
                <c:pt idx="31">
                  <c:v>61</c:v>
                </c:pt>
                <c:pt idx="32">
                  <c:v>61</c:v>
                </c:pt>
                <c:pt idx="33">
                  <c:v>61</c:v>
                </c:pt>
                <c:pt idx="34">
                  <c:v>61</c:v>
                </c:pt>
                <c:pt idx="35">
                  <c:v>61</c:v>
                </c:pt>
                <c:pt idx="36">
                  <c:v>61</c:v>
                </c:pt>
                <c:pt idx="37">
                  <c:v>61</c:v>
                </c:pt>
                <c:pt idx="38">
                  <c:v>61</c:v>
                </c:pt>
                <c:pt idx="39">
                  <c:v>61</c:v>
                </c:pt>
                <c:pt idx="40">
                  <c:v>61</c:v>
                </c:pt>
                <c:pt idx="41">
                  <c:v>61</c:v>
                </c:pt>
                <c:pt idx="42">
                  <c:v>61</c:v>
                </c:pt>
                <c:pt idx="43">
                  <c:v>61</c:v>
                </c:pt>
                <c:pt idx="44">
                  <c:v>61</c:v>
                </c:pt>
                <c:pt idx="45">
                  <c:v>61</c:v>
                </c:pt>
                <c:pt idx="46">
                  <c:v>61</c:v>
                </c:pt>
                <c:pt idx="47">
                  <c:v>61</c:v>
                </c:pt>
                <c:pt idx="48">
                  <c:v>61</c:v>
                </c:pt>
                <c:pt idx="49">
                  <c:v>61</c:v>
                </c:pt>
                <c:pt idx="50">
                  <c:v>61</c:v>
                </c:pt>
                <c:pt idx="51">
                  <c:v>61</c:v>
                </c:pt>
                <c:pt idx="52">
                  <c:v>61</c:v>
                </c:pt>
                <c:pt idx="53">
                  <c:v>61</c:v>
                </c:pt>
                <c:pt idx="54">
                  <c:v>61</c:v>
                </c:pt>
                <c:pt idx="55">
                  <c:v>61</c:v>
                </c:pt>
                <c:pt idx="56">
                  <c:v>61</c:v>
                </c:pt>
                <c:pt idx="57">
                  <c:v>61</c:v>
                </c:pt>
                <c:pt idx="58">
                  <c:v>61</c:v>
                </c:pt>
                <c:pt idx="59">
                  <c:v>61</c:v>
                </c:pt>
                <c:pt idx="60">
                  <c:v>61</c:v>
                </c:pt>
                <c:pt idx="61">
                  <c:v>61</c:v>
                </c:pt>
                <c:pt idx="62">
                  <c:v>61</c:v>
                </c:pt>
                <c:pt idx="63">
                  <c:v>61</c:v>
                </c:pt>
                <c:pt idx="64">
                  <c:v>61</c:v>
                </c:pt>
                <c:pt idx="65">
                  <c:v>61</c:v>
                </c:pt>
                <c:pt idx="66">
                  <c:v>61</c:v>
                </c:pt>
                <c:pt idx="67">
                  <c:v>61</c:v>
                </c:pt>
                <c:pt idx="68">
                  <c:v>61</c:v>
                </c:pt>
                <c:pt idx="69">
                  <c:v>61</c:v>
                </c:pt>
                <c:pt idx="70">
                  <c:v>61</c:v>
                </c:pt>
                <c:pt idx="71">
                  <c:v>61</c:v>
                </c:pt>
                <c:pt idx="72">
                  <c:v>61</c:v>
                </c:pt>
                <c:pt idx="73">
                  <c:v>61</c:v>
                </c:pt>
                <c:pt idx="74">
                  <c:v>61</c:v>
                </c:pt>
                <c:pt idx="75">
                  <c:v>61</c:v>
                </c:pt>
                <c:pt idx="76">
                  <c:v>61</c:v>
                </c:pt>
                <c:pt idx="77">
                  <c:v>61</c:v>
                </c:pt>
                <c:pt idx="78">
                  <c:v>61</c:v>
                </c:pt>
                <c:pt idx="79">
                  <c:v>61</c:v>
                </c:pt>
                <c:pt idx="80">
                  <c:v>61</c:v>
                </c:pt>
                <c:pt idx="81">
                  <c:v>61</c:v>
                </c:pt>
                <c:pt idx="82">
                  <c:v>61</c:v>
                </c:pt>
                <c:pt idx="83">
                  <c:v>61</c:v>
                </c:pt>
                <c:pt idx="84">
                  <c:v>61</c:v>
                </c:pt>
                <c:pt idx="85">
                  <c:v>61</c:v>
                </c:pt>
                <c:pt idx="86">
                  <c:v>61</c:v>
                </c:pt>
                <c:pt idx="87">
                  <c:v>61</c:v>
                </c:pt>
                <c:pt idx="88">
                  <c:v>61</c:v>
                </c:pt>
                <c:pt idx="89">
                  <c:v>61</c:v>
                </c:pt>
                <c:pt idx="90">
                  <c:v>61</c:v>
                </c:pt>
                <c:pt idx="91">
                  <c:v>61</c:v>
                </c:pt>
                <c:pt idx="92">
                  <c:v>61</c:v>
                </c:pt>
                <c:pt idx="93">
                  <c:v>61</c:v>
                </c:pt>
                <c:pt idx="94">
                  <c:v>61</c:v>
                </c:pt>
                <c:pt idx="95">
                  <c:v>61</c:v>
                </c:pt>
                <c:pt idx="96">
                  <c:v>61</c:v>
                </c:pt>
                <c:pt idx="97">
                  <c:v>61</c:v>
                </c:pt>
                <c:pt idx="98">
                  <c:v>61</c:v>
                </c:pt>
                <c:pt idx="99">
                  <c:v>61</c:v>
                </c:pt>
                <c:pt idx="100">
                  <c:v>61</c:v>
                </c:pt>
                <c:pt idx="101">
                  <c:v>61</c:v>
                </c:pt>
                <c:pt idx="102">
                  <c:v>61</c:v>
                </c:pt>
                <c:pt idx="103">
                  <c:v>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22-4AFF-94A2-16ED413807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 Marginal</c:v>
                </c:pt>
              </c:strCache>
            </c:strRef>
          </c:tx>
          <c:spPr>
            <a:ln w="12700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Sheet1!$D$2:$D$105</c:f>
              <c:numCache>
                <c:formatCode>#,##0</c:formatCode>
                <c:ptCount val="104"/>
                <c:pt idx="0">
                  <c:v>115</c:v>
                </c:pt>
                <c:pt idx="1">
                  <c:v>115</c:v>
                </c:pt>
                <c:pt idx="2">
                  <c:v>115</c:v>
                </c:pt>
                <c:pt idx="3">
                  <c:v>115</c:v>
                </c:pt>
                <c:pt idx="4">
                  <c:v>115</c:v>
                </c:pt>
                <c:pt idx="5">
                  <c:v>115</c:v>
                </c:pt>
                <c:pt idx="6">
                  <c:v>115</c:v>
                </c:pt>
                <c:pt idx="7">
                  <c:v>115</c:v>
                </c:pt>
                <c:pt idx="8">
                  <c:v>115</c:v>
                </c:pt>
                <c:pt idx="9">
                  <c:v>115</c:v>
                </c:pt>
                <c:pt idx="10">
                  <c:v>115</c:v>
                </c:pt>
                <c:pt idx="11">
                  <c:v>115</c:v>
                </c:pt>
                <c:pt idx="12">
                  <c:v>115</c:v>
                </c:pt>
                <c:pt idx="13">
                  <c:v>115</c:v>
                </c:pt>
                <c:pt idx="14">
                  <c:v>115</c:v>
                </c:pt>
                <c:pt idx="15">
                  <c:v>115</c:v>
                </c:pt>
                <c:pt idx="16">
                  <c:v>115</c:v>
                </c:pt>
                <c:pt idx="17">
                  <c:v>115</c:v>
                </c:pt>
                <c:pt idx="18">
                  <c:v>115</c:v>
                </c:pt>
                <c:pt idx="19">
                  <c:v>115</c:v>
                </c:pt>
                <c:pt idx="20">
                  <c:v>115</c:v>
                </c:pt>
                <c:pt idx="21">
                  <c:v>115</c:v>
                </c:pt>
                <c:pt idx="22">
                  <c:v>115</c:v>
                </c:pt>
                <c:pt idx="23">
                  <c:v>115</c:v>
                </c:pt>
                <c:pt idx="24">
                  <c:v>115</c:v>
                </c:pt>
                <c:pt idx="25">
                  <c:v>115</c:v>
                </c:pt>
                <c:pt idx="26">
                  <c:v>115</c:v>
                </c:pt>
                <c:pt idx="27">
                  <c:v>115</c:v>
                </c:pt>
                <c:pt idx="28">
                  <c:v>115</c:v>
                </c:pt>
                <c:pt idx="29">
                  <c:v>115</c:v>
                </c:pt>
                <c:pt idx="30">
                  <c:v>115</c:v>
                </c:pt>
                <c:pt idx="31">
                  <c:v>115</c:v>
                </c:pt>
                <c:pt idx="32">
                  <c:v>115</c:v>
                </c:pt>
                <c:pt idx="33">
                  <c:v>115</c:v>
                </c:pt>
                <c:pt idx="34">
                  <c:v>115</c:v>
                </c:pt>
                <c:pt idx="35">
                  <c:v>115</c:v>
                </c:pt>
                <c:pt idx="36">
                  <c:v>115</c:v>
                </c:pt>
                <c:pt idx="37">
                  <c:v>115</c:v>
                </c:pt>
                <c:pt idx="38">
                  <c:v>115</c:v>
                </c:pt>
                <c:pt idx="39">
                  <c:v>115</c:v>
                </c:pt>
                <c:pt idx="40">
                  <c:v>115</c:v>
                </c:pt>
                <c:pt idx="41">
                  <c:v>115</c:v>
                </c:pt>
                <c:pt idx="42">
                  <c:v>115</c:v>
                </c:pt>
                <c:pt idx="43">
                  <c:v>115</c:v>
                </c:pt>
                <c:pt idx="44">
                  <c:v>115</c:v>
                </c:pt>
                <c:pt idx="45">
                  <c:v>115</c:v>
                </c:pt>
                <c:pt idx="46">
                  <c:v>115</c:v>
                </c:pt>
                <c:pt idx="47">
                  <c:v>115</c:v>
                </c:pt>
                <c:pt idx="48">
                  <c:v>115</c:v>
                </c:pt>
                <c:pt idx="49">
                  <c:v>115</c:v>
                </c:pt>
                <c:pt idx="50">
                  <c:v>115</c:v>
                </c:pt>
                <c:pt idx="51">
                  <c:v>115</c:v>
                </c:pt>
                <c:pt idx="52">
                  <c:v>115</c:v>
                </c:pt>
                <c:pt idx="53">
                  <c:v>115</c:v>
                </c:pt>
                <c:pt idx="54">
                  <c:v>115</c:v>
                </c:pt>
                <c:pt idx="55">
                  <c:v>115</c:v>
                </c:pt>
                <c:pt idx="56">
                  <c:v>115</c:v>
                </c:pt>
                <c:pt idx="57">
                  <c:v>115</c:v>
                </c:pt>
                <c:pt idx="58">
                  <c:v>115</c:v>
                </c:pt>
                <c:pt idx="59">
                  <c:v>115</c:v>
                </c:pt>
                <c:pt idx="60">
                  <c:v>115</c:v>
                </c:pt>
                <c:pt idx="61">
                  <c:v>115</c:v>
                </c:pt>
                <c:pt idx="62">
                  <c:v>115</c:v>
                </c:pt>
                <c:pt idx="63">
                  <c:v>115</c:v>
                </c:pt>
                <c:pt idx="64">
                  <c:v>115</c:v>
                </c:pt>
                <c:pt idx="65">
                  <c:v>115</c:v>
                </c:pt>
                <c:pt idx="66">
                  <c:v>115</c:v>
                </c:pt>
                <c:pt idx="67">
                  <c:v>115</c:v>
                </c:pt>
                <c:pt idx="68">
                  <c:v>115</c:v>
                </c:pt>
                <c:pt idx="69">
                  <c:v>115</c:v>
                </c:pt>
                <c:pt idx="70">
                  <c:v>115</c:v>
                </c:pt>
                <c:pt idx="71">
                  <c:v>115</c:v>
                </c:pt>
                <c:pt idx="72">
                  <c:v>115</c:v>
                </c:pt>
                <c:pt idx="73">
                  <c:v>115</c:v>
                </c:pt>
                <c:pt idx="74">
                  <c:v>115</c:v>
                </c:pt>
                <c:pt idx="75">
                  <c:v>115</c:v>
                </c:pt>
                <c:pt idx="76">
                  <c:v>115</c:v>
                </c:pt>
                <c:pt idx="77">
                  <c:v>115</c:v>
                </c:pt>
                <c:pt idx="78">
                  <c:v>115</c:v>
                </c:pt>
                <c:pt idx="79">
                  <c:v>115</c:v>
                </c:pt>
                <c:pt idx="80">
                  <c:v>115</c:v>
                </c:pt>
                <c:pt idx="81">
                  <c:v>115</c:v>
                </c:pt>
                <c:pt idx="82">
                  <c:v>115</c:v>
                </c:pt>
                <c:pt idx="83">
                  <c:v>115</c:v>
                </c:pt>
                <c:pt idx="84">
                  <c:v>115</c:v>
                </c:pt>
                <c:pt idx="85">
                  <c:v>115</c:v>
                </c:pt>
                <c:pt idx="86">
                  <c:v>115</c:v>
                </c:pt>
                <c:pt idx="87">
                  <c:v>115</c:v>
                </c:pt>
                <c:pt idx="88">
                  <c:v>115</c:v>
                </c:pt>
                <c:pt idx="89">
                  <c:v>115</c:v>
                </c:pt>
                <c:pt idx="90">
                  <c:v>115</c:v>
                </c:pt>
                <c:pt idx="91">
                  <c:v>115</c:v>
                </c:pt>
                <c:pt idx="92">
                  <c:v>115</c:v>
                </c:pt>
                <c:pt idx="93">
                  <c:v>115</c:v>
                </c:pt>
                <c:pt idx="94">
                  <c:v>115</c:v>
                </c:pt>
                <c:pt idx="95">
                  <c:v>115</c:v>
                </c:pt>
                <c:pt idx="96">
                  <c:v>115</c:v>
                </c:pt>
                <c:pt idx="97">
                  <c:v>115</c:v>
                </c:pt>
                <c:pt idx="98">
                  <c:v>115</c:v>
                </c:pt>
                <c:pt idx="99">
                  <c:v>115</c:v>
                </c:pt>
                <c:pt idx="100">
                  <c:v>115</c:v>
                </c:pt>
                <c:pt idx="101">
                  <c:v>115</c:v>
                </c:pt>
                <c:pt idx="102">
                  <c:v>115</c:v>
                </c:pt>
                <c:pt idx="103">
                  <c:v>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F22-4AFF-94A2-16ED413807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Max ROI</c:v>
                </c:pt>
              </c:strCache>
            </c:strRef>
          </c:tx>
          <c:spPr>
            <a:ln w="127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Sheet1!$E$2:$E$105</c:f>
              <c:numCache>
                <c:formatCode>#,##0</c:formatCode>
                <c:ptCount val="104"/>
                <c:pt idx="0">
                  <c:v>179</c:v>
                </c:pt>
                <c:pt idx="1">
                  <c:v>179</c:v>
                </c:pt>
                <c:pt idx="2">
                  <c:v>179</c:v>
                </c:pt>
                <c:pt idx="3">
                  <c:v>179</c:v>
                </c:pt>
                <c:pt idx="4">
                  <c:v>179</c:v>
                </c:pt>
                <c:pt idx="5">
                  <c:v>179</c:v>
                </c:pt>
                <c:pt idx="6">
                  <c:v>179</c:v>
                </c:pt>
                <c:pt idx="7">
                  <c:v>179</c:v>
                </c:pt>
                <c:pt idx="8">
                  <c:v>179</c:v>
                </c:pt>
                <c:pt idx="9">
                  <c:v>179</c:v>
                </c:pt>
                <c:pt idx="10">
                  <c:v>179</c:v>
                </c:pt>
                <c:pt idx="11">
                  <c:v>179</c:v>
                </c:pt>
                <c:pt idx="12">
                  <c:v>179</c:v>
                </c:pt>
                <c:pt idx="13">
                  <c:v>179</c:v>
                </c:pt>
                <c:pt idx="14">
                  <c:v>179</c:v>
                </c:pt>
                <c:pt idx="15">
                  <c:v>179</c:v>
                </c:pt>
                <c:pt idx="16">
                  <c:v>179</c:v>
                </c:pt>
                <c:pt idx="17">
                  <c:v>179</c:v>
                </c:pt>
                <c:pt idx="18">
                  <c:v>179</c:v>
                </c:pt>
                <c:pt idx="19">
                  <c:v>179</c:v>
                </c:pt>
                <c:pt idx="20">
                  <c:v>179</c:v>
                </c:pt>
                <c:pt idx="21">
                  <c:v>179</c:v>
                </c:pt>
                <c:pt idx="22">
                  <c:v>179</c:v>
                </c:pt>
                <c:pt idx="23">
                  <c:v>179</c:v>
                </c:pt>
                <c:pt idx="24">
                  <c:v>179</c:v>
                </c:pt>
                <c:pt idx="25">
                  <c:v>179</c:v>
                </c:pt>
                <c:pt idx="26">
                  <c:v>179</c:v>
                </c:pt>
                <c:pt idx="27">
                  <c:v>179</c:v>
                </c:pt>
                <c:pt idx="28">
                  <c:v>179</c:v>
                </c:pt>
                <c:pt idx="29">
                  <c:v>179</c:v>
                </c:pt>
                <c:pt idx="30">
                  <c:v>179</c:v>
                </c:pt>
                <c:pt idx="31">
                  <c:v>179</c:v>
                </c:pt>
                <c:pt idx="32">
                  <c:v>179</c:v>
                </c:pt>
                <c:pt idx="33">
                  <c:v>179</c:v>
                </c:pt>
                <c:pt idx="34">
                  <c:v>179</c:v>
                </c:pt>
                <c:pt idx="35">
                  <c:v>179</c:v>
                </c:pt>
                <c:pt idx="36">
                  <c:v>179</c:v>
                </c:pt>
                <c:pt idx="37">
                  <c:v>179</c:v>
                </c:pt>
                <c:pt idx="38">
                  <c:v>179</c:v>
                </c:pt>
                <c:pt idx="39">
                  <c:v>179</c:v>
                </c:pt>
                <c:pt idx="40">
                  <c:v>179</c:v>
                </c:pt>
                <c:pt idx="41">
                  <c:v>179</c:v>
                </c:pt>
                <c:pt idx="42">
                  <c:v>179</c:v>
                </c:pt>
                <c:pt idx="43">
                  <c:v>179</c:v>
                </c:pt>
                <c:pt idx="44">
                  <c:v>179</c:v>
                </c:pt>
                <c:pt idx="45">
                  <c:v>179</c:v>
                </c:pt>
                <c:pt idx="46">
                  <c:v>179</c:v>
                </c:pt>
                <c:pt idx="47">
                  <c:v>179</c:v>
                </c:pt>
                <c:pt idx="48">
                  <c:v>179</c:v>
                </c:pt>
                <c:pt idx="49">
                  <c:v>179</c:v>
                </c:pt>
                <c:pt idx="50">
                  <c:v>179</c:v>
                </c:pt>
                <c:pt idx="51">
                  <c:v>179</c:v>
                </c:pt>
                <c:pt idx="52">
                  <c:v>179</c:v>
                </c:pt>
                <c:pt idx="53">
                  <c:v>179</c:v>
                </c:pt>
                <c:pt idx="54">
                  <c:v>179</c:v>
                </c:pt>
                <c:pt idx="55">
                  <c:v>179</c:v>
                </c:pt>
                <c:pt idx="56">
                  <c:v>179</c:v>
                </c:pt>
                <c:pt idx="57">
                  <c:v>179</c:v>
                </c:pt>
                <c:pt idx="58">
                  <c:v>179</c:v>
                </c:pt>
                <c:pt idx="59">
                  <c:v>179</c:v>
                </c:pt>
                <c:pt idx="60">
                  <c:v>179</c:v>
                </c:pt>
                <c:pt idx="61">
                  <c:v>179</c:v>
                </c:pt>
                <c:pt idx="62">
                  <c:v>179</c:v>
                </c:pt>
                <c:pt idx="63">
                  <c:v>179</c:v>
                </c:pt>
                <c:pt idx="64">
                  <c:v>179</c:v>
                </c:pt>
                <c:pt idx="65">
                  <c:v>179</c:v>
                </c:pt>
                <c:pt idx="66">
                  <c:v>179</c:v>
                </c:pt>
                <c:pt idx="67">
                  <c:v>179</c:v>
                </c:pt>
                <c:pt idx="68">
                  <c:v>179</c:v>
                </c:pt>
                <c:pt idx="69">
                  <c:v>179</c:v>
                </c:pt>
                <c:pt idx="70">
                  <c:v>179</c:v>
                </c:pt>
                <c:pt idx="71">
                  <c:v>179</c:v>
                </c:pt>
                <c:pt idx="72">
                  <c:v>179</c:v>
                </c:pt>
                <c:pt idx="73">
                  <c:v>179</c:v>
                </c:pt>
                <c:pt idx="74">
                  <c:v>179</c:v>
                </c:pt>
                <c:pt idx="75">
                  <c:v>179</c:v>
                </c:pt>
                <c:pt idx="76">
                  <c:v>179</c:v>
                </c:pt>
                <c:pt idx="77">
                  <c:v>179</c:v>
                </c:pt>
                <c:pt idx="78">
                  <c:v>179</c:v>
                </c:pt>
                <c:pt idx="79">
                  <c:v>179</c:v>
                </c:pt>
                <c:pt idx="80">
                  <c:v>179</c:v>
                </c:pt>
                <c:pt idx="81">
                  <c:v>179</c:v>
                </c:pt>
                <c:pt idx="82">
                  <c:v>179</c:v>
                </c:pt>
                <c:pt idx="83">
                  <c:v>179</c:v>
                </c:pt>
                <c:pt idx="84">
                  <c:v>179</c:v>
                </c:pt>
                <c:pt idx="85">
                  <c:v>179</c:v>
                </c:pt>
                <c:pt idx="86">
                  <c:v>179</c:v>
                </c:pt>
                <c:pt idx="87">
                  <c:v>179</c:v>
                </c:pt>
                <c:pt idx="88">
                  <c:v>179</c:v>
                </c:pt>
                <c:pt idx="89">
                  <c:v>179</c:v>
                </c:pt>
                <c:pt idx="90">
                  <c:v>179</c:v>
                </c:pt>
                <c:pt idx="91">
                  <c:v>179</c:v>
                </c:pt>
                <c:pt idx="92">
                  <c:v>179</c:v>
                </c:pt>
                <c:pt idx="93">
                  <c:v>179</c:v>
                </c:pt>
                <c:pt idx="94">
                  <c:v>179</c:v>
                </c:pt>
                <c:pt idx="95">
                  <c:v>179</c:v>
                </c:pt>
                <c:pt idx="96">
                  <c:v>179</c:v>
                </c:pt>
                <c:pt idx="97">
                  <c:v>179</c:v>
                </c:pt>
                <c:pt idx="98">
                  <c:v>179</c:v>
                </c:pt>
                <c:pt idx="99">
                  <c:v>179</c:v>
                </c:pt>
                <c:pt idx="100">
                  <c:v>179</c:v>
                </c:pt>
                <c:pt idx="101">
                  <c:v>179</c:v>
                </c:pt>
                <c:pt idx="102">
                  <c:v>179</c:v>
                </c:pt>
                <c:pt idx="103">
                  <c:v>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F22-4AFF-94A2-16ED4138079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Diminishing</c:v>
                </c:pt>
              </c:strCache>
            </c:strRef>
          </c:tx>
          <c:spPr>
            <a:ln w="12700" cap="rnd">
              <a:solidFill>
                <a:schemeClr val="accent5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Sheet1!$F$2:$F$105</c:f>
              <c:numCache>
                <c:formatCode>_(* #,##0_);_(* \(#,##0\);_(* "-"??_);_(@_)</c:formatCode>
                <c:ptCount val="104"/>
                <c:pt idx="0">
                  <c:v>267</c:v>
                </c:pt>
                <c:pt idx="1">
                  <c:v>267</c:v>
                </c:pt>
                <c:pt idx="2">
                  <c:v>267</c:v>
                </c:pt>
                <c:pt idx="3">
                  <c:v>267</c:v>
                </c:pt>
                <c:pt idx="4">
                  <c:v>267</c:v>
                </c:pt>
                <c:pt idx="5">
                  <c:v>267</c:v>
                </c:pt>
                <c:pt idx="6">
                  <c:v>267</c:v>
                </c:pt>
                <c:pt idx="7">
                  <c:v>267</c:v>
                </c:pt>
                <c:pt idx="8">
                  <c:v>267</c:v>
                </c:pt>
                <c:pt idx="9">
                  <c:v>267</c:v>
                </c:pt>
                <c:pt idx="10">
                  <c:v>267</c:v>
                </c:pt>
                <c:pt idx="11">
                  <c:v>267</c:v>
                </c:pt>
                <c:pt idx="12">
                  <c:v>267</c:v>
                </c:pt>
                <c:pt idx="13">
                  <c:v>267</c:v>
                </c:pt>
                <c:pt idx="14">
                  <c:v>267</c:v>
                </c:pt>
                <c:pt idx="15">
                  <c:v>267</c:v>
                </c:pt>
                <c:pt idx="16">
                  <c:v>267</c:v>
                </c:pt>
                <c:pt idx="17">
                  <c:v>267</c:v>
                </c:pt>
                <c:pt idx="18">
                  <c:v>267</c:v>
                </c:pt>
                <c:pt idx="19">
                  <c:v>267</c:v>
                </c:pt>
                <c:pt idx="20">
                  <c:v>267</c:v>
                </c:pt>
                <c:pt idx="21">
                  <c:v>267</c:v>
                </c:pt>
                <c:pt idx="22">
                  <c:v>267</c:v>
                </c:pt>
                <c:pt idx="23">
                  <c:v>267</c:v>
                </c:pt>
                <c:pt idx="24">
                  <c:v>267</c:v>
                </c:pt>
                <c:pt idx="25">
                  <c:v>267</c:v>
                </c:pt>
                <c:pt idx="26">
                  <c:v>267</c:v>
                </c:pt>
                <c:pt idx="27">
                  <c:v>267</c:v>
                </c:pt>
                <c:pt idx="28">
                  <c:v>267</c:v>
                </c:pt>
                <c:pt idx="29">
                  <c:v>267</c:v>
                </c:pt>
                <c:pt idx="30">
                  <c:v>267</c:v>
                </c:pt>
                <c:pt idx="31">
                  <c:v>267</c:v>
                </c:pt>
                <c:pt idx="32">
                  <c:v>267</c:v>
                </c:pt>
                <c:pt idx="33">
                  <c:v>267</c:v>
                </c:pt>
                <c:pt idx="34">
                  <c:v>267</c:v>
                </c:pt>
                <c:pt idx="35">
                  <c:v>267</c:v>
                </c:pt>
                <c:pt idx="36">
                  <c:v>267</c:v>
                </c:pt>
                <c:pt idx="37">
                  <c:v>267</c:v>
                </c:pt>
                <c:pt idx="38">
                  <c:v>267</c:v>
                </c:pt>
                <c:pt idx="39">
                  <c:v>267</c:v>
                </c:pt>
                <c:pt idx="40">
                  <c:v>267</c:v>
                </c:pt>
                <c:pt idx="41">
                  <c:v>267</c:v>
                </c:pt>
                <c:pt idx="42">
                  <c:v>267</c:v>
                </c:pt>
                <c:pt idx="43">
                  <c:v>267</c:v>
                </c:pt>
                <c:pt idx="44">
                  <c:v>267</c:v>
                </c:pt>
                <c:pt idx="45">
                  <c:v>267</c:v>
                </c:pt>
                <c:pt idx="46">
                  <c:v>267</c:v>
                </c:pt>
                <c:pt idx="47">
                  <c:v>267</c:v>
                </c:pt>
                <c:pt idx="48">
                  <c:v>267</c:v>
                </c:pt>
                <c:pt idx="49">
                  <c:v>267</c:v>
                </c:pt>
                <c:pt idx="50">
                  <c:v>267</c:v>
                </c:pt>
                <c:pt idx="51">
                  <c:v>267</c:v>
                </c:pt>
                <c:pt idx="52">
                  <c:v>267</c:v>
                </c:pt>
                <c:pt idx="53">
                  <c:v>267</c:v>
                </c:pt>
                <c:pt idx="54">
                  <c:v>267</c:v>
                </c:pt>
                <c:pt idx="55">
                  <c:v>267</c:v>
                </c:pt>
                <c:pt idx="56">
                  <c:v>267</c:v>
                </c:pt>
                <c:pt idx="57">
                  <c:v>267</c:v>
                </c:pt>
                <c:pt idx="58">
                  <c:v>267</c:v>
                </c:pt>
                <c:pt idx="59">
                  <c:v>267</c:v>
                </c:pt>
                <c:pt idx="60">
                  <c:v>267</c:v>
                </c:pt>
                <c:pt idx="61">
                  <c:v>267</c:v>
                </c:pt>
                <c:pt idx="62">
                  <c:v>267</c:v>
                </c:pt>
                <c:pt idx="63">
                  <c:v>267</c:v>
                </c:pt>
                <c:pt idx="64">
                  <c:v>267</c:v>
                </c:pt>
                <c:pt idx="65">
                  <c:v>267</c:v>
                </c:pt>
                <c:pt idx="66">
                  <c:v>267</c:v>
                </c:pt>
                <c:pt idx="67">
                  <c:v>267</c:v>
                </c:pt>
                <c:pt idx="68">
                  <c:v>267</c:v>
                </c:pt>
                <c:pt idx="69">
                  <c:v>267</c:v>
                </c:pt>
                <c:pt idx="70">
                  <c:v>267</c:v>
                </c:pt>
                <c:pt idx="71">
                  <c:v>267</c:v>
                </c:pt>
                <c:pt idx="72">
                  <c:v>267</c:v>
                </c:pt>
                <c:pt idx="73">
                  <c:v>267</c:v>
                </c:pt>
                <c:pt idx="74">
                  <c:v>267</c:v>
                </c:pt>
                <c:pt idx="75">
                  <c:v>267</c:v>
                </c:pt>
                <c:pt idx="76">
                  <c:v>267</c:v>
                </c:pt>
                <c:pt idx="77">
                  <c:v>267</c:v>
                </c:pt>
                <c:pt idx="78">
                  <c:v>267</c:v>
                </c:pt>
                <c:pt idx="79">
                  <c:v>267</c:v>
                </c:pt>
                <c:pt idx="80">
                  <c:v>267</c:v>
                </c:pt>
                <c:pt idx="81">
                  <c:v>267</c:v>
                </c:pt>
                <c:pt idx="82">
                  <c:v>267</c:v>
                </c:pt>
                <c:pt idx="83">
                  <c:v>267</c:v>
                </c:pt>
                <c:pt idx="84">
                  <c:v>267</c:v>
                </c:pt>
                <c:pt idx="85">
                  <c:v>267</c:v>
                </c:pt>
                <c:pt idx="86">
                  <c:v>267</c:v>
                </c:pt>
                <c:pt idx="87">
                  <c:v>267</c:v>
                </c:pt>
                <c:pt idx="88">
                  <c:v>267</c:v>
                </c:pt>
                <c:pt idx="89">
                  <c:v>267</c:v>
                </c:pt>
                <c:pt idx="90">
                  <c:v>267</c:v>
                </c:pt>
                <c:pt idx="91">
                  <c:v>267</c:v>
                </c:pt>
                <c:pt idx="92">
                  <c:v>267</c:v>
                </c:pt>
                <c:pt idx="93">
                  <c:v>267</c:v>
                </c:pt>
                <c:pt idx="94">
                  <c:v>267</c:v>
                </c:pt>
                <c:pt idx="95">
                  <c:v>267</c:v>
                </c:pt>
                <c:pt idx="96">
                  <c:v>267</c:v>
                </c:pt>
                <c:pt idx="97">
                  <c:v>267</c:v>
                </c:pt>
                <c:pt idx="98">
                  <c:v>267</c:v>
                </c:pt>
                <c:pt idx="99">
                  <c:v>267</c:v>
                </c:pt>
                <c:pt idx="100">
                  <c:v>267</c:v>
                </c:pt>
                <c:pt idx="101">
                  <c:v>267</c:v>
                </c:pt>
                <c:pt idx="102">
                  <c:v>267</c:v>
                </c:pt>
                <c:pt idx="103">
                  <c:v>267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F22-4AFF-94A2-16ED413807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8686328"/>
        <c:axId val="498686720"/>
      </c:lineChart>
      <c:catAx>
        <c:axId val="498686328"/>
        <c:scaling>
          <c:orientation val="minMax"/>
        </c:scaling>
        <c:delete val="0"/>
        <c:axPos val="b"/>
        <c:numFmt formatCode="[$-409]d\-mmm\-yy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498686720"/>
        <c:crosses val="autoZero"/>
        <c:auto val="0"/>
        <c:lblAlgn val="ctr"/>
        <c:lblOffset val="100"/>
        <c:noMultiLvlLbl val="0"/>
      </c:catAx>
      <c:valAx>
        <c:axId val="4986867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r>
                  <a:rPr lang="en-US" sz="800" dirty="0">
                    <a:latin typeface="Inter" panose="020B0604020202020204" charset="0"/>
                    <a:ea typeface="Inter" panose="020B0604020202020204" charset="0"/>
                  </a:rPr>
                  <a:t>Insertion</a:t>
                </a:r>
                <a:r>
                  <a:rPr lang="en-US" sz="800" baseline="0" dirty="0">
                    <a:latin typeface="Inter" panose="020B0604020202020204" charset="0"/>
                    <a:ea typeface="Inter" panose="020B0604020202020204" charset="0"/>
                  </a:rPr>
                  <a:t> </a:t>
                </a:r>
                <a:r>
                  <a:rPr lang="en-US" sz="800" dirty="0">
                    <a:latin typeface="Inter" panose="020B0604020202020204" charset="0"/>
                    <a:ea typeface="Inter" panose="020B0604020202020204" charset="0"/>
                  </a:rPr>
                  <a:t>Execution</a:t>
                </a:r>
              </a:p>
            </c:rich>
          </c:tx>
          <c:layout>
            <c:manualLayout>
              <c:xMode val="edge"/>
              <c:yMode val="edge"/>
              <c:x val="2.8850096655146155E-2"/>
              <c:y val="0.315001484145454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B0604020202020204" charset="0"/>
                  <a:ea typeface="Inter" panose="020B0604020202020204" charset="0"/>
                  <a:cs typeface="+mn-cs"/>
                </a:defRPr>
              </a:pPr>
              <a:endParaRPr lang="en-US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498686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RY1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1AF-4D59-B2BD-2D687F5250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Pay TV</c:v>
                </c:pt>
              </c:strCache>
            </c:strRef>
          </c:cat>
          <c:val>
            <c:numRef>
              <c:f>Sheet1!$B$2</c:f>
              <c:numCache>
                <c:formatCode>_(* #,##0_);_(* \(#,##0\);_(* "-"??_);_(@_)</c:formatCode>
                <c:ptCount val="1"/>
                <c:pt idx="0">
                  <c:v>8967.4498286833077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AF-4D59-B2BD-2D687F5250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RY2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1AF-4D59-B2BD-2D687F525026}"/>
              </c:ext>
            </c:extLst>
          </c:dPt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Inter" panose="020B0604020202020204" charset="0"/>
                      <a:ea typeface="Inter" panose="020B0604020202020204" charset="0"/>
                      <a:cs typeface="+mn-cs"/>
                    </a:defRPr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C1AF-4D59-B2BD-2D687F5250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Pay TV</c:v>
                </c:pt>
              </c:strCache>
            </c:strRef>
          </c:cat>
          <c:val>
            <c:numRef>
              <c:f>Sheet1!$C$2</c:f>
              <c:numCache>
                <c:formatCode>_(* #,##0_);_(* \(#,##0\);_(* "-"??_);_(@_)</c:formatCode>
                <c:ptCount val="1"/>
                <c:pt idx="0">
                  <c:v>9389.4142933906514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1AF-4D59-B2BD-2D687F5250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9"/>
        <c:overlap val="-4"/>
        <c:axId val="386267808"/>
        <c:axId val="386269376"/>
      </c:barChart>
      <c:catAx>
        <c:axId val="386267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386269376"/>
        <c:crosses val="autoZero"/>
        <c:auto val="1"/>
        <c:lblAlgn val="ctr"/>
        <c:lblOffset val="100"/>
        <c:noMultiLvlLbl val="0"/>
      </c:catAx>
      <c:valAx>
        <c:axId val="386269376"/>
        <c:scaling>
          <c:orientation val="minMax"/>
          <c:min val="0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38626780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519263924911719E-2"/>
          <c:y val="5.3561231384922199E-2"/>
          <c:w val="0.92896147215017655"/>
          <c:h val="0.550428550243347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RY1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99-4B23-AEC3-E27C54614703}"/>
              </c:ext>
            </c:extLst>
          </c:dPt>
          <c:dLbls>
            <c:numFmt formatCode="_(&quot;$&quot;* #,##0_);_(&quot;$&quot;* \(#,##0\);_(&quot;$&quot;* &quot;-&quot;_);_(@_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tx1"/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Pay TV</c:v>
                </c:pt>
              </c:strCache>
            </c:strRef>
          </c:cat>
          <c:val>
            <c:numRef>
              <c:f>Sheet1!$B$2</c:f>
              <c:numCache>
                <c:formatCode>_("$"* #,##0_);_("$"* \(#,##0\);_("$"* "-"??_);_(@_)</c:formatCode>
                <c:ptCount val="1"/>
                <c:pt idx="0">
                  <c:v>1555.4539892315222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99-4B23-AEC3-E27C546147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RY2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5D99-4B23-AEC3-E27C54614703}"/>
              </c:ext>
            </c:extLst>
          </c:dPt>
          <c:dLbls>
            <c:numFmt formatCode="_(&quot;$&quot;* #,##0_);_(&quot;$&quot;* \(#,##0\);_(&quot;$&quot;* &quot;-&quot;_);_(@_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tx1"/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Pay TV</c:v>
                </c:pt>
              </c:strCache>
            </c:strRef>
          </c:cat>
          <c:val>
            <c:numRef>
              <c:f>Sheet1!$C$2</c:f>
              <c:numCache>
                <c:formatCode>_("$"* #,##0_);_("$"* \(#,##0\);_("$"* "-"??_);_(@_)</c:formatCode>
                <c:ptCount val="1"/>
                <c:pt idx="0">
                  <c:v>2543.3070929607738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D99-4B23-AEC3-E27C546147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9"/>
        <c:overlap val="-4"/>
        <c:axId val="481226672"/>
        <c:axId val="481228632"/>
      </c:barChart>
      <c:catAx>
        <c:axId val="481226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481228632"/>
        <c:crosses val="autoZero"/>
        <c:auto val="1"/>
        <c:lblAlgn val="ctr"/>
        <c:lblOffset val="100"/>
        <c:noMultiLvlLbl val="0"/>
      </c:catAx>
      <c:valAx>
        <c:axId val="481228632"/>
        <c:scaling>
          <c:orientation val="minMax"/>
          <c:min val="0"/>
        </c:scaling>
        <c:delete val="1"/>
        <c:axPos val="l"/>
        <c:numFmt formatCode="_(&quot;$&quot;* #,##0_);_(&quot;$&quot;* \(#,##0\);_(&quot;$&quot;* &quot;-&quot;??_);_(@_)" sourceLinked="1"/>
        <c:majorTickMark val="out"/>
        <c:minorTickMark val="none"/>
        <c:tickLblPos val="nextTo"/>
        <c:crossAx val="48122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7618871941739234E-2"/>
          <c:y val="0.7848536866812188"/>
          <c:w val="0.84165552822891587"/>
          <c:h val="0.147089452794261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nter" panose="020B0604020202020204" charset="0"/>
              <a:ea typeface="Inter" panose="020B0604020202020204" charset="0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061215938564131E-2"/>
          <c:y val="0.14767877763833817"/>
          <c:w val="0.92896147215017655"/>
          <c:h val="0.609314944001030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RY1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5D-4207-A50E-5E24546036A5}"/>
              </c:ext>
            </c:extLst>
          </c:dPt>
          <c:dLbls>
            <c:numFmt formatCode="_(&quot;$&quot;* #,##0.00_);_(&quot;$&quot;* \(#,##0.00\);_(&quot;$&quot;* &quot;-&quot;??_);_(@_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tx1"/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Pay TV</c:v>
                </c:pt>
              </c:strCache>
            </c:strRef>
          </c:cat>
          <c:val>
            <c:numRef>
              <c:f>Sheet1!$B$2</c:f>
              <c:numCache>
                <c:formatCode>_("$"* #,##0.00_);_("$"* \(#,##0.00\);_("$"* "-"??_);_(@_)</c:formatCode>
                <c:ptCount val="1"/>
                <c:pt idx="0">
                  <c:v>1.359003144478439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5D-4207-A50E-5E24546036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RY2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C5D-4207-A50E-5E24546036A5}"/>
              </c:ext>
            </c:extLst>
          </c:dPt>
          <c:dLbls>
            <c:numFmt formatCode="_(&quot;$&quot;* #,##0.00_);_(&quot;$&quot;* \(#,##0.00\);_(&quot;$&quot;* &quot;-&quot;??_);_(@_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tx1"/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Pay TV</c:v>
                </c:pt>
              </c:strCache>
            </c:strRef>
          </c:cat>
          <c:val>
            <c:numRef>
              <c:f>Sheet1!$C$2</c:f>
              <c:numCache>
                <c:formatCode>_("$"* #,##0.00_);_("$"* \(#,##0.00\);_("$"* "-"??_);_(@_)</c:formatCode>
                <c:ptCount val="1"/>
                <c:pt idx="0">
                  <c:v>0.9864534714022718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5D-4207-A50E-5E24546036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9"/>
        <c:overlap val="-4"/>
        <c:axId val="392997312"/>
        <c:axId val="392997704"/>
      </c:barChart>
      <c:catAx>
        <c:axId val="392997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392997704"/>
        <c:crosses val="autoZero"/>
        <c:auto val="1"/>
        <c:lblAlgn val="ctr"/>
        <c:lblOffset val="100"/>
        <c:noMultiLvlLbl val="0"/>
      </c:catAx>
      <c:valAx>
        <c:axId val="392997704"/>
        <c:scaling>
          <c:orientation val="minMax"/>
          <c:min val="0"/>
        </c:scaling>
        <c:delete val="1"/>
        <c:axPos val="l"/>
        <c:numFmt formatCode="_(&quot;$&quot;* #,##0.00_);_(&quot;$&quot;* \(#,##0.00\);_(&quot;$&quot;* &quot;-&quot;??_);_(@_)" sourceLinked="1"/>
        <c:majorTickMark val="out"/>
        <c:minorTickMark val="none"/>
        <c:tickLblPos val="nextTo"/>
        <c:crossAx val="392997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59445843828715"/>
          <c:y val="0.15195971728104551"/>
          <c:w val="0.83973288032335536"/>
          <c:h val="0.60534683088652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PTV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Sheet1!$B$2:$B$105</c:f>
              <c:numCache>
                <c:formatCode>General</c:formatCode>
                <c:ptCount val="104"/>
                <c:pt idx="13">
                  <c:v>367</c:v>
                </c:pt>
                <c:pt idx="14">
                  <c:v>463</c:v>
                </c:pt>
                <c:pt idx="15">
                  <c:v>715</c:v>
                </c:pt>
                <c:pt idx="16">
                  <c:v>591</c:v>
                </c:pt>
                <c:pt idx="17">
                  <c:v>324</c:v>
                </c:pt>
                <c:pt idx="18">
                  <c:v>765</c:v>
                </c:pt>
                <c:pt idx="20">
                  <c:v>11</c:v>
                </c:pt>
                <c:pt idx="21">
                  <c:v>2</c:v>
                </c:pt>
                <c:pt idx="47">
                  <c:v>77</c:v>
                </c:pt>
                <c:pt idx="48">
                  <c:v>146</c:v>
                </c:pt>
                <c:pt idx="49">
                  <c:v>180</c:v>
                </c:pt>
                <c:pt idx="50">
                  <c:v>210</c:v>
                </c:pt>
                <c:pt idx="51">
                  <c:v>235</c:v>
                </c:pt>
                <c:pt idx="52">
                  <c:v>219</c:v>
                </c:pt>
                <c:pt idx="53">
                  <c:v>262</c:v>
                </c:pt>
                <c:pt idx="54">
                  <c:v>224</c:v>
                </c:pt>
                <c:pt idx="55">
                  <c:v>125</c:v>
                </c:pt>
                <c:pt idx="78">
                  <c:v>7.5</c:v>
                </c:pt>
                <c:pt idx="79">
                  <c:v>7.5</c:v>
                </c:pt>
                <c:pt idx="80">
                  <c:v>7.5</c:v>
                </c:pt>
                <c:pt idx="81">
                  <c:v>63.5</c:v>
                </c:pt>
                <c:pt idx="82">
                  <c:v>92.799999999999969</c:v>
                </c:pt>
                <c:pt idx="83">
                  <c:v>102.79999999999997</c:v>
                </c:pt>
                <c:pt idx="84">
                  <c:v>84.799999999999983</c:v>
                </c:pt>
                <c:pt idx="85">
                  <c:v>92.799999999999969</c:v>
                </c:pt>
                <c:pt idx="86">
                  <c:v>92.799999999999969</c:v>
                </c:pt>
                <c:pt idx="87">
                  <c:v>78.25</c:v>
                </c:pt>
                <c:pt idx="88">
                  <c:v>28.25</c:v>
                </c:pt>
                <c:pt idx="89">
                  <c:v>38.25</c:v>
                </c:pt>
                <c:pt idx="90">
                  <c:v>37.25</c:v>
                </c:pt>
                <c:pt idx="91">
                  <c:v>257.5</c:v>
                </c:pt>
                <c:pt idx="92">
                  <c:v>440.5</c:v>
                </c:pt>
                <c:pt idx="93">
                  <c:v>386.5</c:v>
                </c:pt>
                <c:pt idx="94">
                  <c:v>101.5</c:v>
                </c:pt>
                <c:pt idx="95">
                  <c:v>85.2</c:v>
                </c:pt>
                <c:pt idx="96">
                  <c:v>253.2</c:v>
                </c:pt>
                <c:pt idx="97">
                  <c:v>269.2</c:v>
                </c:pt>
                <c:pt idx="98">
                  <c:v>201.2</c:v>
                </c:pt>
                <c:pt idx="99">
                  <c:v>51.2</c:v>
                </c:pt>
                <c:pt idx="100">
                  <c:v>33</c:v>
                </c:pt>
                <c:pt idx="101">
                  <c:v>29</c:v>
                </c:pt>
                <c:pt idx="102">
                  <c:v>25</c:v>
                </c:pt>
                <c:pt idx="10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AA-4B8C-B939-00C52F2E6D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98686328"/>
        <c:axId val="498686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Min</c:v>
                </c:pt>
              </c:strCache>
            </c:strRef>
          </c:tx>
          <c:spPr>
            <a:ln w="12700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Sheet1!$C$2:$C$105</c:f>
              <c:numCache>
                <c:formatCode>#,##0</c:formatCode>
                <c:ptCount val="104"/>
                <c:pt idx="0">
                  <c:v>61</c:v>
                </c:pt>
                <c:pt idx="1">
                  <c:v>61</c:v>
                </c:pt>
                <c:pt idx="2">
                  <c:v>61</c:v>
                </c:pt>
                <c:pt idx="3">
                  <c:v>61</c:v>
                </c:pt>
                <c:pt idx="4">
                  <c:v>61</c:v>
                </c:pt>
                <c:pt idx="5">
                  <c:v>61</c:v>
                </c:pt>
                <c:pt idx="6">
                  <c:v>61</c:v>
                </c:pt>
                <c:pt idx="7">
                  <c:v>61</c:v>
                </c:pt>
                <c:pt idx="8">
                  <c:v>61</c:v>
                </c:pt>
                <c:pt idx="9">
                  <c:v>61</c:v>
                </c:pt>
                <c:pt idx="10">
                  <c:v>61</c:v>
                </c:pt>
                <c:pt idx="11">
                  <c:v>61</c:v>
                </c:pt>
                <c:pt idx="12">
                  <c:v>61</c:v>
                </c:pt>
                <c:pt idx="13">
                  <c:v>61</c:v>
                </c:pt>
                <c:pt idx="14">
                  <c:v>61</c:v>
                </c:pt>
                <c:pt idx="15">
                  <c:v>61</c:v>
                </c:pt>
                <c:pt idx="16">
                  <c:v>61</c:v>
                </c:pt>
                <c:pt idx="17">
                  <c:v>61</c:v>
                </c:pt>
                <c:pt idx="18">
                  <c:v>61</c:v>
                </c:pt>
                <c:pt idx="19">
                  <c:v>61</c:v>
                </c:pt>
                <c:pt idx="20">
                  <c:v>61</c:v>
                </c:pt>
                <c:pt idx="21">
                  <c:v>61</c:v>
                </c:pt>
                <c:pt idx="22">
                  <c:v>61</c:v>
                </c:pt>
                <c:pt idx="23">
                  <c:v>61</c:v>
                </c:pt>
                <c:pt idx="24">
                  <c:v>61</c:v>
                </c:pt>
                <c:pt idx="25">
                  <c:v>61</c:v>
                </c:pt>
                <c:pt idx="26">
                  <c:v>61</c:v>
                </c:pt>
                <c:pt idx="27">
                  <c:v>61</c:v>
                </c:pt>
                <c:pt idx="28">
                  <c:v>61</c:v>
                </c:pt>
                <c:pt idx="29">
                  <c:v>61</c:v>
                </c:pt>
                <c:pt idx="30">
                  <c:v>61</c:v>
                </c:pt>
                <c:pt idx="31">
                  <c:v>61</c:v>
                </c:pt>
                <c:pt idx="32">
                  <c:v>61</c:v>
                </c:pt>
                <c:pt idx="33">
                  <c:v>61</c:v>
                </c:pt>
                <c:pt idx="34">
                  <c:v>61</c:v>
                </c:pt>
                <c:pt idx="35">
                  <c:v>61</c:v>
                </c:pt>
                <c:pt idx="36">
                  <c:v>61</c:v>
                </c:pt>
                <c:pt idx="37">
                  <c:v>61</c:v>
                </c:pt>
                <c:pt idx="38">
                  <c:v>61</c:v>
                </c:pt>
                <c:pt idx="39">
                  <c:v>61</c:v>
                </c:pt>
                <c:pt idx="40">
                  <c:v>61</c:v>
                </c:pt>
                <c:pt idx="41">
                  <c:v>61</c:v>
                </c:pt>
                <c:pt idx="42">
                  <c:v>61</c:v>
                </c:pt>
                <c:pt idx="43">
                  <c:v>61</c:v>
                </c:pt>
                <c:pt idx="44">
                  <c:v>61</c:v>
                </c:pt>
                <c:pt idx="45">
                  <c:v>61</c:v>
                </c:pt>
                <c:pt idx="46">
                  <c:v>61</c:v>
                </c:pt>
                <c:pt idx="47">
                  <c:v>61</c:v>
                </c:pt>
                <c:pt idx="48">
                  <c:v>61</c:v>
                </c:pt>
                <c:pt idx="49">
                  <c:v>61</c:v>
                </c:pt>
                <c:pt idx="50">
                  <c:v>61</c:v>
                </c:pt>
                <c:pt idx="51">
                  <c:v>61</c:v>
                </c:pt>
                <c:pt idx="52">
                  <c:v>61</c:v>
                </c:pt>
                <c:pt idx="53">
                  <c:v>61</c:v>
                </c:pt>
                <c:pt idx="54">
                  <c:v>61</c:v>
                </c:pt>
                <c:pt idx="55">
                  <c:v>61</c:v>
                </c:pt>
                <c:pt idx="56">
                  <c:v>61</c:v>
                </c:pt>
                <c:pt idx="57">
                  <c:v>61</c:v>
                </c:pt>
                <c:pt idx="58">
                  <c:v>61</c:v>
                </c:pt>
                <c:pt idx="59">
                  <c:v>61</c:v>
                </c:pt>
                <c:pt idx="60">
                  <c:v>61</c:v>
                </c:pt>
                <c:pt idx="61">
                  <c:v>61</c:v>
                </c:pt>
                <c:pt idx="62">
                  <c:v>61</c:v>
                </c:pt>
                <c:pt idx="63">
                  <c:v>61</c:v>
                </c:pt>
                <c:pt idx="64">
                  <c:v>61</c:v>
                </c:pt>
                <c:pt idx="65">
                  <c:v>61</c:v>
                </c:pt>
                <c:pt idx="66">
                  <c:v>61</c:v>
                </c:pt>
                <c:pt idx="67">
                  <c:v>61</c:v>
                </c:pt>
                <c:pt idx="68">
                  <c:v>61</c:v>
                </c:pt>
                <c:pt idx="69">
                  <c:v>61</c:v>
                </c:pt>
                <c:pt idx="70">
                  <c:v>61</c:v>
                </c:pt>
                <c:pt idx="71">
                  <c:v>61</c:v>
                </c:pt>
                <c:pt idx="72">
                  <c:v>61</c:v>
                </c:pt>
                <c:pt idx="73">
                  <c:v>61</c:v>
                </c:pt>
                <c:pt idx="74">
                  <c:v>61</c:v>
                </c:pt>
                <c:pt idx="75">
                  <c:v>61</c:v>
                </c:pt>
                <c:pt idx="76">
                  <c:v>61</c:v>
                </c:pt>
                <c:pt idx="77">
                  <c:v>61</c:v>
                </c:pt>
                <c:pt idx="78">
                  <c:v>61</c:v>
                </c:pt>
                <c:pt idx="79">
                  <c:v>61</c:v>
                </c:pt>
                <c:pt idx="80">
                  <c:v>61</c:v>
                </c:pt>
                <c:pt idx="81">
                  <c:v>61</c:v>
                </c:pt>
                <c:pt idx="82">
                  <c:v>61</c:v>
                </c:pt>
                <c:pt idx="83">
                  <c:v>61</c:v>
                </c:pt>
                <c:pt idx="84">
                  <c:v>61</c:v>
                </c:pt>
                <c:pt idx="85">
                  <c:v>61</c:v>
                </c:pt>
                <c:pt idx="86">
                  <c:v>61</c:v>
                </c:pt>
                <c:pt idx="87">
                  <c:v>61</c:v>
                </c:pt>
                <c:pt idx="88">
                  <c:v>61</c:v>
                </c:pt>
                <c:pt idx="89">
                  <c:v>61</c:v>
                </c:pt>
                <c:pt idx="90">
                  <c:v>61</c:v>
                </c:pt>
                <c:pt idx="91">
                  <c:v>61</c:v>
                </c:pt>
                <c:pt idx="92">
                  <c:v>61</c:v>
                </c:pt>
                <c:pt idx="93">
                  <c:v>61</c:v>
                </c:pt>
                <c:pt idx="94">
                  <c:v>61</c:v>
                </c:pt>
                <c:pt idx="95">
                  <c:v>61</c:v>
                </c:pt>
                <c:pt idx="96">
                  <c:v>61</c:v>
                </c:pt>
                <c:pt idx="97">
                  <c:v>61</c:v>
                </c:pt>
                <c:pt idx="98">
                  <c:v>61</c:v>
                </c:pt>
                <c:pt idx="99">
                  <c:v>61</c:v>
                </c:pt>
                <c:pt idx="100">
                  <c:v>61</c:v>
                </c:pt>
                <c:pt idx="101">
                  <c:v>61</c:v>
                </c:pt>
                <c:pt idx="102">
                  <c:v>61</c:v>
                </c:pt>
                <c:pt idx="103">
                  <c:v>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AA-4B8C-B939-00C52F2E6D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 Marginal</c:v>
                </c:pt>
              </c:strCache>
            </c:strRef>
          </c:tx>
          <c:spPr>
            <a:ln w="12700" cap="rnd">
              <a:solidFill>
                <a:schemeClr val="accent3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Sheet1!$D$2:$D$105</c:f>
              <c:numCache>
                <c:formatCode>#,##0</c:formatCode>
                <c:ptCount val="104"/>
                <c:pt idx="0">
                  <c:v>115</c:v>
                </c:pt>
                <c:pt idx="1">
                  <c:v>115</c:v>
                </c:pt>
                <c:pt idx="2">
                  <c:v>115</c:v>
                </c:pt>
                <c:pt idx="3">
                  <c:v>115</c:v>
                </c:pt>
                <c:pt idx="4">
                  <c:v>115</c:v>
                </c:pt>
                <c:pt idx="5">
                  <c:v>115</c:v>
                </c:pt>
                <c:pt idx="6">
                  <c:v>115</c:v>
                </c:pt>
                <c:pt idx="7">
                  <c:v>115</c:v>
                </c:pt>
                <c:pt idx="8">
                  <c:v>115</c:v>
                </c:pt>
                <c:pt idx="9">
                  <c:v>115</c:v>
                </c:pt>
                <c:pt idx="10">
                  <c:v>115</c:v>
                </c:pt>
                <c:pt idx="11">
                  <c:v>115</c:v>
                </c:pt>
                <c:pt idx="12">
                  <c:v>115</c:v>
                </c:pt>
                <c:pt idx="13">
                  <c:v>115</c:v>
                </c:pt>
                <c:pt idx="14">
                  <c:v>115</c:v>
                </c:pt>
                <c:pt idx="15">
                  <c:v>115</c:v>
                </c:pt>
                <c:pt idx="16">
                  <c:v>115</c:v>
                </c:pt>
                <c:pt idx="17">
                  <c:v>115</c:v>
                </c:pt>
                <c:pt idx="18">
                  <c:v>115</c:v>
                </c:pt>
                <c:pt idx="19">
                  <c:v>115</c:v>
                </c:pt>
                <c:pt idx="20">
                  <c:v>115</c:v>
                </c:pt>
                <c:pt idx="21">
                  <c:v>115</c:v>
                </c:pt>
                <c:pt idx="22">
                  <c:v>115</c:v>
                </c:pt>
                <c:pt idx="23">
                  <c:v>115</c:v>
                </c:pt>
                <c:pt idx="24">
                  <c:v>115</c:v>
                </c:pt>
                <c:pt idx="25">
                  <c:v>115</c:v>
                </c:pt>
                <c:pt idx="26">
                  <c:v>115</c:v>
                </c:pt>
                <c:pt idx="27">
                  <c:v>115</c:v>
                </c:pt>
                <c:pt idx="28">
                  <c:v>115</c:v>
                </c:pt>
                <c:pt idx="29">
                  <c:v>115</c:v>
                </c:pt>
                <c:pt idx="30">
                  <c:v>115</c:v>
                </c:pt>
                <c:pt idx="31">
                  <c:v>115</c:v>
                </c:pt>
                <c:pt idx="32">
                  <c:v>115</c:v>
                </c:pt>
                <c:pt idx="33">
                  <c:v>115</c:v>
                </c:pt>
                <c:pt idx="34">
                  <c:v>115</c:v>
                </c:pt>
                <c:pt idx="35">
                  <c:v>115</c:v>
                </c:pt>
                <c:pt idx="36">
                  <c:v>115</c:v>
                </c:pt>
                <c:pt idx="37">
                  <c:v>115</c:v>
                </c:pt>
                <c:pt idx="38">
                  <c:v>115</c:v>
                </c:pt>
                <c:pt idx="39">
                  <c:v>115</c:v>
                </c:pt>
                <c:pt idx="40">
                  <c:v>115</c:v>
                </c:pt>
                <c:pt idx="41">
                  <c:v>115</c:v>
                </c:pt>
                <c:pt idx="42">
                  <c:v>115</c:v>
                </c:pt>
                <c:pt idx="43">
                  <c:v>115</c:v>
                </c:pt>
                <c:pt idx="44">
                  <c:v>115</c:v>
                </c:pt>
                <c:pt idx="45">
                  <c:v>115</c:v>
                </c:pt>
                <c:pt idx="46">
                  <c:v>115</c:v>
                </c:pt>
                <c:pt idx="47">
                  <c:v>115</c:v>
                </c:pt>
                <c:pt idx="48">
                  <c:v>115</c:v>
                </c:pt>
                <c:pt idx="49">
                  <c:v>115</c:v>
                </c:pt>
                <c:pt idx="50">
                  <c:v>115</c:v>
                </c:pt>
                <c:pt idx="51">
                  <c:v>115</c:v>
                </c:pt>
                <c:pt idx="52">
                  <c:v>115</c:v>
                </c:pt>
                <c:pt idx="53">
                  <c:v>115</c:v>
                </c:pt>
                <c:pt idx="54">
                  <c:v>115</c:v>
                </c:pt>
                <c:pt idx="55">
                  <c:v>115</c:v>
                </c:pt>
                <c:pt idx="56">
                  <c:v>115</c:v>
                </c:pt>
                <c:pt idx="57">
                  <c:v>115</c:v>
                </c:pt>
                <c:pt idx="58">
                  <c:v>115</c:v>
                </c:pt>
                <c:pt idx="59">
                  <c:v>115</c:v>
                </c:pt>
                <c:pt idx="60">
                  <c:v>115</c:v>
                </c:pt>
                <c:pt idx="61">
                  <c:v>115</c:v>
                </c:pt>
                <c:pt idx="62">
                  <c:v>115</c:v>
                </c:pt>
                <c:pt idx="63">
                  <c:v>115</c:v>
                </c:pt>
                <c:pt idx="64">
                  <c:v>115</c:v>
                </c:pt>
                <c:pt idx="65">
                  <c:v>115</c:v>
                </c:pt>
                <c:pt idx="66">
                  <c:v>115</c:v>
                </c:pt>
                <c:pt idx="67">
                  <c:v>115</c:v>
                </c:pt>
                <c:pt idx="68">
                  <c:v>115</c:v>
                </c:pt>
                <c:pt idx="69">
                  <c:v>115</c:v>
                </c:pt>
                <c:pt idx="70">
                  <c:v>115</c:v>
                </c:pt>
                <c:pt idx="71">
                  <c:v>115</c:v>
                </c:pt>
                <c:pt idx="72">
                  <c:v>115</c:v>
                </c:pt>
                <c:pt idx="73">
                  <c:v>115</c:v>
                </c:pt>
                <c:pt idx="74">
                  <c:v>115</c:v>
                </c:pt>
                <c:pt idx="75">
                  <c:v>115</c:v>
                </c:pt>
                <c:pt idx="76">
                  <c:v>115</c:v>
                </c:pt>
                <c:pt idx="77">
                  <c:v>115</c:v>
                </c:pt>
                <c:pt idx="78">
                  <c:v>115</c:v>
                </c:pt>
                <c:pt idx="79">
                  <c:v>115</c:v>
                </c:pt>
                <c:pt idx="80">
                  <c:v>115</c:v>
                </c:pt>
                <c:pt idx="81">
                  <c:v>115</c:v>
                </c:pt>
                <c:pt idx="82">
                  <c:v>115</c:v>
                </c:pt>
                <c:pt idx="83">
                  <c:v>115</c:v>
                </c:pt>
                <c:pt idx="84">
                  <c:v>115</c:v>
                </c:pt>
                <c:pt idx="85">
                  <c:v>115</c:v>
                </c:pt>
                <c:pt idx="86">
                  <c:v>115</c:v>
                </c:pt>
                <c:pt idx="87">
                  <c:v>115</c:v>
                </c:pt>
                <c:pt idx="88">
                  <c:v>115</c:v>
                </c:pt>
                <c:pt idx="89">
                  <c:v>115</c:v>
                </c:pt>
                <c:pt idx="90">
                  <c:v>115</c:v>
                </c:pt>
                <c:pt idx="91">
                  <c:v>115</c:v>
                </c:pt>
                <c:pt idx="92">
                  <c:v>115</c:v>
                </c:pt>
                <c:pt idx="93">
                  <c:v>115</c:v>
                </c:pt>
                <c:pt idx="94">
                  <c:v>115</c:v>
                </c:pt>
                <c:pt idx="95">
                  <c:v>115</c:v>
                </c:pt>
                <c:pt idx="96">
                  <c:v>115</c:v>
                </c:pt>
                <c:pt idx="97">
                  <c:v>115</c:v>
                </c:pt>
                <c:pt idx="98">
                  <c:v>115</c:v>
                </c:pt>
                <c:pt idx="99">
                  <c:v>115</c:v>
                </c:pt>
                <c:pt idx="100">
                  <c:v>115</c:v>
                </c:pt>
                <c:pt idx="101">
                  <c:v>115</c:v>
                </c:pt>
                <c:pt idx="102">
                  <c:v>115</c:v>
                </c:pt>
                <c:pt idx="103">
                  <c:v>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AA-4B8C-B939-00C52F2E6D4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Max ROI</c:v>
                </c:pt>
              </c:strCache>
            </c:strRef>
          </c:tx>
          <c:spPr>
            <a:ln w="127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Sheet1!$E$2:$E$105</c:f>
              <c:numCache>
                <c:formatCode>#,##0</c:formatCode>
                <c:ptCount val="104"/>
                <c:pt idx="0">
                  <c:v>179</c:v>
                </c:pt>
                <c:pt idx="1">
                  <c:v>179</c:v>
                </c:pt>
                <c:pt idx="2">
                  <c:v>179</c:v>
                </c:pt>
                <c:pt idx="3">
                  <c:v>179</c:v>
                </c:pt>
                <c:pt idx="4">
                  <c:v>179</c:v>
                </c:pt>
                <c:pt idx="5">
                  <c:v>179</c:v>
                </c:pt>
                <c:pt idx="6">
                  <c:v>179</c:v>
                </c:pt>
                <c:pt idx="7">
                  <c:v>179</c:v>
                </c:pt>
                <c:pt idx="8">
                  <c:v>179</c:v>
                </c:pt>
                <c:pt idx="9">
                  <c:v>179</c:v>
                </c:pt>
                <c:pt idx="10">
                  <c:v>179</c:v>
                </c:pt>
                <c:pt idx="11">
                  <c:v>179</c:v>
                </c:pt>
                <c:pt idx="12">
                  <c:v>179</c:v>
                </c:pt>
                <c:pt idx="13">
                  <c:v>179</c:v>
                </c:pt>
                <c:pt idx="14">
                  <c:v>179</c:v>
                </c:pt>
                <c:pt idx="15">
                  <c:v>179</c:v>
                </c:pt>
                <c:pt idx="16">
                  <c:v>179</c:v>
                </c:pt>
                <c:pt idx="17">
                  <c:v>179</c:v>
                </c:pt>
                <c:pt idx="18">
                  <c:v>179</c:v>
                </c:pt>
                <c:pt idx="19">
                  <c:v>179</c:v>
                </c:pt>
                <c:pt idx="20">
                  <c:v>179</c:v>
                </c:pt>
                <c:pt idx="21">
                  <c:v>179</c:v>
                </c:pt>
                <c:pt idx="22">
                  <c:v>179</c:v>
                </c:pt>
                <c:pt idx="23">
                  <c:v>179</c:v>
                </c:pt>
                <c:pt idx="24">
                  <c:v>179</c:v>
                </c:pt>
                <c:pt idx="25">
                  <c:v>179</c:v>
                </c:pt>
                <c:pt idx="26">
                  <c:v>179</c:v>
                </c:pt>
                <c:pt idx="27">
                  <c:v>179</c:v>
                </c:pt>
                <c:pt idx="28">
                  <c:v>179</c:v>
                </c:pt>
                <c:pt idx="29">
                  <c:v>179</c:v>
                </c:pt>
                <c:pt idx="30">
                  <c:v>179</c:v>
                </c:pt>
                <c:pt idx="31">
                  <c:v>179</c:v>
                </c:pt>
                <c:pt idx="32">
                  <c:v>179</c:v>
                </c:pt>
                <c:pt idx="33">
                  <c:v>179</c:v>
                </c:pt>
                <c:pt idx="34">
                  <c:v>179</c:v>
                </c:pt>
                <c:pt idx="35">
                  <c:v>179</c:v>
                </c:pt>
                <c:pt idx="36">
                  <c:v>179</c:v>
                </c:pt>
                <c:pt idx="37">
                  <c:v>179</c:v>
                </c:pt>
                <c:pt idx="38">
                  <c:v>179</c:v>
                </c:pt>
                <c:pt idx="39">
                  <c:v>179</c:v>
                </c:pt>
                <c:pt idx="40">
                  <c:v>179</c:v>
                </c:pt>
                <c:pt idx="41">
                  <c:v>179</c:v>
                </c:pt>
                <c:pt idx="42">
                  <c:v>179</c:v>
                </c:pt>
                <c:pt idx="43">
                  <c:v>179</c:v>
                </c:pt>
                <c:pt idx="44">
                  <c:v>179</c:v>
                </c:pt>
                <c:pt idx="45">
                  <c:v>179</c:v>
                </c:pt>
                <c:pt idx="46">
                  <c:v>179</c:v>
                </c:pt>
                <c:pt idx="47">
                  <c:v>179</c:v>
                </c:pt>
                <c:pt idx="48">
                  <c:v>179</c:v>
                </c:pt>
                <c:pt idx="49">
                  <c:v>179</c:v>
                </c:pt>
                <c:pt idx="50">
                  <c:v>179</c:v>
                </c:pt>
                <c:pt idx="51">
                  <c:v>179</c:v>
                </c:pt>
                <c:pt idx="52">
                  <c:v>179</c:v>
                </c:pt>
                <c:pt idx="53">
                  <c:v>179</c:v>
                </c:pt>
                <c:pt idx="54">
                  <c:v>179</c:v>
                </c:pt>
                <c:pt idx="55">
                  <c:v>179</c:v>
                </c:pt>
                <c:pt idx="56">
                  <c:v>179</c:v>
                </c:pt>
                <c:pt idx="57">
                  <c:v>179</c:v>
                </c:pt>
                <c:pt idx="58">
                  <c:v>179</c:v>
                </c:pt>
                <c:pt idx="59">
                  <c:v>179</c:v>
                </c:pt>
                <c:pt idx="60">
                  <c:v>179</c:v>
                </c:pt>
                <c:pt idx="61">
                  <c:v>179</c:v>
                </c:pt>
                <c:pt idx="62">
                  <c:v>179</c:v>
                </c:pt>
                <c:pt idx="63">
                  <c:v>179</c:v>
                </c:pt>
                <c:pt idx="64">
                  <c:v>179</c:v>
                </c:pt>
                <c:pt idx="65">
                  <c:v>179</c:v>
                </c:pt>
                <c:pt idx="66">
                  <c:v>179</c:v>
                </c:pt>
                <c:pt idx="67">
                  <c:v>179</c:v>
                </c:pt>
                <c:pt idx="68">
                  <c:v>179</c:v>
                </c:pt>
                <c:pt idx="69">
                  <c:v>179</c:v>
                </c:pt>
                <c:pt idx="70">
                  <c:v>179</c:v>
                </c:pt>
                <c:pt idx="71">
                  <c:v>179</c:v>
                </c:pt>
                <c:pt idx="72">
                  <c:v>179</c:v>
                </c:pt>
                <c:pt idx="73">
                  <c:v>179</c:v>
                </c:pt>
                <c:pt idx="74">
                  <c:v>179</c:v>
                </c:pt>
                <c:pt idx="75">
                  <c:v>179</c:v>
                </c:pt>
                <c:pt idx="76">
                  <c:v>179</c:v>
                </c:pt>
                <c:pt idx="77">
                  <c:v>179</c:v>
                </c:pt>
                <c:pt idx="78">
                  <c:v>179</c:v>
                </c:pt>
                <c:pt idx="79">
                  <c:v>179</c:v>
                </c:pt>
                <c:pt idx="80">
                  <c:v>179</c:v>
                </c:pt>
                <c:pt idx="81">
                  <c:v>179</c:v>
                </c:pt>
                <c:pt idx="82">
                  <c:v>179</c:v>
                </c:pt>
                <c:pt idx="83">
                  <c:v>179</c:v>
                </c:pt>
                <c:pt idx="84">
                  <c:v>179</c:v>
                </c:pt>
                <c:pt idx="85">
                  <c:v>179</c:v>
                </c:pt>
                <c:pt idx="86">
                  <c:v>179</c:v>
                </c:pt>
                <c:pt idx="87">
                  <c:v>179</c:v>
                </c:pt>
                <c:pt idx="88">
                  <c:v>179</c:v>
                </c:pt>
                <c:pt idx="89">
                  <c:v>179</c:v>
                </c:pt>
                <c:pt idx="90">
                  <c:v>179</c:v>
                </c:pt>
                <c:pt idx="91">
                  <c:v>179</c:v>
                </c:pt>
                <c:pt idx="92">
                  <c:v>179</c:v>
                </c:pt>
                <c:pt idx="93">
                  <c:v>179</c:v>
                </c:pt>
                <c:pt idx="94">
                  <c:v>179</c:v>
                </c:pt>
                <c:pt idx="95">
                  <c:v>179</c:v>
                </c:pt>
                <c:pt idx="96">
                  <c:v>179</c:v>
                </c:pt>
                <c:pt idx="97">
                  <c:v>179</c:v>
                </c:pt>
                <c:pt idx="98">
                  <c:v>179</c:v>
                </c:pt>
                <c:pt idx="99">
                  <c:v>179</c:v>
                </c:pt>
                <c:pt idx="100">
                  <c:v>179</c:v>
                </c:pt>
                <c:pt idx="101">
                  <c:v>179</c:v>
                </c:pt>
                <c:pt idx="102">
                  <c:v>179</c:v>
                </c:pt>
                <c:pt idx="103">
                  <c:v>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AA-4B8C-B939-00C52F2E6D4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Diminishing</c:v>
                </c:pt>
              </c:strCache>
            </c:strRef>
          </c:tx>
          <c:spPr>
            <a:ln w="12700" cap="rnd">
              <a:solidFill>
                <a:schemeClr val="accent5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Sheet1!$A$2:$A$105</c:f>
              <c:numCache>
                <c:formatCode>m/d/yyyy</c:formatCode>
                <c:ptCount val="104"/>
                <c:pt idx="0">
                  <c:v>44535</c:v>
                </c:pt>
                <c:pt idx="1">
                  <c:v>44542</c:v>
                </c:pt>
                <c:pt idx="2">
                  <c:v>44549</c:v>
                </c:pt>
                <c:pt idx="3">
                  <c:v>44556</c:v>
                </c:pt>
                <c:pt idx="4">
                  <c:v>44563</c:v>
                </c:pt>
                <c:pt idx="5">
                  <c:v>44570</c:v>
                </c:pt>
                <c:pt idx="6">
                  <c:v>44577</c:v>
                </c:pt>
                <c:pt idx="7">
                  <c:v>44584</c:v>
                </c:pt>
                <c:pt idx="8">
                  <c:v>44591</c:v>
                </c:pt>
                <c:pt idx="9">
                  <c:v>44598</c:v>
                </c:pt>
                <c:pt idx="10">
                  <c:v>44605</c:v>
                </c:pt>
                <c:pt idx="11">
                  <c:v>44612</c:v>
                </c:pt>
                <c:pt idx="12">
                  <c:v>44619</c:v>
                </c:pt>
                <c:pt idx="13">
                  <c:v>44626</c:v>
                </c:pt>
                <c:pt idx="14">
                  <c:v>44633</c:v>
                </c:pt>
                <c:pt idx="15">
                  <c:v>44640</c:v>
                </c:pt>
                <c:pt idx="16">
                  <c:v>44647</c:v>
                </c:pt>
                <c:pt idx="17">
                  <c:v>44654</c:v>
                </c:pt>
                <c:pt idx="18">
                  <c:v>44661</c:v>
                </c:pt>
                <c:pt idx="19">
                  <c:v>44668</c:v>
                </c:pt>
                <c:pt idx="20">
                  <c:v>44675</c:v>
                </c:pt>
                <c:pt idx="21">
                  <c:v>44682</c:v>
                </c:pt>
                <c:pt idx="22">
                  <c:v>44689</c:v>
                </c:pt>
                <c:pt idx="23">
                  <c:v>44696</c:v>
                </c:pt>
                <c:pt idx="24">
                  <c:v>44703</c:v>
                </c:pt>
                <c:pt idx="25">
                  <c:v>44710</c:v>
                </c:pt>
                <c:pt idx="26">
                  <c:v>44717</c:v>
                </c:pt>
                <c:pt idx="27">
                  <c:v>44724</c:v>
                </c:pt>
                <c:pt idx="28">
                  <c:v>44731</c:v>
                </c:pt>
                <c:pt idx="29">
                  <c:v>44738</c:v>
                </c:pt>
                <c:pt idx="30">
                  <c:v>44745</c:v>
                </c:pt>
                <c:pt idx="31">
                  <c:v>44752</c:v>
                </c:pt>
                <c:pt idx="32">
                  <c:v>44759</c:v>
                </c:pt>
                <c:pt idx="33">
                  <c:v>44766</c:v>
                </c:pt>
                <c:pt idx="34">
                  <c:v>44773</c:v>
                </c:pt>
                <c:pt idx="35">
                  <c:v>44780</c:v>
                </c:pt>
                <c:pt idx="36">
                  <c:v>44787</c:v>
                </c:pt>
                <c:pt idx="37">
                  <c:v>44794</c:v>
                </c:pt>
                <c:pt idx="38">
                  <c:v>44801</c:v>
                </c:pt>
                <c:pt idx="39">
                  <c:v>44808</c:v>
                </c:pt>
                <c:pt idx="40">
                  <c:v>44815</c:v>
                </c:pt>
                <c:pt idx="41">
                  <c:v>44822</c:v>
                </c:pt>
                <c:pt idx="42">
                  <c:v>44829</c:v>
                </c:pt>
                <c:pt idx="43">
                  <c:v>44836</c:v>
                </c:pt>
                <c:pt idx="44">
                  <c:v>44843</c:v>
                </c:pt>
                <c:pt idx="45">
                  <c:v>44850</c:v>
                </c:pt>
                <c:pt idx="46">
                  <c:v>44857</c:v>
                </c:pt>
                <c:pt idx="47">
                  <c:v>44864</c:v>
                </c:pt>
                <c:pt idx="48">
                  <c:v>44871</c:v>
                </c:pt>
                <c:pt idx="49">
                  <c:v>44878</c:v>
                </c:pt>
                <c:pt idx="50">
                  <c:v>44885</c:v>
                </c:pt>
                <c:pt idx="51">
                  <c:v>44892</c:v>
                </c:pt>
                <c:pt idx="52">
                  <c:v>44899</c:v>
                </c:pt>
                <c:pt idx="53">
                  <c:v>44906</c:v>
                </c:pt>
                <c:pt idx="54">
                  <c:v>44913</c:v>
                </c:pt>
                <c:pt idx="55">
                  <c:v>44920</c:v>
                </c:pt>
                <c:pt idx="56">
                  <c:v>44927</c:v>
                </c:pt>
                <c:pt idx="57">
                  <c:v>44934</c:v>
                </c:pt>
                <c:pt idx="58">
                  <c:v>44941</c:v>
                </c:pt>
                <c:pt idx="59">
                  <c:v>44948</c:v>
                </c:pt>
                <c:pt idx="60">
                  <c:v>44955</c:v>
                </c:pt>
                <c:pt idx="61">
                  <c:v>44962</c:v>
                </c:pt>
                <c:pt idx="62">
                  <c:v>44969</c:v>
                </c:pt>
                <c:pt idx="63">
                  <c:v>44976</c:v>
                </c:pt>
                <c:pt idx="64">
                  <c:v>44983</c:v>
                </c:pt>
                <c:pt idx="65">
                  <c:v>44990</c:v>
                </c:pt>
                <c:pt idx="66">
                  <c:v>44997</c:v>
                </c:pt>
                <c:pt idx="67">
                  <c:v>45004</c:v>
                </c:pt>
                <c:pt idx="68">
                  <c:v>45011</c:v>
                </c:pt>
                <c:pt idx="69">
                  <c:v>45018</c:v>
                </c:pt>
                <c:pt idx="70">
                  <c:v>45025</c:v>
                </c:pt>
                <c:pt idx="71">
                  <c:v>45032</c:v>
                </c:pt>
                <c:pt idx="72">
                  <c:v>45039</c:v>
                </c:pt>
                <c:pt idx="73">
                  <c:v>45046</c:v>
                </c:pt>
                <c:pt idx="74">
                  <c:v>45053</c:v>
                </c:pt>
                <c:pt idx="75">
                  <c:v>45060</c:v>
                </c:pt>
                <c:pt idx="76">
                  <c:v>45067</c:v>
                </c:pt>
                <c:pt idx="77">
                  <c:v>45074</c:v>
                </c:pt>
                <c:pt idx="78">
                  <c:v>45081</c:v>
                </c:pt>
                <c:pt idx="79">
                  <c:v>45088</c:v>
                </c:pt>
                <c:pt idx="80">
                  <c:v>45095</c:v>
                </c:pt>
                <c:pt idx="81">
                  <c:v>45102</c:v>
                </c:pt>
                <c:pt idx="82">
                  <c:v>45109</c:v>
                </c:pt>
                <c:pt idx="83">
                  <c:v>45116</c:v>
                </c:pt>
                <c:pt idx="84">
                  <c:v>45123</c:v>
                </c:pt>
                <c:pt idx="85">
                  <c:v>45130</c:v>
                </c:pt>
                <c:pt idx="86">
                  <c:v>45137</c:v>
                </c:pt>
                <c:pt idx="87">
                  <c:v>45144</c:v>
                </c:pt>
                <c:pt idx="88">
                  <c:v>45151</c:v>
                </c:pt>
                <c:pt idx="89">
                  <c:v>45158</c:v>
                </c:pt>
                <c:pt idx="90">
                  <c:v>45165</c:v>
                </c:pt>
                <c:pt idx="91">
                  <c:v>45172</c:v>
                </c:pt>
                <c:pt idx="92">
                  <c:v>45179</c:v>
                </c:pt>
                <c:pt idx="93">
                  <c:v>45186</c:v>
                </c:pt>
                <c:pt idx="94">
                  <c:v>45193</c:v>
                </c:pt>
                <c:pt idx="95">
                  <c:v>45200</c:v>
                </c:pt>
                <c:pt idx="96">
                  <c:v>45207</c:v>
                </c:pt>
                <c:pt idx="97">
                  <c:v>45214</c:v>
                </c:pt>
                <c:pt idx="98">
                  <c:v>45221</c:v>
                </c:pt>
                <c:pt idx="99">
                  <c:v>45228</c:v>
                </c:pt>
                <c:pt idx="100">
                  <c:v>45235</c:v>
                </c:pt>
                <c:pt idx="101">
                  <c:v>45242</c:v>
                </c:pt>
                <c:pt idx="102">
                  <c:v>45249</c:v>
                </c:pt>
                <c:pt idx="103">
                  <c:v>45256</c:v>
                </c:pt>
              </c:numCache>
            </c:numRef>
          </c:cat>
          <c:val>
            <c:numRef>
              <c:f>Sheet1!$F$2:$F$105</c:f>
              <c:numCache>
                <c:formatCode>_(* #,##0_);_(* \(#,##0\);_(* "-"??_);_(@_)</c:formatCode>
                <c:ptCount val="104"/>
                <c:pt idx="0">
                  <c:v>267</c:v>
                </c:pt>
                <c:pt idx="1">
                  <c:v>267</c:v>
                </c:pt>
                <c:pt idx="2">
                  <c:v>267</c:v>
                </c:pt>
                <c:pt idx="3">
                  <c:v>267</c:v>
                </c:pt>
                <c:pt idx="4">
                  <c:v>267</c:v>
                </c:pt>
                <c:pt idx="5">
                  <c:v>267</c:v>
                </c:pt>
                <c:pt idx="6">
                  <c:v>267</c:v>
                </c:pt>
                <c:pt idx="7">
                  <c:v>267</c:v>
                </c:pt>
                <c:pt idx="8">
                  <c:v>267</c:v>
                </c:pt>
                <c:pt idx="9">
                  <c:v>267</c:v>
                </c:pt>
                <c:pt idx="10">
                  <c:v>267</c:v>
                </c:pt>
                <c:pt idx="11">
                  <c:v>267</c:v>
                </c:pt>
                <c:pt idx="12">
                  <c:v>267</c:v>
                </c:pt>
                <c:pt idx="13">
                  <c:v>267</c:v>
                </c:pt>
                <c:pt idx="14">
                  <c:v>267</c:v>
                </c:pt>
                <c:pt idx="15">
                  <c:v>267</c:v>
                </c:pt>
                <c:pt idx="16">
                  <c:v>267</c:v>
                </c:pt>
                <c:pt idx="17">
                  <c:v>267</c:v>
                </c:pt>
                <c:pt idx="18">
                  <c:v>267</c:v>
                </c:pt>
                <c:pt idx="19">
                  <c:v>267</c:v>
                </c:pt>
                <c:pt idx="20">
                  <c:v>267</c:v>
                </c:pt>
                <c:pt idx="21">
                  <c:v>267</c:v>
                </c:pt>
                <c:pt idx="22">
                  <c:v>267</c:v>
                </c:pt>
                <c:pt idx="23">
                  <c:v>267</c:v>
                </c:pt>
                <c:pt idx="24">
                  <c:v>267</c:v>
                </c:pt>
                <c:pt idx="25">
                  <c:v>267</c:v>
                </c:pt>
                <c:pt idx="26">
                  <c:v>267</c:v>
                </c:pt>
                <c:pt idx="27">
                  <c:v>267</c:v>
                </c:pt>
                <c:pt idx="28">
                  <c:v>267</c:v>
                </c:pt>
                <c:pt idx="29">
                  <c:v>267</c:v>
                </c:pt>
                <c:pt idx="30">
                  <c:v>267</c:v>
                </c:pt>
                <c:pt idx="31">
                  <c:v>267</c:v>
                </c:pt>
                <c:pt idx="32">
                  <c:v>267</c:v>
                </c:pt>
                <c:pt idx="33">
                  <c:v>267</c:v>
                </c:pt>
                <c:pt idx="34">
                  <c:v>267</c:v>
                </c:pt>
                <c:pt idx="35">
                  <c:v>267</c:v>
                </c:pt>
                <c:pt idx="36">
                  <c:v>267</c:v>
                </c:pt>
                <c:pt idx="37">
                  <c:v>267</c:v>
                </c:pt>
                <c:pt idx="38">
                  <c:v>267</c:v>
                </c:pt>
                <c:pt idx="39">
                  <c:v>267</c:v>
                </c:pt>
                <c:pt idx="40">
                  <c:v>267</c:v>
                </c:pt>
                <c:pt idx="41">
                  <c:v>267</c:v>
                </c:pt>
                <c:pt idx="42">
                  <c:v>267</c:v>
                </c:pt>
                <c:pt idx="43">
                  <c:v>267</c:v>
                </c:pt>
                <c:pt idx="44">
                  <c:v>267</c:v>
                </c:pt>
                <c:pt idx="45">
                  <c:v>267</c:v>
                </c:pt>
                <c:pt idx="46">
                  <c:v>267</c:v>
                </c:pt>
                <c:pt idx="47">
                  <c:v>267</c:v>
                </c:pt>
                <c:pt idx="48">
                  <c:v>267</c:v>
                </c:pt>
                <c:pt idx="49">
                  <c:v>267</c:v>
                </c:pt>
                <c:pt idx="50">
                  <c:v>267</c:v>
                </c:pt>
                <c:pt idx="51">
                  <c:v>267</c:v>
                </c:pt>
                <c:pt idx="52">
                  <c:v>267</c:v>
                </c:pt>
                <c:pt idx="53">
                  <c:v>267</c:v>
                </c:pt>
                <c:pt idx="54">
                  <c:v>267</c:v>
                </c:pt>
                <c:pt idx="55">
                  <c:v>267</c:v>
                </c:pt>
                <c:pt idx="56">
                  <c:v>267</c:v>
                </c:pt>
                <c:pt idx="57">
                  <c:v>267</c:v>
                </c:pt>
                <c:pt idx="58">
                  <c:v>267</c:v>
                </c:pt>
                <c:pt idx="59">
                  <c:v>267</c:v>
                </c:pt>
                <c:pt idx="60">
                  <c:v>267</c:v>
                </c:pt>
                <c:pt idx="61">
                  <c:v>267</c:v>
                </c:pt>
                <c:pt idx="62">
                  <c:v>267</c:v>
                </c:pt>
                <c:pt idx="63">
                  <c:v>267</c:v>
                </c:pt>
                <c:pt idx="64">
                  <c:v>267</c:v>
                </c:pt>
                <c:pt idx="65">
                  <c:v>267</c:v>
                </c:pt>
                <c:pt idx="66">
                  <c:v>267</c:v>
                </c:pt>
                <c:pt idx="67">
                  <c:v>267</c:v>
                </c:pt>
                <c:pt idx="68">
                  <c:v>267</c:v>
                </c:pt>
                <c:pt idx="69">
                  <c:v>267</c:v>
                </c:pt>
                <c:pt idx="70">
                  <c:v>267</c:v>
                </c:pt>
                <c:pt idx="71">
                  <c:v>267</c:v>
                </c:pt>
                <c:pt idx="72">
                  <c:v>267</c:v>
                </c:pt>
                <c:pt idx="73">
                  <c:v>267</c:v>
                </c:pt>
                <c:pt idx="74">
                  <c:v>267</c:v>
                </c:pt>
                <c:pt idx="75">
                  <c:v>267</c:v>
                </c:pt>
                <c:pt idx="76">
                  <c:v>267</c:v>
                </c:pt>
                <c:pt idx="77">
                  <c:v>267</c:v>
                </c:pt>
                <c:pt idx="78">
                  <c:v>267</c:v>
                </c:pt>
                <c:pt idx="79">
                  <c:v>267</c:v>
                </c:pt>
                <c:pt idx="80">
                  <c:v>267</c:v>
                </c:pt>
                <c:pt idx="81">
                  <c:v>267</c:v>
                </c:pt>
                <c:pt idx="82">
                  <c:v>267</c:v>
                </c:pt>
                <c:pt idx="83">
                  <c:v>267</c:v>
                </c:pt>
                <c:pt idx="84">
                  <c:v>267</c:v>
                </c:pt>
                <c:pt idx="85">
                  <c:v>267</c:v>
                </c:pt>
                <c:pt idx="86">
                  <c:v>267</c:v>
                </c:pt>
                <c:pt idx="87">
                  <c:v>267</c:v>
                </c:pt>
                <c:pt idx="88">
                  <c:v>267</c:v>
                </c:pt>
                <c:pt idx="89">
                  <c:v>267</c:v>
                </c:pt>
                <c:pt idx="90">
                  <c:v>267</c:v>
                </c:pt>
                <c:pt idx="91">
                  <c:v>267</c:v>
                </c:pt>
                <c:pt idx="92">
                  <c:v>267</c:v>
                </c:pt>
                <c:pt idx="93">
                  <c:v>267</c:v>
                </c:pt>
                <c:pt idx="94">
                  <c:v>267</c:v>
                </c:pt>
                <c:pt idx="95">
                  <c:v>267</c:v>
                </c:pt>
                <c:pt idx="96">
                  <c:v>267</c:v>
                </c:pt>
                <c:pt idx="97">
                  <c:v>267</c:v>
                </c:pt>
                <c:pt idx="98">
                  <c:v>267</c:v>
                </c:pt>
                <c:pt idx="99">
                  <c:v>267</c:v>
                </c:pt>
                <c:pt idx="100">
                  <c:v>267</c:v>
                </c:pt>
                <c:pt idx="101">
                  <c:v>267</c:v>
                </c:pt>
                <c:pt idx="102">
                  <c:v>267</c:v>
                </c:pt>
                <c:pt idx="103">
                  <c:v>267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0AA-4B8C-B939-00C52F2E6D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8686328"/>
        <c:axId val="498686720"/>
      </c:lineChart>
      <c:catAx>
        <c:axId val="498686328"/>
        <c:scaling>
          <c:orientation val="minMax"/>
        </c:scaling>
        <c:delete val="0"/>
        <c:axPos val="b"/>
        <c:numFmt formatCode="[$-409]d\-mmm\-yy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498686720"/>
        <c:crosses val="autoZero"/>
        <c:auto val="0"/>
        <c:lblAlgn val="ctr"/>
        <c:lblOffset val="100"/>
        <c:noMultiLvlLbl val="0"/>
      </c:catAx>
      <c:valAx>
        <c:axId val="4986867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ter" panose="020B0604020202020204" charset="0"/>
                    <a:ea typeface="Inter" panose="020B0604020202020204" charset="0"/>
                    <a:cs typeface="+mn-cs"/>
                  </a:defRPr>
                </a:pPr>
                <a:r>
                  <a:rPr lang="en-US" sz="800" dirty="0">
                    <a:latin typeface="Inter" panose="020B0604020202020204" charset="0"/>
                    <a:ea typeface="Inter" panose="020B0604020202020204" charset="0"/>
                  </a:rPr>
                  <a:t>Insertion</a:t>
                </a:r>
                <a:r>
                  <a:rPr lang="en-US" sz="800" baseline="0" dirty="0">
                    <a:latin typeface="Inter" panose="020B0604020202020204" charset="0"/>
                    <a:ea typeface="Inter" panose="020B0604020202020204" charset="0"/>
                  </a:rPr>
                  <a:t> </a:t>
                </a:r>
                <a:r>
                  <a:rPr lang="en-US" sz="800" dirty="0">
                    <a:latin typeface="Inter" panose="020B0604020202020204" charset="0"/>
                    <a:ea typeface="Inter" panose="020B0604020202020204" charset="0"/>
                  </a:rPr>
                  <a:t>Execution</a:t>
                </a:r>
              </a:p>
            </c:rich>
          </c:tx>
          <c:layout>
            <c:manualLayout>
              <c:xMode val="edge"/>
              <c:yMode val="edge"/>
              <c:x val="2.8850096655146155E-2"/>
              <c:y val="0.315001484145454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B0604020202020204" charset="0"/>
                  <a:ea typeface="Inter" panose="020B0604020202020204" charset="0"/>
                  <a:cs typeface="+mn-cs"/>
                </a:defRPr>
              </a:pPr>
              <a:endParaRPr lang="en-US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  <a:cs typeface="+mn-cs"/>
              </a:defRPr>
            </a:pPr>
            <a:endParaRPr lang="es-MX"/>
          </a:p>
        </c:txPr>
        <c:crossAx val="498686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0"/>
          <c:cat>
            <c:strRef>
              <c:f>Sheet1!$A$2:$A$38</c:f>
              <c:strCache>
                <c:ptCount val="37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</c:strCache>
            </c:strRef>
          </c:cat>
          <c:val>
            <c:numRef>
              <c:f>Sheet1!$B$2:$B$38</c:f>
              <c:numCache>
                <c:formatCode>#,##0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1194909</c:v>
                </c:pt>
                <c:pt idx="22">
                  <c:v>1460318</c:v>
                </c:pt>
                <c:pt idx="23">
                  <c:v>877715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B3-409B-AAAB-A246067294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5.2662043605003124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74-466D-86F2-F16B56FC8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5.2662043605003124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81-4994-BC3D-C7159A635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 Digital Display</c:v>
                </c:pt>
              </c:strCache>
            </c:strRef>
          </c:tx>
          <c:spPr>
            <a:solidFill>
              <a:srgbClr val="333333"/>
            </a:solidFill>
            <a:ln w="19050">
              <a:solidFill>
                <a:srgbClr val="333333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23' Camp ROI</c:v>
                </c:pt>
                <c:pt idx="1">
                  <c:v>24' Camp ROI</c:v>
                </c:pt>
                <c:pt idx="2">
                  <c:v>No Campaign ROI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5.2662043605003124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8D-4490-A159-42F7B9BA3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0.18376</cdr:x>
      <cdr:y>0.4401</cdr:y>
    </cdr:from>
    <cdr:to>
      <cdr:x>0.19143</cdr:x>
      <cdr:y>0.46867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4CC7CE8C-4649-F707-00B7-DB10ED4DDDC8}"/>
            </a:ext>
          </a:extLst>
        </cdr:cNvPr>
        <cdr:cNvCxnSpPr/>
      </cdr:nvCxnSpPr>
      <cdr:spPr>
        <a:xfrm xmlns:a="http://schemas.openxmlformats.org/drawingml/2006/main" flipH="1">
          <a:off x="1144093" y="1901483"/>
          <a:ext cx="47753" cy="123438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/>
          </a:solidFill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0.21344</cdr:x>
      <cdr:y>0.44111</cdr:y>
    </cdr:from>
    <cdr:to>
      <cdr:x>0.22111</cdr:x>
      <cdr:y>0.46968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19A3CDAB-A170-589E-0C17-5B8E43A22E92}"/>
            </a:ext>
          </a:extLst>
        </cdr:cNvPr>
        <cdr:cNvCxnSpPr/>
      </cdr:nvCxnSpPr>
      <cdr:spPr>
        <a:xfrm xmlns:a="http://schemas.openxmlformats.org/drawingml/2006/main">
          <a:off x="1328824" y="1905842"/>
          <a:ext cx="47753" cy="123438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/>
          </a:solidFill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0.18376</cdr:x>
      <cdr:y>0.4401</cdr:y>
    </cdr:from>
    <cdr:to>
      <cdr:x>0.19143</cdr:x>
      <cdr:y>0.46867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4CC7CE8C-4649-F707-00B7-DB10ED4DDDC8}"/>
            </a:ext>
          </a:extLst>
        </cdr:cNvPr>
        <cdr:cNvCxnSpPr/>
      </cdr:nvCxnSpPr>
      <cdr:spPr>
        <a:xfrm xmlns:a="http://schemas.openxmlformats.org/drawingml/2006/main" flipH="1">
          <a:off x="1144093" y="1901483"/>
          <a:ext cx="47753" cy="123438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/>
          </a:solidFill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0.21344</cdr:x>
      <cdr:y>0.44111</cdr:y>
    </cdr:from>
    <cdr:to>
      <cdr:x>0.22111</cdr:x>
      <cdr:y>0.46968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19A3CDAB-A170-589E-0C17-5B8E43A22E92}"/>
            </a:ext>
          </a:extLst>
        </cdr:cNvPr>
        <cdr:cNvCxnSpPr/>
      </cdr:nvCxnSpPr>
      <cdr:spPr>
        <a:xfrm xmlns:a="http://schemas.openxmlformats.org/drawingml/2006/main">
          <a:off x="1328824" y="1905842"/>
          <a:ext cx="47753" cy="123438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/>
          </a:solidFill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0.18376</cdr:x>
      <cdr:y>0.4401</cdr:y>
    </cdr:from>
    <cdr:to>
      <cdr:x>0.19143</cdr:x>
      <cdr:y>0.46867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4CC7CE8C-4649-F707-00B7-DB10ED4DDDC8}"/>
            </a:ext>
          </a:extLst>
        </cdr:cNvPr>
        <cdr:cNvCxnSpPr/>
      </cdr:nvCxnSpPr>
      <cdr:spPr>
        <a:xfrm xmlns:a="http://schemas.openxmlformats.org/drawingml/2006/main" flipH="1">
          <a:off x="1144093" y="1901483"/>
          <a:ext cx="47753" cy="123438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/>
          </a:solidFill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0.21344</cdr:x>
      <cdr:y>0.44111</cdr:y>
    </cdr:from>
    <cdr:to>
      <cdr:x>0.22111</cdr:x>
      <cdr:y>0.46968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19A3CDAB-A170-589E-0C17-5B8E43A22E92}"/>
            </a:ext>
          </a:extLst>
        </cdr:cNvPr>
        <cdr:cNvCxnSpPr/>
      </cdr:nvCxnSpPr>
      <cdr:spPr>
        <a:xfrm xmlns:a="http://schemas.openxmlformats.org/drawingml/2006/main">
          <a:off x="1328824" y="1905842"/>
          <a:ext cx="47753" cy="123438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/>
          </a:solidFill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0.18376</cdr:x>
      <cdr:y>0.4401</cdr:y>
    </cdr:from>
    <cdr:to>
      <cdr:x>0.19143</cdr:x>
      <cdr:y>0.46867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4CC7CE8C-4649-F707-00B7-DB10ED4DDDC8}"/>
            </a:ext>
          </a:extLst>
        </cdr:cNvPr>
        <cdr:cNvCxnSpPr/>
      </cdr:nvCxnSpPr>
      <cdr:spPr>
        <a:xfrm xmlns:a="http://schemas.openxmlformats.org/drawingml/2006/main" flipH="1">
          <a:off x="1144093" y="1901483"/>
          <a:ext cx="47753" cy="123438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/>
          </a:solidFill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0.21344</cdr:x>
      <cdr:y>0.44111</cdr:y>
    </cdr:from>
    <cdr:to>
      <cdr:x>0.22111</cdr:x>
      <cdr:y>0.46968</cdr:y>
    </cdr:to>
    <cdr:cxnSp macro="">
      <cdr:nvCxnSpPr>
        <cdr:cNvPr id="8" name="Straight Connector 7">
          <a:extLst xmlns:a="http://schemas.openxmlformats.org/drawingml/2006/main">
            <a:ext uri="{FF2B5EF4-FFF2-40B4-BE49-F238E27FC236}">
              <a16:creationId xmlns:a16="http://schemas.microsoft.com/office/drawing/2014/main" id="{19A3CDAB-A170-589E-0C17-5B8E43A22E92}"/>
            </a:ext>
          </a:extLst>
        </cdr:cNvPr>
        <cdr:cNvCxnSpPr/>
      </cdr:nvCxnSpPr>
      <cdr:spPr>
        <a:xfrm xmlns:a="http://schemas.openxmlformats.org/drawingml/2006/main">
          <a:off x="1328824" y="1905842"/>
          <a:ext cx="47753" cy="123438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/>
          </a:solidFill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24/09/2025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24/09/2025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AA51-A125-F14D-DDBB-F8F18A1C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D088A-BD29-0DB5-29D3-6669586E1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29FA1-447F-EE87-B31A-FC9F6F250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/>
              <a:t>Negative effects from External Factors are cancelled by the positive contribution of COVID Stringency index during FY’22. From FY’23 onwards, External Factors negative effects take a noticeable role in sales.</a:t>
            </a:r>
          </a:p>
          <a:p>
            <a:r>
              <a:rPr lang="en-US" noProof="0"/>
              <a:t>During FY’24, </a:t>
            </a:r>
            <a:r>
              <a:rPr lang="en-US" noProof="0" err="1"/>
              <a:t>Twinings</a:t>
            </a:r>
            <a:r>
              <a:rPr lang="en-US" noProof="0"/>
              <a:t> was less reliant on price discount strategies, limiting the contribution this effort takes in sales volume.</a:t>
            </a:r>
          </a:p>
          <a:p>
            <a:r>
              <a:rPr lang="en-US" noProof="0"/>
              <a:t>Media shows stronger contribution in FY’24 vs FY’23, some of this additional contribution can be attributed to ad stock effects from 2023 </a:t>
            </a:r>
            <a:r>
              <a:rPr lang="en-US" noProof="0" err="1"/>
              <a:t>Tealand</a:t>
            </a:r>
            <a:r>
              <a:rPr lang="en-US" noProof="0"/>
              <a:t> campaign.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AA847-51DF-C685-3533-3FBE837C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00C33-90AE-4963-9AD8-3B07939F57E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7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9580-EE80-7C6B-2D92-CFF98B30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15494-8323-957A-C913-5A4612B8E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8F2B1-91AA-3626-781A-BE341B067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/>
              <a:t>Negative effects from External Factors are cancelled by the positive contribution of COVID Stringency index during FY’22. From FY’23 onwards, External Factors negative effects take a noticeable role in sales.</a:t>
            </a:r>
          </a:p>
          <a:p>
            <a:r>
              <a:rPr lang="en-US" noProof="0"/>
              <a:t>During FY’24, </a:t>
            </a:r>
            <a:r>
              <a:rPr lang="en-US" noProof="0" err="1"/>
              <a:t>Twinings</a:t>
            </a:r>
            <a:r>
              <a:rPr lang="en-US" noProof="0"/>
              <a:t> was less reliant on price discount strategies, limiting the contribution this effort takes in sales volume.</a:t>
            </a:r>
          </a:p>
          <a:p>
            <a:r>
              <a:rPr lang="en-US" noProof="0"/>
              <a:t>Media shows stronger contribution in FY’24 vs FY’23, some of this additional contribution can be attributed to ad stock effects from 2023 </a:t>
            </a:r>
            <a:r>
              <a:rPr lang="en-US" noProof="0" err="1"/>
              <a:t>Tealand</a:t>
            </a:r>
            <a:r>
              <a:rPr lang="en-US" noProof="0"/>
              <a:t> campaign.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69E71-2A29-3AA9-45B5-23C5DC6DB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00C33-90AE-4963-9AD8-3B07939F57E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691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748B5-3AC4-82E8-AC1D-F9A17131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9B606-35E6-9FDE-E3CF-9EDC7EAF5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B8B78-24ED-F366-2973-D51D3EFB6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/>
              <a:t>Negative effects from External Factors are cancelled by the positive contribution of COVID Stringency index during FY’22. From FY’23 onwards, External Factors negative effects take a noticeable role in sales.</a:t>
            </a:r>
          </a:p>
          <a:p>
            <a:r>
              <a:rPr lang="en-US" noProof="0"/>
              <a:t>During FY’24, </a:t>
            </a:r>
            <a:r>
              <a:rPr lang="en-US" noProof="0" err="1"/>
              <a:t>Twinings</a:t>
            </a:r>
            <a:r>
              <a:rPr lang="en-US" noProof="0"/>
              <a:t> was less reliant on price discount strategies, limiting the contribution this effort takes in sales volume.</a:t>
            </a:r>
          </a:p>
          <a:p>
            <a:r>
              <a:rPr lang="en-US" noProof="0"/>
              <a:t>Media shows stronger contribution in FY’24 vs FY’23, some of this additional contribution can be attributed to ad stock effects from 2023 </a:t>
            </a:r>
            <a:r>
              <a:rPr lang="en-US" noProof="0" err="1"/>
              <a:t>Tealand</a:t>
            </a:r>
            <a:r>
              <a:rPr lang="en-US" noProof="0"/>
              <a:t> campaign.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94032-13BB-FC3C-6EFF-1AADA846E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00C33-90AE-4963-9AD8-3B07939F57E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547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00C33-90AE-4963-9AD8-3B07939F57E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28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00C33-90AE-4963-9AD8-3B07939F57E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776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f21ef3edc0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f21ef3edc0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21175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9757-5150-A052-63C6-AEAA035A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5B9CB-E071-AB12-7AE1-11107C9AF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E37E8-DB2E-3014-EE57-BFA7E692F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YouTube + Facebook + Instagram show </a:t>
            </a:r>
            <a:r>
              <a:rPr lang="es-ES" err="1"/>
              <a:t>signs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overspending</a:t>
            </a:r>
            <a:r>
              <a:rPr lang="es-ES"/>
              <a:t>, </a:t>
            </a:r>
            <a:r>
              <a:rPr lang="es-ES" err="1"/>
              <a:t>leading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lower</a:t>
            </a:r>
            <a:r>
              <a:rPr lang="es-ES"/>
              <a:t> ROI </a:t>
            </a:r>
            <a:r>
              <a:rPr lang="es-ES" err="1"/>
              <a:t>even</a:t>
            </a:r>
            <a:r>
              <a:rPr lang="es-ES"/>
              <a:t> </a:t>
            </a:r>
            <a:r>
              <a:rPr lang="es-ES" err="1"/>
              <a:t>if</a:t>
            </a:r>
            <a:r>
              <a:rPr lang="es-ES"/>
              <a:t> </a:t>
            </a:r>
            <a:r>
              <a:rPr lang="es-ES" err="1"/>
              <a:t>contribution</a:t>
            </a:r>
            <a:r>
              <a:rPr lang="es-ES"/>
              <a:t> </a:t>
            </a:r>
            <a:r>
              <a:rPr lang="es-ES" err="1"/>
              <a:t>is</a:t>
            </a:r>
            <a:r>
              <a:rPr lang="es-ES"/>
              <a:t> </a:t>
            </a:r>
            <a:r>
              <a:rPr lang="es-ES" err="1"/>
              <a:t>significant</a:t>
            </a:r>
            <a:r>
              <a:rPr lang="es-ES"/>
              <a:t>. </a:t>
            </a:r>
          </a:p>
          <a:p>
            <a:r>
              <a:rPr lang="es-ES"/>
              <a:t>A more diverse </a:t>
            </a:r>
            <a:r>
              <a:rPr lang="es-ES" err="1"/>
              <a:t>campaign</a:t>
            </a:r>
            <a:r>
              <a:rPr lang="es-ES"/>
              <a:t> </a:t>
            </a:r>
            <a:r>
              <a:rPr lang="es-ES" err="1"/>
              <a:t>exploits</a:t>
            </a:r>
            <a:r>
              <a:rPr lang="es-ES"/>
              <a:t> individual </a:t>
            </a:r>
            <a:r>
              <a:rPr lang="es-ES" err="1"/>
              <a:t>contributions</a:t>
            </a:r>
            <a:r>
              <a:rPr lang="es-ES"/>
              <a:t>. </a:t>
            </a:r>
            <a:r>
              <a:rPr lang="es-ES" err="1"/>
              <a:t>Reinvesting</a:t>
            </a:r>
            <a:r>
              <a:rPr lang="es-ES"/>
              <a:t> in Online Banners and OOH </a:t>
            </a:r>
            <a:r>
              <a:rPr lang="es-ES" err="1"/>
              <a:t>Large</a:t>
            </a:r>
            <a:r>
              <a:rPr lang="es-ES"/>
              <a:t> </a:t>
            </a:r>
            <a:r>
              <a:rPr lang="es-ES" err="1"/>
              <a:t>Format</a:t>
            </a:r>
            <a:r>
              <a:rPr lang="es-ES"/>
              <a:t> </a:t>
            </a:r>
            <a:r>
              <a:rPr lang="es-ES" err="1"/>
              <a:t>could</a:t>
            </a:r>
            <a:r>
              <a:rPr lang="es-ES"/>
              <a:t> </a:t>
            </a:r>
            <a:r>
              <a:rPr lang="es-ES" err="1"/>
              <a:t>bring</a:t>
            </a:r>
            <a:r>
              <a:rPr lang="es-ES"/>
              <a:t> </a:t>
            </a:r>
            <a:r>
              <a:rPr lang="es-ES" err="1"/>
              <a:t>additional</a:t>
            </a:r>
            <a:r>
              <a:rPr lang="es-ES"/>
              <a:t> volumen </a:t>
            </a:r>
            <a:r>
              <a:rPr lang="es-ES" err="1"/>
              <a:t>contribution</a:t>
            </a:r>
            <a:r>
              <a:rPr lang="es-ES"/>
              <a:t> </a:t>
            </a:r>
            <a:r>
              <a:rPr lang="es-ES" err="1"/>
              <a:t>we</a:t>
            </a:r>
            <a:r>
              <a:rPr lang="es-ES"/>
              <a:t> </a:t>
            </a:r>
            <a:r>
              <a:rPr lang="es-ES" err="1"/>
              <a:t>stopped</a:t>
            </a:r>
            <a:r>
              <a:rPr lang="es-ES"/>
              <a:t> </a:t>
            </a:r>
            <a:r>
              <a:rPr lang="es-ES" err="1"/>
              <a:t>capitalizing</a:t>
            </a:r>
            <a:r>
              <a:rPr lang="es-ES"/>
              <a:t> in FY’24. </a:t>
            </a:r>
          </a:p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18EDB-0D02-7EA2-8ADD-F829B01FA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00C33-90AE-4963-9AD8-3B07939F57E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768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20597-7226-4437-AEF1-3002EFB078EA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AB2D79-CBF3-274C-6ACC-765BC1294E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671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00C33-90AE-4963-9AD8-3B07939F57E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133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6.sv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710673B-DFE0-C4E1-E6ED-821F28BB7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273B47A-6213-AFD3-6939-AC9640593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01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32A-F9A4-4379-8F69-FA63BDFA2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7A58-42BF-4A47-A878-643A5CD2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Google Shape;12;p2">
            <a:extLst>
              <a:ext uri="{FF2B5EF4-FFF2-40B4-BE49-F238E27FC236}">
                <a16:creationId xmlns:a16="http://schemas.microsoft.com/office/drawing/2014/main" id="{9EE55DFD-630F-F343-393D-CA99EA075A9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48437" y="6391231"/>
            <a:ext cx="2175800" cy="207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5621F2-C03E-B69D-A873-6E04FBDFB6AD}"/>
              </a:ext>
            </a:extLst>
          </p:cNvPr>
          <p:cNvCxnSpPr>
            <a:cxnSpLocks/>
          </p:cNvCxnSpPr>
          <p:nvPr userDrawn="1"/>
        </p:nvCxnSpPr>
        <p:spPr>
          <a:xfrm>
            <a:off x="1589894" y="6403932"/>
            <a:ext cx="0" cy="21866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2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13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533400" y="303367"/>
            <a:ext cx="1104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"/>
          </p:nvPr>
        </p:nvSpPr>
        <p:spPr>
          <a:xfrm>
            <a:off x="533400" y="965200"/>
            <a:ext cx="110492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203200" y="6395700"/>
            <a:ext cx="609600" cy="2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67">
                <a:solidFill>
                  <a:srgbClr val="002041"/>
                </a:solidFill>
                <a:latin typeface="Inter"/>
                <a:ea typeface="Inter"/>
                <a:cs typeface="Inter"/>
                <a:sym typeface="Inter"/>
              </a:rPr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67">
              <a:solidFill>
                <a:srgbClr val="00204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2"/>
          </p:nvPr>
        </p:nvSpPr>
        <p:spPr>
          <a:xfrm>
            <a:off x="517200" y="6238700"/>
            <a:ext cx="11049200" cy="2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"/>
              <a:buNone/>
              <a:defRPr sz="667" b="0"/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94377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1_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533400" y="303367"/>
            <a:ext cx="1104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"/>
          </p:nvPr>
        </p:nvSpPr>
        <p:spPr>
          <a:xfrm>
            <a:off x="533400" y="965200"/>
            <a:ext cx="110492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203200" y="6395700"/>
            <a:ext cx="609600" cy="2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67">
                <a:solidFill>
                  <a:srgbClr val="002041"/>
                </a:solidFill>
                <a:latin typeface="Inter"/>
                <a:ea typeface="Inter"/>
                <a:cs typeface="Inter"/>
                <a:sym typeface="Inter"/>
              </a:rPr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67">
              <a:solidFill>
                <a:srgbClr val="00204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257532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64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5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5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7" r:id="rId39"/>
    <p:sldLayoutId id="2147483878" r:id="rId40"/>
    <p:sldLayoutId id="2147483880" r:id="rId41"/>
    <p:sldLayoutId id="2147483881" r:id="rId42"/>
    <p:sldLayoutId id="2147483882" r:id="rId4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3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6C89F2-BF79-DB0E-CE5D-3E395152C1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FDA27-1022-5A0D-276E-CB4E87E302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472AB-0EFD-B828-C33B-C48098EFE2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4BD86B4-F222-A5E4-8286-65ED1AE6A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03B59D-EA4B-8FEC-8788-34A2B4F9E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Mock up </a:t>
            </a:r>
            <a:r>
              <a:rPr lang="en-GB" dirty="0" err="1"/>
              <a:t>resultados</a:t>
            </a:r>
            <a:r>
              <a:rPr lang="en-GB" dirty="0"/>
              <a:t> </a:t>
            </a:r>
            <a:r>
              <a:rPr lang="en-GB" dirty="0" err="1"/>
              <a:t>modelo</a:t>
            </a:r>
            <a:r>
              <a:rPr lang="en-GB" dirty="0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E331D2-9DD8-F9CA-3773-5A504E5992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FA4ED-963F-1119-92F5-CC457D1AD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546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B8130-D157-4A24-849F-5F5D4093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21F07D7-C404-5DD8-C7B5-90880BDE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 by breaks L2 lenses</a:t>
            </a:r>
            <a:endParaRPr lang="es-E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C3DDB3-EB1E-6288-7537-0DE3441CEB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sz="1800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95F91B94-12B5-091B-F993-5D3404B83D7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812586580"/>
              </p:ext>
            </p:extLst>
          </p:nvPr>
        </p:nvGraphicFramePr>
        <p:xfrm>
          <a:off x="359999" y="1383682"/>
          <a:ext cx="11466000" cy="4533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4D9472-C195-6E18-0FD6-465C3E30F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sz="800" err="1"/>
              <a:t>Contribution</a:t>
            </a:r>
            <a:r>
              <a:rPr lang="es-ES" sz="800"/>
              <a:t> </a:t>
            </a:r>
            <a:r>
              <a:rPr lang="es-ES" sz="800" err="1"/>
              <a:t>percentage</a:t>
            </a:r>
            <a:r>
              <a:rPr lang="es-ES" sz="800"/>
              <a:t> </a:t>
            </a:r>
            <a:r>
              <a:rPr lang="es-ES" sz="800" err="1"/>
              <a:t>to</a:t>
            </a:r>
            <a:r>
              <a:rPr lang="es-ES" sz="800"/>
              <a:t> sales volumen </a:t>
            </a:r>
            <a:r>
              <a:rPr lang="es-ES" sz="800" err="1"/>
              <a:t>estimation</a:t>
            </a:r>
            <a:r>
              <a:rPr lang="es-ES" sz="800"/>
              <a:t>. Positive </a:t>
            </a:r>
            <a:r>
              <a:rPr lang="es-ES" sz="800" err="1"/>
              <a:t>contributions</a:t>
            </a:r>
            <a:r>
              <a:rPr lang="es-ES" sz="800"/>
              <a:t> </a:t>
            </a:r>
            <a:r>
              <a:rPr lang="es-ES" sz="800" err="1"/>
              <a:t>normalized</a:t>
            </a:r>
            <a:r>
              <a:rPr lang="es-ES" sz="800"/>
              <a:t> </a:t>
            </a:r>
            <a:r>
              <a:rPr lang="es-ES" sz="800" err="1"/>
              <a:t>to</a:t>
            </a:r>
            <a:r>
              <a:rPr lang="es-ES" sz="800"/>
              <a:t> 100%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E2A21-C845-755B-4F90-74B415F71AA1}"/>
              </a:ext>
            </a:extLst>
          </p:cNvPr>
          <p:cNvSpPr txBox="1"/>
          <p:nvPr/>
        </p:nvSpPr>
        <p:spPr>
          <a:xfrm flipH="1">
            <a:off x="3272400" y="6614472"/>
            <a:ext cx="51702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sz="800"/>
              <a:t>FY = </a:t>
            </a:r>
            <a:r>
              <a:rPr lang="es-ES" sz="800" err="1"/>
              <a:t>Twinings</a:t>
            </a:r>
            <a:r>
              <a:rPr lang="es-ES" sz="800"/>
              <a:t> Fiscal </a:t>
            </a:r>
            <a:r>
              <a:rPr lang="es-ES" sz="800" err="1"/>
              <a:t>Year</a:t>
            </a:r>
            <a:r>
              <a:rPr lang="es-ES" sz="800"/>
              <a:t> (</a:t>
            </a:r>
            <a:r>
              <a:rPr lang="es-ES" sz="800" err="1"/>
              <a:t>September</a:t>
            </a:r>
            <a:r>
              <a:rPr lang="es-ES" sz="800"/>
              <a:t> – August)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A8C50B-528C-9F99-5EFF-B5A1E3A68E1B}"/>
              </a:ext>
            </a:extLst>
          </p:cNvPr>
          <p:cNvSpPr txBox="1"/>
          <p:nvPr/>
        </p:nvSpPr>
        <p:spPr>
          <a:xfrm>
            <a:off x="359999" y="1383682"/>
            <a:ext cx="22725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ES" sz="1400" b="1" dirty="0" err="1"/>
              <a:t>Volume</a:t>
            </a:r>
            <a:r>
              <a:rPr lang="es-ES" sz="1400" b="1" dirty="0"/>
              <a:t> sales </a:t>
            </a:r>
            <a:r>
              <a:rPr lang="es-ES" sz="1400" b="1" dirty="0" err="1"/>
              <a:t>contribution</a:t>
            </a:r>
            <a:r>
              <a:rPr lang="es-ES" sz="1400" b="1" dirty="0"/>
              <a:t>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19C9296-95A5-5065-9605-0EBCA610F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21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AF7A-554C-8F69-3E2E-E63D2D375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4EB6E61-9796-1B00-134A-4E174B71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 by breaks – MEDIA BREAKDOWN</a:t>
            </a:r>
            <a:endParaRPr lang="es-E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9366B7-15BB-0843-7DD6-9C218CAB15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sz="1800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F174107-ACD1-327F-C4C6-12699B1A89F9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359999" y="1916618"/>
          <a:ext cx="11466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6ED7F5-02A1-A0FD-AB69-097E4504E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sz="800" err="1"/>
              <a:t>Contribution</a:t>
            </a:r>
            <a:r>
              <a:rPr lang="es-ES" sz="800"/>
              <a:t> </a:t>
            </a:r>
            <a:r>
              <a:rPr lang="es-ES" sz="800" err="1"/>
              <a:t>percentage</a:t>
            </a:r>
            <a:r>
              <a:rPr lang="es-ES" sz="800"/>
              <a:t> </a:t>
            </a:r>
            <a:r>
              <a:rPr lang="es-ES" sz="800" err="1"/>
              <a:t>to</a:t>
            </a:r>
            <a:r>
              <a:rPr lang="es-ES" sz="800"/>
              <a:t> sales volumen </a:t>
            </a:r>
            <a:r>
              <a:rPr lang="es-ES" sz="800" err="1"/>
              <a:t>estimation</a:t>
            </a:r>
            <a:r>
              <a:rPr lang="es-ES" sz="800"/>
              <a:t>. Positive </a:t>
            </a:r>
            <a:r>
              <a:rPr lang="es-ES" sz="800" err="1"/>
              <a:t>contributions</a:t>
            </a:r>
            <a:r>
              <a:rPr lang="es-ES" sz="800"/>
              <a:t> </a:t>
            </a:r>
            <a:r>
              <a:rPr lang="es-ES" sz="800" err="1"/>
              <a:t>normalized</a:t>
            </a:r>
            <a:r>
              <a:rPr lang="es-ES" sz="800"/>
              <a:t> </a:t>
            </a:r>
            <a:r>
              <a:rPr lang="es-ES" sz="800" err="1"/>
              <a:t>to</a:t>
            </a:r>
            <a:r>
              <a:rPr lang="es-ES" sz="800"/>
              <a:t> 100%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7E3AE-8CEA-1D29-4CE0-95EA72D204E0}"/>
              </a:ext>
            </a:extLst>
          </p:cNvPr>
          <p:cNvSpPr txBox="1"/>
          <p:nvPr/>
        </p:nvSpPr>
        <p:spPr>
          <a:xfrm flipH="1">
            <a:off x="3272400" y="6614472"/>
            <a:ext cx="51702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sz="800"/>
              <a:t>FY = </a:t>
            </a:r>
            <a:r>
              <a:rPr lang="es-ES" sz="800" err="1"/>
              <a:t>Twinings</a:t>
            </a:r>
            <a:r>
              <a:rPr lang="es-ES" sz="800"/>
              <a:t> Fiscal </a:t>
            </a:r>
            <a:r>
              <a:rPr lang="es-ES" sz="800" err="1"/>
              <a:t>Year</a:t>
            </a:r>
            <a:r>
              <a:rPr lang="es-ES" sz="800"/>
              <a:t> (</a:t>
            </a:r>
            <a:r>
              <a:rPr lang="es-ES" sz="800" err="1"/>
              <a:t>September</a:t>
            </a:r>
            <a:r>
              <a:rPr lang="es-ES" sz="800"/>
              <a:t> – August)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1A13B-455A-B912-EA49-A1A37F8D200D}"/>
              </a:ext>
            </a:extLst>
          </p:cNvPr>
          <p:cNvSpPr txBox="1"/>
          <p:nvPr/>
        </p:nvSpPr>
        <p:spPr>
          <a:xfrm>
            <a:off x="2286000" y="1890146"/>
            <a:ext cx="22725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ES" sz="1400" b="1" err="1"/>
              <a:t>Volume</a:t>
            </a:r>
            <a:r>
              <a:rPr lang="es-ES" sz="1400" b="1"/>
              <a:t> sales </a:t>
            </a:r>
            <a:r>
              <a:rPr lang="es-ES" sz="1400" b="1" err="1"/>
              <a:t>contribution</a:t>
            </a:r>
            <a:r>
              <a:rPr lang="es-ES" sz="1400" b="1"/>
              <a:t>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46B6A32-7733-DEB6-749E-EE42268ED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3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519F0-544F-4D6E-C736-478D223C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9EF36-8637-92F8-8B15-B8F95F3D47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9" name="Content Placeholder 9">
            <a:extLst>
              <a:ext uri="{FF2B5EF4-FFF2-40B4-BE49-F238E27FC236}">
                <a16:creationId xmlns:a16="http://schemas.microsoft.com/office/drawing/2014/main" id="{FC61BEED-4B8F-C1FC-2550-166A5870E8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437835"/>
              </p:ext>
            </p:extLst>
          </p:nvPr>
        </p:nvGraphicFramePr>
        <p:xfrm>
          <a:off x="457201" y="1917235"/>
          <a:ext cx="11614172" cy="3819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CAD5DDB-57EE-BD5B-7711-9C88CFDD718F}"/>
              </a:ext>
            </a:extLst>
          </p:cNvPr>
          <p:cNvSpPr txBox="1"/>
          <p:nvPr/>
        </p:nvSpPr>
        <p:spPr>
          <a:xfrm>
            <a:off x="8651150" y="5847835"/>
            <a:ext cx="3530768" cy="34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</a:rPr>
              <a:t>*Digital media helps in generating awareness</a:t>
            </a:r>
            <a:endParaRPr lang="en-GB" sz="1200">
              <a:solidFill>
                <a:schemeClr val="tx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95DE22A-8838-22D4-4F86-AC57A2CD1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E66C22C-373D-94E4-265F-80F54BD5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Media </a:t>
            </a:r>
            <a:r>
              <a:rPr lang="es-ES" dirty="0" err="1"/>
              <a:t>contribution</a:t>
            </a:r>
            <a:r>
              <a:rPr lang="es-ES" dirty="0"/>
              <a:t> L2 </a:t>
            </a:r>
            <a:r>
              <a:rPr lang="es-ES" dirty="0" err="1"/>
              <a:t>lens</a:t>
            </a:r>
            <a:endParaRPr lang="es-E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7A813C-3FC5-CB9E-164B-48C7899CD821}"/>
              </a:ext>
            </a:extLst>
          </p:cNvPr>
          <p:cNvSpPr txBox="1"/>
          <p:nvPr/>
        </p:nvSpPr>
        <p:spPr>
          <a:xfrm>
            <a:off x="4514850" y="1990725"/>
            <a:ext cx="4476750" cy="246221"/>
          </a:xfrm>
          <a:prstGeom prst="rect">
            <a:avLst/>
          </a:prstGeom>
          <a:solidFill>
            <a:schemeClr val="accent4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s-ES" sz="1600" dirty="0" err="1"/>
              <a:t>Isumo</a:t>
            </a:r>
            <a:r>
              <a:rPr lang="es-ES" sz="1600" dirty="0"/>
              <a:t> automatizado</a:t>
            </a:r>
          </a:p>
        </p:txBody>
      </p:sp>
    </p:spTree>
    <p:extLst>
      <p:ext uri="{BB962C8B-B14F-4D97-AF65-F5344CB8AC3E}">
        <p14:creationId xmlns:p14="http://schemas.microsoft.com/office/powerpoint/2010/main" val="33535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2E3A9-013B-239F-484D-CF26A8EA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FAF4C0D-BCD3-74BC-3454-1DD850BE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Contribution by breaks L2 lenses</a:t>
            </a:r>
            <a:endParaRPr lang="es-E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B874F2-A81E-16B7-6370-9704E02377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sz="1800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365A70FE-9956-9EC5-43BE-A148802E76F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336736264"/>
              </p:ext>
            </p:extLst>
          </p:nvPr>
        </p:nvGraphicFramePr>
        <p:xfrm>
          <a:off x="359998" y="1383682"/>
          <a:ext cx="4966145" cy="4533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6C962F9-CE02-72D9-D21F-AD1FC8AFC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sz="800" err="1"/>
              <a:t>Contribution</a:t>
            </a:r>
            <a:r>
              <a:rPr lang="es-ES" sz="800"/>
              <a:t> </a:t>
            </a:r>
            <a:r>
              <a:rPr lang="es-ES" sz="800" err="1"/>
              <a:t>percentage</a:t>
            </a:r>
            <a:r>
              <a:rPr lang="es-ES" sz="800"/>
              <a:t> </a:t>
            </a:r>
            <a:r>
              <a:rPr lang="es-ES" sz="800" err="1"/>
              <a:t>to</a:t>
            </a:r>
            <a:r>
              <a:rPr lang="es-ES" sz="800"/>
              <a:t> sales volumen </a:t>
            </a:r>
            <a:r>
              <a:rPr lang="es-ES" sz="800" err="1"/>
              <a:t>estimation</a:t>
            </a:r>
            <a:r>
              <a:rPr lang="es-ES" sz="800"/>
              <a:t>. Positive </a:t>
            </a:r>
            <a:r>
              <a:rPr lang="es-ES" sz="800" err="1"/>
              <a:t>contributions</a:t>
            </a:r>
            <a:r>
              <a:rPr lang="es-ES" sz="800"/>
              <a:t> </a:t>
            </a:r>
            <a:r>
              <a:rPr lang="es-ES" sz="800" err="1"/>
              <a:t>normalized</a:t>
            </a:r>
            <a:r>
              <a:rPr lang="es-ES" sz="800"/>
              <a:t> </a:t>
            </a:r>
            <a:r>
              <a:rPr lang="es-ES" sz="800" err="1"/>
              <a:t>to</a:t>
            </a:r>
            <a:r>
              <a:rPr lang="es-ES" sz="800"/>
              <a:t> 100%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9486E-267B-4C2F-9633-FE4489B610B6}"/>
              </a:ext>
            </a:extLst>
          </p:cNvPr>
          <p:cNvSpPr txBox="1"/>
          <p:nvPr/>
        </p:nvSpPr>
        <p:spPr>
          <a:xfrm flipH="1">
            <a:off x="3272400" y="6614472"/>
            <a:ext cx="51702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sz="800"/>
              <a:t>FY = </a:t>
            </a:r>
            <a:r>
              <a:rPr lang="es-ES" sz="800" err="1"/>
              <a:t>Twinings</a:t>
            </a:r>
            <a:r>
              <a:rPr lang="es-ES" sz="800"/>
              <a:t> Fiscal </a:t>
            </a:r>
            <a:r>
              <a:rPr lang="es-ES" sz="800" err="1"/>
              <a:t>Year</a:t>
            </a:r>
            <a:r>
              <a:rPr lang="es-ES" sz="800"/>
              <a:t> (</a:t>
            </a:r>
            <a:r>
              <a:rPr lang="es-ES" sz="800" err="1"/>
              <a:t>September</a:t>
            </a:r>
            <a:r>
              <a:rPr lang="es-ES" sz="800"/>
              <a:t> – August)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5331A6-CD34-6A56-64C1-1C38F37F63A9}"/>
              </a:ext>
            </a:extLst>
          </p:cNvPr>
          <p:cNvSpPr txBox="1"/>
          <p:nvPr/>
        </p:nvSpPr>
        <p:spPr>
          <a:xfrm>
            <a:off x="359999" y="1383682"/>
            <a:ext cx="5466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ES" sz="1400" b="1" dirty="0" err="1"/>
              <a:t>Spend</a:t>
            </a:r>
            <a:endParaRPr lang="es-ES" sz="1400" b="1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7EF091C-BD8C-5827-3AC2-C814005CF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2" name="Content Placeholder 12">
            <a:extLst>
              <a:ext uri="{FF2B5EF4-FFF2-40B4-BE49-F238E27FC236}">
                <a16:creationId xmlns:a16="http://schemas.microsoft.com/office/drawing/2014/main" id="{1B2C2992-00A4-B66B-BC55-B6ADAB1DD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0738868"/>
              </p:ext>
            </p:extLst>
          </p:nvPr>
        </p:nvGraphicFramePr>
        <p:xfrm>
          <a:off x="6668101" y="1476321"/>
          <a:ext cx="4966145" cy="4533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8480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7E05AC9-E889-AFFE-7D62-AC8041B3597C}"/>
              </a:ext>
            </a:extLst>
          </p:cNvPr>
          <p:cNvGrpSpPr/>
          <p:nvPr/>
        </p:nvGrpSpPr>
        <p:grpSpPr>
          <a:xfrm>
            <a:off x="160676" y="1105539"/>
            <a:ext cx="11666198" cy="2345110"/>
            <a:chOff x="160676" y="1105539"/>
            <a:chExt cx="11666198" cy="2345110"/>
          </a:xfrm>
        </p:grpSpPr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AE517777-175D-1F22-80E5-2C35D3C16348}"/>
                </a:ext>
              </a:extLst>
            </p:cNvPr>
            <p:cNvGraphicFramePr/>
            <p:nvPr/>
          </p:nvGraphicFramePr>
          <p:xfrm>
            <a:off x="1057275" y="1105539"/>
            <a:ext cx="10769599" cy="234511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1028EE-13D2-0242-64F8-2EAF4B2F51EC}"/>
                </a:ext>
              </a:extLst>
            </p:cNvPr>
            <p:cNvSpPr/>
            <p:nvPr/>
          </p:nvSpPr>
          <p:spPr bwMode="ltGray">
            <a:xfrm>
              <a:off x="160676" y="2211594"/>
              <a:ext cx="800557" cy="370401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SG" sz="1200" b="1">
                  <a:solidFill>
                    <a:schemeClr val="tx1"/>
                  </a:solidFill>
                </a:rPr>
                <a:t>(2021)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9999" y="430718"/>
            <a:ext cx="4497751" cy="403200"/>
          </a:xfrm>
        </p:spPr>
        <p:txBody>
          <a:bodyPr/>
          <a:lstStyle/>
          <a:p>
            <a:pPr algn="l"/>
            <a:r>
              <a:rPr lang="en-GB" sz="2000" dirty="0"/>
              <a:t>Direct and Equity Sales ROI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572079-9860-8249-FCB7-2EE006482D5E}"/>
              </a:ext>
            </a:extLst>
          </p:cNvPr>
          <p:cNvSpPr/>
          <p:nvPr/>
        </p:nvSpPr>
        <p:spPr bwMode="ltGray">
          <a:xfrm>
            <a:off x="160674" y="1468869"/>
            <a:ext cx="800557" cy="370401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SG" sz="1200" b="1">
                <a:solidFill>
                  <a:schemeClr val="tx1"/>
                </a:solidFill>
              </a:rPr>
              <a:t>ROIs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758D8D-F14C-4173-DB7A-968345374328}"/>
              </a:ext>
            </a:extLst>
          </p:cNvPr>
          <p:cNvGrpSpPr/>
          <p:nvPr/>
        </p:nvGrpSpPr>
        <p:grpSpPr>
          <a:xfrm>
            <a:off x="160675" y="2582628"/>
            <a:ext cx="11666199" cy="2340000"/>
            <a:chOff x="160675" y="2690597"/>
            <a:chExt cx="11666199" cy="2340000"/>
          </a:xfrm>
        </p:grpSpPr>
        <p:graphicFrame>
          <p:nvGraphicFramePr>
            <p:cNvPr id="14" name="Chart 13">
              <a:extLst>
                <a:ext uri="{FF2B5EF4-FFF2-40B4-BE49-F238E27FC236}">
                  <a16:creationId xmlns:a16="http://schemas.microsoft.com/office/drawing/2014/main" id="{A232CC42-15DB-AB6C-D781-9389F3C72693}"/>
                </a:ext>
              </a:extLst>
            </p:cNvPr>
            <p:cNvGraphicFramePr/>
            <p:nvPr/>
          </p:nvGraphicFramePr>
          <p:xfrm>
            <a:off x="1057275" y="2690597"/>
            <a:ext cx="10769599" cy="234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1108FB-0FE7-5157-CB37-2C532BB29F31}"/>
                </a:ext>
              </a:extLst>
            </p:cNvPr>
            <p:cNvSpPr/>
            <p:nvPr/>
          </p:nvSpPr>
          <p:spPr bwMode="ltGray">
            <a:xfrm>
              <a:off x="160675" y="3805013"/>
              <a:ext cx="800557" cy="370401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SG" sz="1200" b="1">
                  <a:solidFill>
                    <a:schemeClr val="tx1"/>
                  </a:solidFill>
                </a:rPr>
                <a:t>(2022)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6B2F125-27FA-862E-03B6-FDB0BF37A17C}"/>
              </a:ext>
            </a:extLst>
          </p:cNvPr>
          <p:cNvGrpSpPr/>
          <p:nvPr/>
        </p:nvGrpSpPr>
        <p:grpSpPr>
          <a:xfrm>
            <a:off x="160674" y="4054608"/>
            <a:ext cx="11666200" cy="2340000"/>
            <a:chOff x="160674" y="4054608"/>
            <a:chExt cx="11666200" cy="2340000"/>
          </a:xfrm>
        </p:grpSpPr>
        <p:graphicFrame>
          <p:nvGraphicFramePr>
            <p:cNvPr id="2" name="Chart 1">
              <a:extLst>
                <a:ext uri="{FF2B5EF4-FFF2-40B4-BE49-F238E27FC236}">
                  <a16:creationId xmlns:a16="http://schemas.microsoft.com/office/drawing/2014/main" id="{4E256BE1-450D-5735-9C0E-25CDCE42FD7A}"/>
                </a:ext>
              </a:extLst>
            </p:cNvPr>
            <p:cNvGraphicFramePr/>
            <p:nvPr/>
          </p:nvGraphicFramePr>
          <p:xfrm>
            <a:off x="1057275" y="4054608"/>
            <a:ext cx="10769599" cy="234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3821A8-38A8-EA50-21EB-B83F943812DB}"/>
                </a:ext>
              </a:extLst>
            </p:cNvPr>
            <p:cNvSpPr/>
            <p:nvPr/>
          </p:nvSpPr>
          <p:spPr bwMode="ltGray">
            <a:xfrm>
              <a:off x="160674" y="5162732"/>
              <a:ext cx="800557" cy="370401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SG" sz="1200" b="1">
                  <a:solidFill>
                    <a:schemeClr val="tx1"/>
                  </a:solidFill>
                </a:rPr>
                <a:t>Jan – Jul’23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588D2F1-863F-E4CF-0FAD-15B60A3D78D7}"/>
              </a:ext>
            </a:extLst>
          </p:cNvPr>
          <p:cNvGraphicFramePr>
            <a:graphicFrameLocks noGrp="1"/>
          </p:cNvGraphicFramePr>
          <p:nvPr/>
        </p:nvGraphicFramePr>
        <p:xfrm>
          <a:off x="1266092" y="2812905"/>
          <a:ext cx="10239271" cy="243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159">
                  <a:extLst>
                    <a:ext uri="{9D8B030D-6E8A-4147-A177-3AD203B41FA5}">
                      <a16:colId xmlns:a16="http://schemas.microsoft.com/office/drawing/2014/main" val="135547437"/>
                    </a:ext>
                  </a:extLst>
                </a:gridCol>
                <a:gridCol w="1111355">
                  <a:extLst>
                    <a:ext uri="{9D8B030D-6E8A-4147-A177-3AD203B41FA5}">
                      <a16:colId xmlns:a16="http://schemas.microsoft.com/office/drawing/2014/main" val="894914696"/>
                    </a:ext>
                  </a:extLst>
                </a:gridCol>
                <a:gridCol w="1470204">
                  <a:extLst>
                    <a:ext uri="{9D8B030D-6E8A-4147-A177-3AD203B41FA5}">
                      <a16:colId xmlns:a16="http://schemas.microsoft.com/office/drawing/2014/main" val="2333016256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3007824779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2070545408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2271758127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1911346858"/>
                    </a:ext>
                  </a:extLst>
                </a:gridCol>
                <a:gridCol w="1636624">
                  <a:extLst>
                    <a:ext uri="{9D8B030D-6E8A-4147-A177-3AD203B41FA5}">
                      <a16:colId xmlns:a16="http://schemas.microsoft.com/office/drawing/2014/main" val="1868005169"/>
                    </a:ext>
                  </a:extLst>
                </a:gridCol>
                <a:gridCol w="627893">
                  <a:extLst>
                    <a:ext uri="{9D8B030D-6E8A-4147-A177-3AD203B41FA5}">
                      <a16:colId xmlns:a16="http://schemas.microsoft.com/office/drawing/2014/main" val="128422572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SG" sz="1000" b="1"/>
                        <a:t>% Spends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dirty="0"/>
                        <a:t>            </a:t>
                      </a:r>
                      <a:r>
                        <a:rPr lang="en-SG" sz="1000" b="1" dirty="0"/>
                        <a:t>62%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1"/>
                        <a:t>10%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4%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 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      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SG" sz="1000" b="1" dirty="0"/>
                        <a:t>  10%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99617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D77FA3A-0F9C-76AA-18DB-B8B8207390CB}"/>
              </a:ext>
            </a:extLst>
          </p:cNvPr>
          <p:cNvGraphicFramePr>
            <a:graphicFrameLocks noGrp="1"/>
          </p:cNvGraphicFramePr>
          <p:nvPr/>
        </p:nvGraphicFramePr>
        <p:xfrm>
          <a:off x="1266092" y="4289994"/>
          <a:ext cx="10239271" cy="243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159">
                  <a:extLst>
                    <a:ext uri="{9D8B030D-6E8A-4147-A177-3AD203B41FA5}">
                      <a16:colId xmlns:a16="http://schemas.microsoft.com/office/drawing/2014/main" val="135547437"/>
                    </a:ext>
                  </a:extLst>
                </a:gridCol>
                <a:gridCol w="1111355">
                  <a:extLst>
                    <a:ext uri="{9D8B030D-6E8A-4147-A177-3AD203B41FA5}">
                      <a16:colId xmlns:a16="http://schemas.microsoft.com/office/drawing/2014/main" val="894914696"/>
                    </a:ext>
                  </a:extLst>
                </a:gridCol>
                <a:gridCol w="1470204">
                  <a:extLst>
                    <a:ext uri="{9D8B030D-6E8A-4147-A177-3AD203B41FA5}">
                      <a16:colId xmlns:a16="http://schemas.microsoft.com/office/drawing/2014/main" val="2333016256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3007824779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2070545408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2271758127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1911346858"/>
                    </a:ext>
                  </a:extLst>
                </a:gridCol>
                <a:gridCol w="1636624">
                  <a:extLst>
                    <a:ext uri="{9D8B030D-6E8A-4147-A177-3AD203B41FA5}">
                      <a16:colId xmlns:a16="http://schemas.microsoft.com/office/drawing/2014/main" val="1868005169"/>
                    </a:ext>
                  </a:extLst>
                </a:gridCol>
                <a:gridCol w="627893">
                  <a:extLst>
                    <a:ext uri="{9D8B030D-6E8A-4147-A177-3AD203B41FA5}">
                      <a16:colId xmlns:a16="http://schemas.microsoft.com/office/drawing/2014/main" val="128422572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SG" sz="1000" b="1"/>
                        <a:t>% Spends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     </a:t>
                      </a:r>
                      <a:r>
                        <a:rPr lang="en-SG" sz="1000" b="1"/>
                        <a:t>33%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10%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1"/>
                        <a:t>9%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</a:t>
                      </a:r>
                      <a:r>
                        <a:rPr lang="en-SG" sz="1000" b="1"/>
                        <a:t>12%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 1%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      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SG" sz="1000" b="1"/>
                        <a:t>  15%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99617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8A59486-58B6-A7E6-162A-7E57159DC530}"/>
              </a:ext>
            </a:extLst>
          </p:cNvPr>
          <p:cNvGraphicFramePr>
            <a:graphicFrameLocks noGrp="1"/>
          </p:cNvGraphicFramePr>
          <p:nvPr/>
        </p:nvGraphicFramePr>
        <p:xfrm>
          <a:off x="1266092" y="5788068"/>
          <a:ext cx="10239271" cy="243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159">
                  <a:extLst>
                    <a:ext uri="{9D8B030D-6E8A-4147-A177-3AD203B41FA5}">
                      <a16:colId xmlns:a16="http://schemas.microsoft.com/office/drawing/2014/main" val="135547437"/>
                    </a:ext>
                  </a:extLst>
                </a:gridCol>
                <a:gridCol w="1111355">
                  <a:extLst>
                    <a:ext uri="{9D8B030D-6E8A-4147-A177-3AD203B41FA5}">
                      <a16:colId xmlns:a16="http://schemas.microsoft.com/office/drawing/2014/main" val="894914696"/>
                    </a:ext>
                  </a:extLst>
                </a:gridCol>
                <a:gridCol w="1470204">
                  <a:extLst>
                    <a:ext uri="{9D8B030D-6E8A-4147-A177-3AD203B41FA5}">
                      <a16:colId xmlns:a16="http://schemas.microsoft.com/office/drawing/2014/main" val="2333016256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3007824779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2070545408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2271758127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1911346858"/>
                    </a:ext>
                  </a:extLst>
                </a:gridCol>
                <a:gridCol w="1636624">
                  <a:extLst>
                    <a:ext uri="{9D8B030D-6E8A-4147-A177-3AD203B41FA5}">
                      <a16:colId xmlns:a16="http://schemas.microsoft.com/office/drawing/2014/main" val="1868005169"/>
                    </a:ext>
                  </a:extLst>
                </a:gridCol>
                <a:gridCol w="627893">
                  <a:extLst>
                    <a:ext uri="{9D8B030D-6E8A-4147-A177-3AD203B41FA5}">
                      <a16:colId xmlns:a16="http://schemas.microsoft.com/office/drawing/2014/main" val="128422572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SG" sz="1000" b="1"/>
                        <a:t>% Spends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     </a:t>
                      </a:r>
                      <a:r>
                        <a:rPr lang="en-SG" sz="1000" b="1"/>
                        <a:t>27%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7%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0"/>
                        <a:t>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</a:t>
                      </a:r>
                      <a:r>
                        <a:rPr lang="en-SG" sz="1000" b="1"/>
                        <a:t>10%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 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         </a:t>
                      </a:r>
                      <a:r>
                        <a:rPr lang="en-SG" sz="1000" b="1"/>
                        <a:t>15%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    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SG" sz="1000" b="1"/>
                        <a:t>  23%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99617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496A1AD-736F-057C-C541-00655DB7CF77}"/>
              </a:ext>
            </a:extLst>
          </p:cNvPr>
          <p:cNvSpPr txBox="1"/>
          <p:nvPr/>
        </p:nvSpPr>
        <p:spPr>
          <a:xfrm rot="20866277">
            <a:off x="3450831" y="2956964"/>
            <a:ext cx="5768502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333333">
                    <a:alpha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ILLUSTRATION ONLY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8576E9-BC36-1622-9674-F105A70E1402}"/>
              </a:ext>
            </a:extLst>
          </p:cNvPr>
          <p:cNvSpPr/>
          <p:nvPr/>
        </p:nvSpPr>
        <p:spPr bwMode="ltGray">
          <a:xfrm>
            <a:off x="10566672" y="-154"/>
            <a:ext cx="1625328" cy="30988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SG" sz="1200" b="1" dirty="0" err="1"/>
              <a:t>L’Oreal</a:t>
            </a:r>
            <a:r>
              <a:rPr lang="en-SG" sz="1200" b="1" dirty="0"/>
              <a:t>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C2B4A-EE22-0FE2-8AED-9781D7E1D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70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3836-7E8A-EA09-5A48-2B786516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D046-3ACE-9109-801A-C4019830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Media performance analysis 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597EF-E928-F66F-40A5-69F1BE29C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214155"/>
            <a:ext cx="7055875" cy="198000"/>
          </a:xfrm>
        </p:spPr>
        <p:txBody>
          <a:bodyPr/>
          <a:lstStyle/>
          <a:p>
            <a:r>
              <a:rPr lang="en-GB"/>
              <a:t>Media contribution in FY’24 for Online Banners and OOH Large Format is the ad stock effect that is present after the campaign ended. </a:t>
            </a:r>
          </a:p>
          <a:p>
            <a:r>
              <a:rPr lang="en-GB"/>
              <a:t>Ad stock affects FY’2024 ROI and Contribution/Spend Index as they consider effects from the 2023 media campaign. 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ACEF2693-27F5-8DC0-7957-7B8BD848A4D7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138355" y="1756851"/>
          <a:ext cx="2912401" cy="4335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ontent Placeholder 18">
            <a:extLst>
              <a:ext uri="{FF2B5EF4-FFF2-40B4-BE49-F238E27FC236}">
                <a16:creationId xmlns:a16="http://schemas.microsoft.com/office/drawing/2014/main" id="{42C7B467-3519-6B1F-EC77-B16CC21A652B}"/>
              </a:ext>
            </a:extLst>
          </p:cNvPr>
          <p:cNvGraphicFramePr>
            <a:graphicFrameLocks/>
          </p:cNvGraphicFramePr>
          <p:nvPr/>
        </p:nvGraphicFramePr>
        <p:xfrm>
          <a:off x="3049595" y="1756851"/>
          <a:ext cx="2912401" cy="4335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ontent Placeholder 18">
            <a:extLst>
              <a:ext uri="{FF2B5EF4-FFF2-40B4-BE49-F238E27FC236}">
                <a16:creationId xmlns:a16="http://schemas.microsoft.com/office/drawing/2014/main" id="{F02F9B99-CB43-0EF8-E6B4-5EF2403207E7}"/>
              </a:ext>
            </a:extLst>
          </p:cNvPr>
          <p:cNvGraphicFramePr>
            <a:graphicFrameLocks/>
          </p:cNvGraphicFramePr>
          <p:nvPr/>
        </p:nvGraphicFramePr>
        <p:xfrm>
          <a:off x="5960835" y="1756851"/>
          <a:ext cx="2912401" cy="4335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ontent Placeholder 18">
            <a:extLst>
              <a:ext uri="{FF2B5EF4-FFF2-40B4-BE49-F238E27FC236}">
                <a16:creationId xmlns:a16="http://schemas.microsoft.com/office/drawing/2014/main" id="{1E22C3BB-9986-1F7F-4B45-A436D942AD5B}"/>
              </a:ext>
            </a:extLst>
          </p:cNvPr>
          <p:cNvGraphicFramePr>
            <a:graphicFrameLocks/>
          </p:cNvGraphicFramePr>
          <p:nvPr/>
        </p:nvGraphicFramePr>
        <p:xfrm>
          <a:off x="8872074" y="1756851"/>
          <a:ext cx="2912401" cy="4335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3A6CAC-8198-5A9D-8E37-69FD12BFC401}"/>
              </a:ext>
            </a:extLst>
          </p:cNvPr>
          <p:cNvCxnSpPr/>
          <p:nvPr/>
        </p:nvCxnSpPr>
        <p:spPr>
          <a:xfrm>
            <a:off x="7813040" y="2226495"/>
            <a:ext cx="0" cy="347472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E1AAC8-4BE5-5DE4-869F-89A341712B8C}"/>
              </a:ext>
            </a:extLst>
          </p:cNvPr>
          <p:cNvSpPr txBox="1"/>
          <p:nvPr/>
        </p:nvSpPr>
        <p:spPr>
          <a:xfrm flipH="1">
            <a:off x="3272400" y="6438627"/>
            <a:ext cx="51702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sz="800"/>
              <a:t>FY = </a:t>
            </a:r>
            <a:r>
              <a:rPr lang="es-ES" sz="800" err="1"/>
              <a:t>Twinings</a:t>
            </a:r>
            <a:r>
              <a:rPr lang="es-ES" sz="800"/>
              <a:t> Fiscal </a:t>
            </a:r>
            <a:r>
              <a:rPr lang="es-ES" sz="800" err="1"/>
              <a:t>Year</a:t>
            </a:r>
            <a:r>
              <a:rPr lang="es-ES" sz="800"/>
              <a:t> (</a:t>
            </a:r>
            <a:r>
              <a:rPr lang="es-ES" sz="800" err="1"/>
              <a:t>September</a:t>
            </a:r>
            <a:r>
              <a:rPr lang="es-ES" sz="800"/>
              <a:t> – August)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1F1B172-423D-B9FC-A3CE-33D221FCA715}"/>
              </a:ext>
            </a:extLst>
          </p:cNvPr>
          <p:cNvSpPr/>
          <p:nvPr/>
        </p:nvSpPr>
        <p:spPr bwMode="ltGray">
          <a:xfrm>
            <a:off x="8813508" y="4461630"/>
            <a:ext cx="129686" cy="152400"/>
          </a:xfrm>
          <a:prstGeom prst="diamond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err="1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90503046-760B-38A1-BD3E-CBF92DCFFDB0}"/>
              </a:ext>
            </a:extLst>
          </p:cNvPr>
          <p:cNvSpPr/>
          <p:nvPr/>
        </p:nvSpPr>
        <p:spPr bwMode="ltGray">
          <a:xfrm>
            <a:off x="11863434" y="4461630"/>
            <a:ext cx="129686" cy="152400"/>
          </a:xfrm>
          <a:prstGeom prst="diamond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err="1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A217F9AC-5F68-EE3B-1C6F-3829E661E136}"/>
              </a:ext>
            </a:extLst>
          </p:cNvPr>
          <p:cNvSpPr/>
          <p:nvPr/>
        </p:nvSpPr>
        <p:spPr bwMode="ltGray">
          <a:xfrm>
            <a:off x="3122032" y="6312580"/>
            <a:ext cx="129686" cy="152400"/>
          </a:xfrm>
          <a:prstGeom prst="diamond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err="1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F7E228C-353A-23DA-68AB-96C73D400846}"/>
              </a:ext>
            </a:extLst>
          </p:cNvPr>
          <p:cNvSpPr/>
          <p:nvPr/>
        </p:nvSpPr>
        <p:spPr bwMode="ltGray">
          <a:xfrm>
            <a:off x="8813508" y="3811455"/>
            <a:ext cx="129686" cy="152400"/>
          </a:xfrm>
          <a:prstGeom prst="diamond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err="1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41D0CCE5-D04D-51D1-03C2-CA3979180A20}"/>
              </a:ext>
            </a:extLst>
          </p:cNvPr>
          <p:cNvSpPr/>
          <p:nvPr/>
        </p:nvSpPr>
        <p:spPr bwMode="ltGray">
          <a:xfrm>
            <a:off x="11863434" y="3811455"/>
            <a:ext cx="129686" cy="152400"/>
          </a:xfrm>
          <a:prstGeom prst="diamond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err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E632E8-64F8-7E30-630D-BDB504DB0E9C}"/>
              </a:ext>
            </a:extLst>
          </p:cNvPr>
          <p:cNvSpPr/>
          <p:nvPr/>
        </p:nvSpPr>
        <p:spPr>
          <a:xfrm>
            <a:off x="3186875" y="6635894"/>
            <a:ext cx="5726325" cy="159570"/>
          </a:xfrm>
          <a:prstGeom prst="rect">
            <a:avLst/>
          </a:prstGeom>
        </p:spPr>
        <p:txBody>
          <a:bodyPr rtlCol="0" anchor="ctr"/>
          <a:lstStyle/>
          <a:p>
            <a:r>
              <a:rPr lang="en-GB" sz="800" b="1"/>
              <a:t>*Source</a:t>
            </a:r>
            <a:r>
              <a:rPr lang="en-GB" sz="800"/>
              <a:t>: </a:t>
            </a:r>
            <a:r>
              <a:rPr lang="nl-BE" sz="800"/>
              <a:t>Global ST-LT MROI benchmark</a:t>
            </a:r>
            <a:r>
              <a:rPr lang="es-MX" sz="800"/>
              <a:t> </a:t>
            </a:r>
            <a:r>
              <a:rPr lang="en-US" sz="800"/>
              <a:t>- Global, all categories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FBC243D-DD0E-7748-336F-BFACD10CE99B}"/>
              </a:ext>
            </a:extLst>
          </p:cNvPr>
          <p:cNvGraphicFramePr>
            <a:graphicFrameLocks noGrp="1"/>
          </p:cNvGraphicFramePr>
          <p:nvPr/>
        </p:nvGraphicFramePr>
        <p:xfrm>
          <a:off x="9486261" y="339300"/>
          <a:ext cx="2705739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5152">
                  <a:extLst>
                    <a:ext uri="{9D8B030D-6E8A-4147-A177-3AD203B41FA5}">
                      <a16:colId xmlns:a16="http://schemas.microsoft.com/office/drawing/2014/main" val="2275048184"/>
                    </a:ext>
                  </a:extLst>
                </a:gridCol>
                <a:gridCol w="990587">
                  <a:extLst>
                    <a:ext uri="{9D8B030D-6E8A-4147-A177-3AD203B41FA5}">
                      <a16:colId xmlns:a16="http://schemas.microsoft.com/office/drawing/2014/main" val="310086973"/>
                    </a:ext>
                  </a:extLst>
                </a:gridCol>
              </a:tblGrid>
              <a:tr h="186894">
                <a:tc>
                  <a:txBody>
                    <a:bodyPr/>
                    <a:lstStyle/>
                    <a:p>
                      <a:pPr algn="l"/>
                      <a:r>
                        <a:rPr lang="es-MX" sz="900" b="1"/>
                        <a:t>Media</a:t>
                      </a:r>
                      <a:endParaRPr lang="en-GB" sz="900" b="1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900" b="1"/>
                        <a:t>ROI</a:t>
                      </a:r>
                      <a:endParaRPr lang="en-GB" sz="900" b="1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967999"/>
                  </a:ext>
                </a:extLst>
              </a:tr>
              <a:tr h="186894">
                <a:tc>
                  <a:txBody>
                    <a:bodyPr/>
                    <a:lstStyle/>
                    <a:p>
                      <a:pPr algn="l"/>
                      <a:r>
                        <a:rPr lang="es-MX" sz="900"/>
                        <a:t>Social Media</a:t>
                      </a:r>
                      <a:endParaRPr lang="en-GB" sz="9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900"/>
                        <a:t>2.6</a:t>
                      </a:r>
                      <a:endParaRPr lang="en-GB" sz="9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7274395"/>
                  </a:ext>
                </a:extLst>
              </a:tr>
              <a:tr h="186894">
                <a:tc>
                  <a:txBody>
                    <a:bodyPr/>
                    <a:lstStyle/>
                    <a:p>
                      <a:pPr algn="l"/>
                      <a:r>
                        <a:rPr lang="es-MX" sz="900"/>
                        <a:t>Search</a:t>
                      </a: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900"/>
                        <a:t>2.3</a:t>
                      </a: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438227"/>
                  </a:ext>
                </a:extLst>
              </a:tr>
              <a:tr h="186894">
                <a:tc>
                  <a:txBody>
                    <a:bodyPr/>
                    <a:lstStyle/>
                    <a:p>
                      <a:pPr algn="l"/>
                      <a:r>
                        <a:rPr lang="es-MX" sz="900"/>
                        <a:t>Online Banners</a:t>
                      </a: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900"/>
                        <a:t>3.1</a:t>
                      </a: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823937"/>
                  </a:ext>
                </a:extLst>
              </a:tr>
              <a:tr h="186894">
                <a:tc>
                  <a:txBody>
                    <a:bodyPr/>
                    <a:lstStyle/>
                    <a:p>
                      <a:pPr algn="l"/>
                      <a:r>
                        <a:rPr lang="es-MX" sz="900"/>
                        <a:t>OOH</a:t>
                      </a: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900"/>
                        <a:t>3.1</a:t>
                      </a: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16763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66E1029-43A1-AA94-1F4E-5D66FF42767B}"/>
              </a:ext>
            </a:extLst>
          </p:cNvPr>
          <p:cNvSpPr txBox="1"/>
          <p:nvPr/>
        </p:nvSpPr>
        <p:spPr>
          <a:xfrm>
            <a:off x="9486261" y="39328"/>
            <a:ext cx="2872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900"/>
              <a:t>Benchmarks* Return</a:t>
            </a:r>
            <a:r>
              <a:rPr lang="nl-BE" sz="900" baseline="0"/>
              <a:t> on Investment per Media</a:t>
            </a:r>
            <a:endParaRPr lang="en-GB" sz="90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00FCBD-6C9F-BA12-17C6-0026F77F3553}"/>
              </a:ext>
            </a:extLst>
          </p:cNvPr>
          <p:cNvSpPr/>
          <p:nvPr/>
        </p:nvSpPr>
        <p:spPr bwMode="ltGray">
          <a:xfrm>
            <a:off x="296029" y="2835298"/>
            <a:ext cx="11757616" cy="1351781"/>
          </a:xfrm>
          <a:prstGeom prst="rect">
            <a:avLst/>
          </a:prstGeom>
          <a:noFill/>
          <a:ln w="12700"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MX" sz="1600" b="0" err="1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3511794-2BE5-38BC-C76C-236084C71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41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9C15-7AA5-855F-9658-D08D6471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Campaign</a:t>
            </a:r>
            <a:r>
              <a:rPr lang="es-ES"/>
              <a:t> </a:t>
            </a:r>
            <a:r>
              <a:rPr lang="es-ES" err="1"/>
              <a:t>results</a:t>
            </a:r>
            <a:r>
              <a:rPr lang="es-ES"/>
              <a:t> – Global </a:t>
            </a:r>
            <a:r>
              <a:rPr lang="es-ES" err="1"/>
              <a:t>Twinings</a:t>
            </a:r>
            <a:r>
              <a:rPr lang="es-ES"/>
              <a:t> </a:t>
            </a:r>
            <a:r>
              <a:rPr lang="es-ES" err="1"/>
              <a:t>guideline</a:t>
            </a:r>
            <a:r>
              <a:rPr lang="es-ES"/>
              <a:t> </a:t>
            </a:r>
            <a:r>
              <a:rPr lang="es-ES" err="1"/>
              <a:t>breakdown</a:t>
            </a:r>
            <a:r>
              <a:rPr lang="es-ES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6CD48-13D7-10C2-119B-175B1272B8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96BCD18-DC69-7FCB-1D1F-94214B8D9C7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538913631"/>
              </p:ext>
            </p:extLst>
          </p:nvPr>
        </p:nvGraphicFramePr>
        <p:xfrm>
          <a:off x="359998" y="1648341"/>
          <a:ext cx="5490993" cy="36712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7209">
                  <a:extLst>
                    <a:ext uri="{9D8B030D-6E8A-4147-A177-3AD203B41FA5}">
                      <a16:colId xmlns:a16="http://schemas.microsoft.com/office/drawing/2014/main" val="3069419641"/>
                    </a:ext>
                  </a:extLst>
                </a:gridCol>
                <a:gridCol w="928446">
                  <a:extLst>
                    <a:ext uri="{9D8B030D-6E8A-4147-A177-3AD203B41FA5}">
                      <a16:colId xmlns:a16="http://schemas.microsoft.com/office/drawing/2014/main" val="3312346754"/>
                    </a:ext>
                  </a:extLst>
                </a:gridCol>
                <a:gridCol w="928446">
                  <a:extLst>
                    <a:ext uri="{9D8B030D-6E8A-4147-A177-3AD203B41FA5}">
                      <a16:colId xmlns:a16="http://schemas.microsoft.com/office/drawing/2014/main" val="975626041"/>
                    </a:ext>
                  </a:extLst>
                </a:gridCol>
                <a:gridCol w="928446">
                  <a:extLst>
                    <a:ext uri="{9D8B030D-6E8A-4147-A177-3AD203B41FA5}">
                      <a16:colId xmlns:a16="http://schemas.microsoft.com/office/drawing/2014/main" val="3512021272"/>
                    </a:ext>
                  </a:extLst>
                </a:gridCol>
                <a:gridCol w="928446">
                  <a:extLst>
                    <a:ext uri="{9D8B030D-6E8A-4147-A177-3AD203B41FA5}">
                      <a16:colId xmlns:a16="http://schemas.microsoft.com/office/drawing/2014/main" val="408962625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>
                          <a:effectLst/>
                          <a:latin typeface="+mn-lt"/>
                        </a:rPr>
                        <a:t>Contribution </a:t>
                      </a:r>
                    </a:p>
                    <a:p>
                      <a:pPr algn="ctr" fontAlgn="b"/>
                      <a:r>
                        <a:rPr lang="en-US" sz="1000" b="1" u="none" strike="noStrike">
                          <a:effectLst/>
                          <a:latin typeface="+mn-lt"/>
                        </a:rPr>
                        <a:t>(KG)</a:t>
                      </a:r>
                    </a:p>
                  </a:txBody>
                  <a:tcPr marL="9620" marR="962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>
                          <a:effectLst/>
                          <a:latin typeface="+mn-lt"/>
                        </a:rPr>
                        <a:t>Contribution </a:t>
                      </a:r>
                    </a:p>
                    <a:p>
                      <a:pPr algn="ctr" fontAlgn="b"/>
                      <a:r>
                        <a:rPr lang="en-US" sz="1000" b="1" u="none" strike="noStrike">
                          <a:effectLst/>
                          <a:latin typeface="+mn-lt"/>
                        </a:rPr>
                        <a:t>(CLP)</a:t>
                      </a:r>
                    </a:p>
                  </a:txBody>
                  <a:tcPr marL="9620" marR="962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23283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Media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>
                          <a:effectLst/>
                          <a:latin typeface="+mn-lt"/>
                        </a:rPr>
                        <a:t>2023 Campaign</a:t>
                      </a:r>
                      <a:endParaRPr lang="en-US" sz="900" b="1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>
                          <a:effectLst/>
                          <a:latin typeface="+mn-lt"/>
                        </a:rPr>
                        <a:t>2024 Campaign</a:t>
                      </a:r>
                      <a:endParaRPr lang="en-US" sz="900" b="1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>
                          <a:effectLst/>
                          <a:latin typeface="+mn-lt"/>
                        </a:rPr>
                        <a:t>2023 Campaign</a:t>
                      </a:r>
                      <a:endParaRPr lang="en-US" sz="900" b="1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 dirty="0">
                          <a:effectLst/>
                          <a:latin typeface="+mn-lt"/>
                        </a:rPr>
                        <a:t>2024 Campaign</a:t>
                      </a:r>
                      <a:endParaRPr lang="en-US" sz="900" b="1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9583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YouTube + Facebook + Instagram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1,916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2,089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177 M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202 M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111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74320" lvl="1"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Facebook + Instagram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1,043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1,211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96 M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117 M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0558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74320" lvl="1"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YouTube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874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878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80 M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85 M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9010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Paid Search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383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200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35 M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19 M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2706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Online Banners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1,054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-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97 M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077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OOH Large Format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1,063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-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98 M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421544"/>
                  </a:ext>
                </a:extLst>
              </a:tr>
              <a:tr h="37940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OOH Retail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431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572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40 M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55 M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6299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Total Media 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4,848 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2,861 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446 M </a:t>
                      </a:r>
                    </a:p>
                  </a:txBody>
                  <a:tcPr marL="10211" marR="10211" marT="9525" marB="0" anchor="ctr">
                    <a:lnL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276 M 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83933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399F73C-7217-02FA-D8F7-3A23D284128F}"/>
              </a:ext>
            </a:extLst>
          </p:cNvPr>
          <p:cNvSpPr txBox="1"/>
          <p:nvPr/>
        </p:nvSpPr>
        <p:spPr>
          <a:xfrm>
            <a:off x="8651150" y="5847835"/>
            <a:ext cx="3530768" cy="34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>
                <a:solidFill>
                  <a:schemeClr val="tx1">
                    <a:lumMod val="60000"/>
                    <a:lumOff val="40000"/>
                  </a:schemeClr>
                </a:solidFill>
                <a:effectLst/>
                <a:latin typeface="+mj-lt"/>
              </a:rPr>
              <a:t>*Digital media helps in generating awareness</a:t>
            </a:r>
            <a:endParaRPr lang="en-GB" sz="1200">
              <a:solidFill>
                <a:schemeClr val="tx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A5FD502-938C-A5BF-A676-A3735DCFE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11660B29-8597-5847-3721-BC392EA514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975816"/>
              </p:ext>
            </p:extLst>
          </p:nvPr>
        </p:nvGraphicFramePr>
        <p:xfrm>
          <a:off x="6335370" y="1741695"/>
          <a:ext cx="5490993" cy="36712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5297">
                  <a:extLst>
                    <a:ext uri="{9D8B030D-6E8A-4147-A177-3AD203B41FA5}">
                      <a16:colId xmlns:a16="http://schemas.microsoft.com/office/drawing/2014/main" val="3069419641"/>
                    </a:ext>
                  </a:extLst>
                </a:gridCol>
                <a:gridCol w="1402848">
                  <a:extLst>
                    <a:ext uri="{9D8B030D-6E8A-4147-A177-3AD203B41FA5}">
                      <a16:colId xmlns:a16="http://schemas.microsoft.com/office/drawing/2014/main" val="3312346754"/>
                    </a:ext>
                  </a:extLst>
                </a:gridCol>
                <a:gridCol w="1402848">
                  <a:extLst>
                    <a:ext uri="{9D8B030D-6E8A-4147-A177-3AD203B41FA5}">
                      <a16:colId xmlns:a16="http://schemas.microsoft.com/office/drawing/2014/main" val="97562604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u="none" strike="noStrike" dirty="0">
                          <a:effectLst/>
                          <a:latin typeface="+mn-lt"/>
                        </a:rPr>
                        <a:t>ROI</a:t>
                      </a:r>
                    </a:p>
                  </a:txBody>
                  <a:tcPr marL="9620" marR="962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23283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Media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>
                          <a:effectLst/>
                          <a:latin typeface="+mn-lt"/>
                        </a:rPr>
                        <a:t>2023 Campaign</a:t>
                      </a:r>
                      <a:endParaRPr lang="en-US" sz="900" b="1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u="none" strike="noStrike">
                          <a:effectLst/>
                          <a:latin typeface="+mn-lt"/>
                        </a:rPr>
                        <a:t>2024 Campaign</a:t>
                      </a:r>
                      <a:endParaRPr lang="en-US" sz="900" b="1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9583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YouTube + Facebook + Instagram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1,916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2,089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111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74320" lvl="1"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Facebook + Instagram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1,043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1,211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0558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74320" lvl="1"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YouTube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874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878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9010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Paid Search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383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200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2706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Online Banners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1,054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-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077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OOH Large Format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1,063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-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421544"/>
                  </a:ext>
                </a:extLst>
              </a:tr>
              <a:tr h="37940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u="none" strike="noStrike">
                          <a:effectLst/>
                          <a:latin typeface="+mn-lt"/>
                        </a:rPr>
                        <a:t>OOH Retail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431 </a:t>
                      </a:r>
                      <a:endParaRPr lang="en-US" sz="900" b="0" i="0" u="none" strike="noStrike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  <a:latin typeface="+mn-lt"/>
                        </a:rPr>
                        <a:t>572 </a:t>
                      </a:r>
                      <a:endParaRPr lang="en-US" sz="900" b="0" i="0" u="none" strike="noStrike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6299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Total Media 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4,848 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2,861 </a:t>
                      </a:r>
                    </a:p>
                  </a:txBody>
                  <a:tcPr marL="10211" marR="10211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83933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41F014B-4B54-CC08-3FDE-BF10EE0BBBAC}"/>
              </a:ext>
            </a:extLst>
          </p:cNvPr>
          <p:cNvSpPr txBox="1"/>
          <p:nvPr/>
        </p:nvSpPr>
        <p:spPr>
          <a:xfrm>
            <a:off x="4279180" y="1260571"/>
            <a:ext cx="4476750" cy="246221"/>
          </a:xfrm>
          <a:prstGeom prst="rect">
            <a:avLst/>
          </a:prstGeom>
          <a:solidFill>
            <a:schemeClr val="accent4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s-ES" sz="1600" dirty="0" err="1"/>
              <a:t>Isumo</a:t>
            </a:r>
            <a:r>
              <a:rPr lang="es-ES" sz="1600" dirty="0"/>
              <a:t> automatizado</a:t>
            </a:r>
          </a:p>
        </p:txBody>
      </p:sp>
    </p:spTree>
    <p:extLst>
      <p:ext uri="{BB962C8B-B14F-4D97-AF65-F5344CB8AC3E}">
        <p14:creationId xmlns:p14="http://schemas.microsoft.com/office/powerpoint/2010/main" val="26865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84E22F-33C9-D8FA-AB6B-4F3BE3DAAE17}"/>
              </a:ext>
            </a:extLst>
          </p:cNvPr>
          <p:cNvSpPr/>
          <p:nvPr/>
        </p:nvSpPr>
        <p:spPr>
          <a:xfrm>
            <a:off x="207937" y="5646821"/>
            <a:ext cx="6002563" cy="401513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r"/>
            <a:r>
              <a:rPr lang="pt-BR" sz="11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TRADE</a:t>
            </a:r>
            <a:r>
              <a:rPr lang="pt-BR" sz="1100" b="1" dirty="0">
                <a:solidFill>
                  <a:schemeClr val="tx1"/>
                </a:solidFill>
              </a:rPr>
              <a:t>:</a:t>
            </a:r>
          </a:p>
          <a:p>
            <a:pPr algn="r"/>
            <a:r>
              <a:rPr lang="pt-BR" sz="11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-0.6</a:t>
            </a:r>
            <a:r>
              <a:rPr lang="pt-BR" sz="1100" b="1" dirty="0">
                <a:solidFill>
                  <a:schemeClr val="tx1"/>
                </a:solidFill>
              </a:rPr>
              <a:t>%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4F29CF-7BCB-09D0-EA9D-EDFF9496B972}"/>
              </a:ext>
            </a:extLst>
          </p:cNvPr>
          <p:cNvSpPr/>
          <p:nvPr/>
        </p:nvSpPr>
        <p:spPr>
          <a:xfrm>
            <a:off x="207938" y="2271040"/>
            <a:ext cx="6002561" cy="2591497"/>
          </a:xfrm>
          <a:prstGeom prst="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r"/>
            <a:r>
              <a:rPr lang="pt-BR" sz="11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BASE:</a:t>
            </a:r>
          </a:p>
          <a:p>
            <a:pPr algn="r"/>
            <a:r>
              <a:rPr lang="pt-BR" sz="11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-1.8%</a:t>
            </a:r>
            <a:endParaRPr lang="en-US" sz="2400" b="1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7D4FF1-D0CD-DC7E-F834-C69C899BD85E}"/>
              </a:ext>
            </a:extLst>
          </p:cNvPr>
          <p:cNvSpPr/>
          <p:nvPr/>
        </p:nvSpPr>
        <p:spPr>
          <a:xfrm>
            <a:off x="207937" y="4862540"/>
            <a:ext cx="6002563" cy="784280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r"/>
            <a:r>
              <a:rPr lang="pt-BR" sz="11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MEDIA:</a:t>
            </a:r>
          </a:p>
          <a:p>
            <a:pPr algn="r"/>
            <a:r>
              <a:rPr lang="pt-BR" sz="11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-0.2%</a:t>
            </a:r>
            <a:endParaRPr lang="en-US" sz="1100" b="1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7" name="Google Shape;277;p37"/>
          <p:cNvSpPr txBox="1">
            <a:spLocks noGrp="1"/>
          </p:cNvSpPr>
          <p:nvPr>
            <p:ph type="title"/>
          </p:nvPr>
        </p:nvSpPr>
        <p:spPr>
          <a:xfrm>
            <a:off x="533400" y="303367"/>
            <a:ext cx="11658601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/>
              <a:t>INCREASE ON DISTRIBUTION &amp; CHANGES IN REGULAR PRICES IMPACTED THE BRAND, BEING THE LAST ONE THE MOST RELEVANT</a:t>
            </a:r>
            <a:endParaRPr lang="en-US" sz="2667" dirty="0"/>
          </a:p>
        </p:txBody>
      </p:sp>
      <p:sp>
        <p:nvSpPr>
          <p:cNvPr id="279" name="Google Shape;279;p37"/>
          <p:cNvSpPr txBox="1"/>
          <p:nvPr/>
        </p:nvSpPr>
        <p:spPr>
          <a:xfrm>
            <a:off x="378675" y="1597840"/>
            <a:ext cx="5717325" cy="29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noAutofit/>
          </a:bodyPr>
          <a:lstStyle/>
          <a:p>
            <a:pPr algn="ctr"/>
            <a:r>
              <a:rPr lang="en" sz="1600" b="1" dirty="0">
                <a:latin typeface="Inter"/>
                <a:ea typeface="Inter"/>
                <a:cs typeface="Inter"/>
                <a:sym typeface="Inter"/>
              </a:rPr>
              <a:t>Volume Due-to Total New Mix | RY1 vs RY2</a:t>
            </a:r>
            <a:endParaRPr sz="1600"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2D8D38A-3389-2616-4193-2CF4A3C66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675" y="1075043"/>
            <a:ext cx="11434651" cy="673200"/>
          </a:xfrm>
        </p:spPr>
        <p:txBody>
          <a:bodyPr/>
          <a:lstStyle/>
          <a:p>
            <a:r>
              <a:rPr lang="en-US" sz="1600"/>
              <a:t>In media, we can see the decreased was driven by less execution despite more investment</a:t>
            </a:r>
            <a:endParaRPr lang="en-US" sz="1600" dirty="0"/>
          </a:p>
        </p:txBody>
      </p:sp>
      <p:graphicFrame>
        <p:nvGraphicFramePr>
          <p:cNvPr id="3" name="Content Placeholder 8">
            <a:extLst>
              <a:ext uri="{FF2B5EF4-FFF2-40B4-BE49-F238E27FC236}">
                <a16:creationId xmlns:a16="http://schemas.microsoft.com/office/drawing/2014/main" id="{4C843D6F-344C-071B-36B9-0DC24C0B2CE7}"/>
              </a:ext>
            </a:extLst>
          </p:cNvPr>
          <p:cNvGraphicFramePr>
            <a:graphicFrameLocks/>
          </p:cNvGraphicFramePr>
          <p:nvPr/>
        </p:nvGraphicFramePr>
        <p:xfrm>
          <a:off x="207939" y="1857243"/>
          <a:ext cx="5496539" cy="4335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Table 26">
            <a:extLst>
              <a:ext uri="{FF2B5EF4-FFF2-40B4-BE49-F238E27FC236}">
                <a16:creationId xmlns:a16="http://schemas.microsoft.com/office/drawing/2014/main" id="{54DC642C-1252-D134-8975-3270C195194C}"/>
              </a:ext>
            </a:extLst>
          </p:cNvPr>
          <p:cNvGraphicFramePr>
            <a:graphicFrameLocks noGrp="1"/>
          </p:cNvGraphicFramePr>
          <p:nvPr/>
        </p:nvGraphicFramePr>
        <p:xfrm>
          <a:off x="6268630" y="1748241"/>
          <a:ext cx="5717326" cy="4300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651">
                  <a:extLst>
                    <a:ext uri="{9D8B030D-6E8A-4147-A177-3AD203B41FA5}">
                      <a16:colId xmlns:a16="http://schemas.microsoft.com/office/drawing/2014/main" val="705816398"/>
                    </a:ext>
                  </a:extLst>
                </a:gridCol>
                <a:gridCol w="422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2921">
                <a:tc>
                  <a:txBody>
                    <a:bodyPr/>
                    <a:lstStyle/>
                    <a:p>
                      <a:pPr algn="ctr"/>
                      <a:r>
                        <a:rPr lang="en-CA" sz="1500" dirty="0">
                          <a:solidFill>
                            <a:schemeClr val="bg1"/>
                          </a:solidFill>
                          <a:latin typeface="Inter" panose="020B0604020202020204" charset="0"/>
                          <a:ea typeface="Inter" panose="020B0604020202020204" charset="0"/>
                          <a:cs typeface="Archivo Narrow" panose="020B0604020202020204" charset="0"/>
                        </a:rPr>
                        <a:t>Driver</a:t>
                      </a:r>
                    </a:p>
                  </a:txBody>
                  <a:tcPr marL="162560" marR="162560" marT="81280" marB="81280" anchor="ctr"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  <a:latin typeface="Inter" panose="020B0604020202020204" charset="0"/>
                          <a:ea typeface="Inter" panose="020B0604020202020204" charset="0"/>
                          <a:cs typeface="Archivo Narrow" panose="020B0604020202020204" charset="0"/>
                        </a:rPr>
                        <a:t>Explanation</a:t>
                      </a:r>
                      <a:endParaRPr lang="en-CA" sz="1500" dirty="0">
                        <a:solidFill>
                          <a:schemeClr val="bg1"/>
                        </a:solidFill>
                        <a:latin typeface="Inter" panose="020B0604020202020204" charset="0"/>
                        <a:ea typeface="Inter" panose="020B0604020202020204" charset="0"/>
                        <a:cs typeface="Archivo Narrow" panose="020B0604020202020204" charset="0"/>
                      </a:endParaRPr>
                    </a:p>
                  </a:txBody>
                  <a:tcPr marL="162560" marR="162560" marT="81280" marB="81280" anchor="ctr"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Distribution</a:t>
                      </a: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New Mix Paloma 350ml &amp; 473ml increased distribution 2% &amp; 7%</a:t>
                      </a: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631799"/>
                  </a:ext>
                </a:extLst>
              </a:tr>
              <a:tr h="41917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Number</a:t>
                      </a:r>
                      <a:r>
                        <a:rPr lang="en-US" sz="1100" b="0" i="0" u="none" strike="noStrike" cap="none" baseline="0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 of UPCs</a:t>
                      </a:r>
                      <a:endParaRPr lang="en-US" sz="1100" b="0" i="0" u="none" strike="noStrike" cap="none" noProof="0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  <a:cs typeface="Arial" charset="0"/>
                        <a:sym typeface="Arial"/>
                      </a:endParaRP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The brand</a:t>
                      </a:r>
                      <a:r>
                        <a:rPr lang="en-US" sz="1100" b="0" i="0" u="none" strike="noStrike" cap="none" baseline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 reduced number of UPCs 4.2%</a:t>
                      </a: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Inter" panose="020B0604020202020204" charset="0"/>
                        <a:ea typeface="Inter" panose="020B0604020202020204" charset="0"/>
                        <a:cs typeface="Arial" charset="0"/>
                        <a:sym typeface="Arial" charset="0"/>
                      </a:endParaRP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201115"/>
                  </a:ext>
                </a:extLst>
              </a:tr>
              <a:tr h="444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Comp Regular Price</a:t>
                      </a: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Caribe Cooler increased its regular price by 9%</a:t>
                      </a: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95632"/>
                  </a:ext>
                </a:extLst>
              </a:tr>
              <a:tr h="34691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Comp Open TV </a:t>
                      </a: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Kool starts execution in RY2 &amp; Jack Daniel’s increased 27%</a:t>
                      </a: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16743"/>
                  </a:ext>
                </a:extLst>
              </a:tr>
              <a:tr h="40116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Comp Pay TV</a:t>
                      </a: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Kool starts execution in RY2 &amp; Caribe Cooler increased 99%</a:t>
                      </a: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580568"/>
                  </a:ext>
                </a:extLst>
              </a:tr>
              <a:tr h="41917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Regular Price</a:t>
                      </a: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New Mix total brand increased its regular price by 15.2%</a:t>
                      </a: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7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Offline Media</a:t>
                      </a: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Open TV decreased 39% the execution and Pay TV 9%</a:t>
                      </a: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849830"/>
                  </a:ext>
                </a:extLst>
              </a:tr>
              <a:tr h="4127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Digital Media</a:t>
                      </a: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Meta reduced 17% execution in RY2 &amp; Google Video 63%</a:t>
                      </a: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380283"/>
                  </a:ext>
                </a:extLst>
              </a:tr>
              <a:tr h="4127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cap="none" noProof="0" dirty="0">
                          <a:solidFill>
                            <a:srgbClr val="000000"/>
                          </a:solidFill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/>
                        </a:rPr>
                        <a:t>Discounts</a:t>
                      </a:r>
                    </a:p>
                  </a:txBody>
                  <a:tcPr marL="8467" marR="8467" marT="846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Arial" charset="0"/>
                          <a:sym typeface="Arial" charset="0"/>
                        </a:rPr>
                        <a:t>New Mix decreased units under discount 46%</a:t>
                      </a:r>
                    </a:p>
                  </a:txBody>
                  <a:tcPr marL="4883" marR="4883" marT="488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35285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1EF1D13-D947-9D84-0650-8417F07160EF}"/>
              </a:ext>
            </a:extLst>
          </p:cNvPr>
          <p:cNvSpPr txBox="1"/>
          <p:nvPr/>
        </p:nvSpPr>
        <p:spPr>
          <a:xfrm>
            <a:off x="522691" y="6048337"/>
            <a:ext cx="940915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i="1" u="sng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WATCH OUT: </a:t>
            </a:r>
            <a:r>
              <a:rPr lang="en-US" sz="1067" i="1" u="sng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This chart explains variation from YoY in brand’s </a:t>
            </a:r>
            <a:r>
              <a:rPr lang="en-US" sz="1067" i="1" u="sng" dirty="0" err="1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volumen</a:t>
            </a:r>
            <a:r>
              <a:rPr lang="en-US" sz="1067" i="1" u="sng" dirty="0">
                <a:latin typeface="Inter" panose="020B0604020202020204" charset="0"/>
                <a:ea typeface="Inter" panose="020B0604020202020204" charset="0"/>
                <a:cs typeface="Inter" panose="020B0604020202020204" charset="0"/>
              </a:rPr>
              <a:t>, not over the total contribution</a:t>
            </a:r>
          </a:p>
        </p:txBody>
      </p:sp>
    </p:spTree>
    <p:extLst>
      <p:ext uri="{BB962C8B-B14F-4D97-AF65-F5344CB8AC3E}">
        <p14:creationId xmlns:p14="http://schemas.microsoft.com/office/powerpoint/2010/main" val="9554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126E4-224B-C708-3B39-459A3927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9458-8541-2386-16EB-09C50E5D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Full media comparison – Campaign vs Campaign breakdown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79DE1-563B-7D17-B12B-AC17208A7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363" y="910800"/>
            <a:ext cx="8596315" cy="302536"/>
          </a:xfrm>
        </p:spPr>
        <p:txBody>
          <a:bodyPr/>
          <a:lstStyle/>
          <a:p>
            <a:r>
              <a:rPr lang="en-GB" sz="1800"/>
              <a:t>2023 media mix was highly efficient in obtaining strong contributions from the budget invested.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E2427-64A0-54CA-A6C0-632B31C2E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Axis median value</a:t>
            </a:r>
          </a:p>
          <a:p>
            <a:r>
              <a:rPr lang="en-GB"/>
              <a:t>Bubble size represents media investment</a:t>
            </a:r>
          </a:p>
          <a:p>
            <a:r>
              <a:rPr lang="en-GB"/>
              <a:t>2023 campaign (including corresponding ad stock)</a:t>
            </a:r>
          </a:p>
          <a:p>
            <a:r>
              <a:rPr lang="en-GB"/>
              <a:t>2024 campaign (including corresponding ad stock)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F0A149-34D6-5CEB-1666-28899F1E1D50}"/>
              </a:ext>
            </a:extLst>
          </p:cNvPr>
          <p:cNvSpPr/>
          <p:nvPr/>
        </p:nvSpPr>
        <p:spPr bwMode="ltGray">
          <a:xfrm>
            <a:off x="1215522" y="1709738"/>
            <a:ext cx="1510341" cy="26405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SG" sz="1100" b="0"/>
              <a:t>Potential to increase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C5CEFE-19FB-72AB-EC70-25182372D194}"/>
              </a:ext>
            </a:extLst>
          </p:cNvPr>
          <p:cNvSpPr/>
          <p:nvPr/>
        </p:nvSpPr>
        <p:spPr bwMode="ltGray">
          <a:xfrm>
            <a:off x="10269533" y="1709738"/>
            <a:ext cx="1413890" cy="26405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SG" sz="1100" b="0"/>
              <a:t>Continue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56B815-C1A4-42DA-0C7C-9BFFE1072DA9}"/>
              </a:ext>
            </a:extLst>
          </p:cNvPr>
          <p:cNvSpPr/>
          <p:nvPr/>
        </p:nvSpPr>
        <p:spPr bwMode="ltGray">
          <a:xfrm>
            <a:off x="1215523" y="5016234"/>
            <a:ext cx="1510340" cy="26405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SG" sz="1100" b="0"/>
              <a:t>Assess further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F5EF56-0F2A-3326-2AA6-BB7C5DD1F223}"/>
              </a:ext>
            </a:extLst>
          </p:cNvPr>
          <p:cNvSpPr/>
          <p:nvPr/>
        </p:nvSpPr>
        <p:spPr bwMode="ltGray">
          <a:xfrm>
            <a:off x="10269532" y="5016234"/>
            <a:ext cx="1413890" cy="26405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SG" sz="1100"/>
              <a:t>Review/Optimize</a:t>
            </a:r>
            <a:endParaRPr lang="en-SG" sz="1100" b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29B383-C5E2-F7A2-12CE-270FE7E40983}"/>
              </a:ext>
            </a:extLst>
          </p:cNvPr>
          <p:cNvCxnSpPr>
            <a:cxnSpLocks/>
          </p:cNvCxnSpPr>
          <p:nvPr/>
        </p:nvCxnSpPr>
        <p:spPr>
          <a:xfrm flipH="1">
            <a:off x="3042138" y="6304084"/>
            <a:ext cx="193431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093772E-3A69-A90E-CB76-D09271F2E4B5}"/>
              </a:ext>
            </a:extLst>
          </p:cNvPr>
          <p:cNvSpPr/>
          <p:nvPr/>
        </p:nvSpPr>
        <p:spPr bwMode="ltGray">
          <a:xfrm>
            <a:off x="3094892" y="6515063"/>
            <a:ext cx="87923" cy="8792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234061-2AF5-4F72-2CEF-F5F6BB3E7768}"/>
              </a:ext>
            </a:extLst>
          </p:cNvPr>
          <p:cNvSpPr/>
          <p:nvPr/>
        </p:nvSpPr>
        <p:spPr bwMode="ltGray">
          <a:xfrm>
            <a:off x="3094892" y="6651326"/>
            <a:ext cx="87923" cy="87923"/>
          </a:xfrm>
          <a:prstGeom prst="ellipse">
            <a:avLst/>
          </a:prstGeom>
          <a:solidFill>
            <a:srgbClr val="FFDCC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err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9C20F14-6708-D1E1-0150-F1232A88643B}"/>
              </a:ext>
            </a:extLst>
          </p:cNvPr>
          <p:cNvSpPr/>
          <p:nvPr/>
        </p:nvSpPr>
        <p:spPr bwMode="ltGray">
          <a:xfrm>
            <a:off x="3094892" y="6378800"/>
            <a:ext cx="87923" cy="8792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err="1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2A10710F-3ED3-77DB-9D6D-BECC3812D74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28248536"/>
              </p:ext>
            </p:extLst>
          </p:nvPr>
        </p:nvGraphicFramePr>
        <p:xfrm>
          <a:off x="360362" y="1709738"/>
          <a:ext cx="11466512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1B833F-EEA0-D211-612F-13F0D58FCF4B}"/>
              </a:ext>
            </a:extLst>
          </p:cNvPr>
          <p:cNvCxnSpPr>
            <a:cxnSpLocks/>
          </p:cNvCxnSpPr>
          <p:nvPr/>
        </p:nvCxnSpPr>
        <p:spPr>
          <a:xfrm>
            <a:off x="7191375" y="3543300"/>
            <a:ext cx="238125" cy="87630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96F55C-47E7-986C-099F-5799141C6832}"/>
              </a:ext>
            </a:extLst>
          </p:cNvPr>
          <p:cNvCxnSpPr>
            <a:cxnSpLocks/>
          </p:cNvCxnSpPr>
          <p:nvPr/>
        </p:nvCxnSpPr>
        <p:spPr>
          <a:xfrm>
            <a:off x="8191500" y="2800350"/>
            <a:ext cx="1123950" cy="142875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37B47A-484C-BBF8-EAB8-820FBEDDD8B3}"/>
              </a:ext>
            </a:extLst>
          </p:cNvPr>
          <p:cNvCxnSpPr>
            <a:cxnSpLocks/>
          </p:cNvCxnSpPr>
          <p:nvPr/>
        </p:nvCxnSpPr>
        <p:spPr>
          <a:xfrm>
            <a:off x="5680076" y="3572796"/>
            <a:ext cx="504414" cy="507591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71B627-F975-91A1-2DCD-D65021023789}"/>
              </a:ext>
            </a:extLst>
          </p:cNvPr>
          <p:cNvCxnSpPr>
            <a:cxnSpLocks/>
          </p:cNvCxnSpPr>
          <p:nvPr/>
        </p:nvCxnSpPr>
        <p:spPr>
          <a:xfrm flipH="1">
            <a:off x="3598606" y="2754988"/>
            <a:ext cx="709870" cy="95500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8FBA11-33DC-7C13-9EB0-B1251C9A8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02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9643-8C21-CB47-A247-CD11F75E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FBFC8C3-D546-04DA-86FB-411A86F043CF}"/>
              </a:ext>
            </a:extLst>
          </p:cNvPr>
          <p:cNvSpPr/>
          <p:nvPr/>
        </p:nvSpPr>
        <p:spPr bwMode="ltGray">
          <a:xfrm>
            <a:off x="7825739" y="1927092"/>
            <a:ext cx="771049" cy="2667265"/>
          </a:xfrm>
          <a:prstGeom prst="rect">
            <a:avLst/>
          </a:prstGeom>
          <a:solidFill>
            <a:schemeClr val="accent4">
              <a:lumMod val="75000"/>
              <a:alpha val="30196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F3863-9D9B-FE72-337A-EA7821B6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OOH </a:t>
            </a:r>
            <a:r>
              <a:rPr lang="es-ES" err="1"/>
              <a:t>Retail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A2EA6-3946-CAD7-5428-C89AA5862F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800"/>
              <a:t>This media vehicle can be optimized further, in 2024 we invested beyond the recommended range 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B52F2DAA-AFF8-DA66-D048-6EA1F074A3B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13510588"/>
              </p:ext>
            </p:extLst>
          </p:nvPr>
        </p:nvGraphicFramePr>
        <p:xfrm>
          <a:off x="359999" y="1709738"/>
          <a:ext cx="11467134" cy="4012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70D5F74B-72AA-74E7-2D7E-19403B1CE8DC}"/>
              </a:ext>
            </a:extLst>
          </p:cNvPr>
          <p:cNvSpPr txBox="1"/>
          <p:nvPr/>
        </p:nvSpPr>
        <p:spPr>
          <a:xfrm>
            <a:off x="10138413" y="4442866"/>
            <a:ext cx="91050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MX" sz="1100">
                <a:solidFill>
                  <a:schemeClr val="accent6">
                    <a:lumMod val="75000"/>
                  </a:schemeClr>
                </a:solidFill>
              </a:rPr>
              <a:t>Full </a:t>
            </a:r>
            <a:r>
              <a:rPr lang="es-MX" sz="1100" err="1">
                <a:solidFill>
                  <a:schemeClr val="accent6">
                    <a:lumMod val="75000"/>
                  </a:schemeClr>
                </a:solidFill>
              </a:rPr>
              <a:t>Saturation</a:t>
            </a:r>
            <a:endParaRPr lang="en-GB" sz="11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A2B56F-B566-5B34-48B0-999F2E7733E9}"/>
              </a:ext>
            </a:extLst>
          </p:cNvPr>
          <p:cNvSpPr txBox="1"/>
          <p:nvPr/>
        </p:nvSpPr>
        <p:spPr>
          <a:xfrm>
            <a:off x="8642509" y="4442866"/>
            <a:ext cx="94096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1100" err="1">
                <a:solidFill>
                  <a:schemeClr val="accent3">
                    <a:lumMod val="75000"/>
                  </a:schemeClr>
                </a:solidFill>
              </a:rPr>
              <a:t>Optimal</a:t>
            </a:r>
            <a:r>
              <a:rPr lang="es-MX" sz="110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MX" sz="1100" err="1">
                <a:solidFill>
                  <a:schemeClr val="accent3">
                    <a:lumMod val="75000"/>
                  </a:schemeClr>
                </a:solidFill>
              </a:rPr>
              <a:t>Range</a:t>
            </a:r>
            <a:endParaRPr lang="en-GB" sz="11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5CA9E6B6-49C4-1463-6B6E-9198DCDEB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</p:spPr>
        <p:txBody>
          <a:bodyPr/>
          <a:lstStyle/>
          <a:p>
            <a:r>
              <a:rPr lang="en-GB"/>
              <a:t>Full saturation threshold = ROI is 1</a:t>
            </a:r>
          </a:p>
          <a:p>
            <a:r>
              <a:rPr lang="en-GB"/>
              <a:t>Start of saturation: Upper bound of optimal range for monthly investment </a:t>
            </a:r>
          </a:p>
          <a:p>
            <a:r>
              <a:rPr lang="en-GB"/>
              <a:t>Optimal ROI: Lower bound of optimal range for monthly investment </a:t>
            </a:r>
          </a:p>
          <a:p>
            <a:r>
              <a:rPr lang="en-GB"/>
              <a:t>Minimum threshold = ROI is 1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B0A4CE-67E1-DA44-01D9-4375C393A8F6}"/>
              </a:ext>
            </a:extLst>
          </p:cNvPr>
          <p:cNvCxnSpPr>
            <a:cxnSpLocks/>
          </p:cNvCxnSpPr>
          <p:nvPr/>
        </p:nvCxnSpPr>
        <p:spPr>
          <a:xfrm>
            <a:off x="3068320" y="6322690"/>
            <a:ext cx="137160" cy="0"/>
          </a:xfrm>
          <a:prstGeom prst="line">
            <a:avLst/>
          </a:prstGeom>
          <a:ln w="1905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B0B175-BA4E-2FDF-B38E-824B3DFB0465}"/>
              </a:ext>
            </a:extLst>
          </p:cNvPr>
          <p:cNvCxnSpPr>
            <a:cxnSpLocks/>
          </p:cNvCxnSpPr>
          <p:nvPr/>
        </p:nvCxnSpPr>
        <p:spPr>
          <a:xfrm>
            <a:off x="3068320" y="6444610"/>
            <a:ext cx="137160" cy="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07BC4DE-651B-C430-CA64-EFA4B99A4CE0}"/>
              </a:ext>
            </a:extLst>
          </p:cNvPr>
          <p:cNvCxnSpPr>
            <a:cxnSpLocks/>
          </p:cNvCxnSpPr>
          <p:nvPr/>
        </p:nvCxnSpPr>
        <p:spPr>
          <a:xfrm>
            <a:off x="3068320" y="6566530"/>
            <a:ext cx="137160" cy="0"/>
          </a:xfrm>
          <a:prstGeom prst="line">
            <a:avLst/>
          </a:prstGeom>
          <a:ln w="19050"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091DBB1-F4B3-DA44-D258-1B502EA3C53A}"/>
              </a:ext>
            </a:extLst>
          </p:cNvPr>
          <p:cNvCxnSpPr>
            <a:cxnSpLocks/>
          </p:cNvCxnSpPr>
          <p:nvPr/>
        </p:nvCxnSpPr>
        <p:spPr>
          <a:xfrm>
            <a:off x="3068320" y="6688450"/>
            <a:ext cx="137160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008B2EC-A2B9-D8B5-A6AE-C53E90FD0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z="1000">
                <a:solidFill>
                  <a:schemeClr val="tx1"/>
                </a:solidFill>
              </a:rPr>
              <a:t>© Kantar 2025 | </a:t>
            </a:r>
            <a:fld id="{4034BEE3-566C-4068-A777-C3A4762E861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8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E8F7-198E-5F5F-0061-CE5A1E05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086BE-2C97-390E-D3EC-E8024978C6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F855F-C9AD-EFB1-8082-064B3812C3A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50482-E7A6-B3D9-9101-E32558F22A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6044F-3927-8DC6-9CA3-60334D6EA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CD1B5-11BD-47AE-D546-5639EBCCE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 | </a:t>
            </a:r>
            <a:fld id="{4034BEE3-566C-4068-A777-C3A4762E861B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02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A28EEB5-E8C3-23E7-B4AB-5B26BC10B304}"/>
              </a:ext>
            </a:extLst>
          </p:cNvPr>
          <p:cNvGraphicFramePr/>
          <p:nvPr/>
        </p:nvGraphicFramePr>
        <p:xfrm>
          <a:off x="-69624" y="1361679"/>
          <a:ext cx="5690333" cy="3099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314;p16">
            <a:extLst>
              <a:ext uri="{FF2B5EF4-FFF2-40B4-BE49-F238E27FC236}">
                <a16:creationId xmlns:a16="http://schemas.microsoft.com/office/drawing/2014/main" id="{871FDDEB-39DD-73D6-020C-E376E0CB299C}"/>
              </a:ext>
            </a:extLst>
          </p:cNvPr>
          <p:cNvSpPr txBox="1">
            <a:spLocks/>
          </p:cNvSpPr>
          <p:nvPr/>
        </p:nvSpPr>
        <p:spPr>
          <a:xfrm>
            <a:off x="378079" y="221928"/>
            <a:ext cx="11787572" cy="91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 baseline="0">
                <a:solidFill>
                  <a:schemeClr val="tx2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2133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OPPORTUNITY TO BALANCE EXECUTION IN THE VEHICLE, ALLOCATING MORE INS ON OPTIMAL RANGES AND IN CONTINUES WEEKS WILL DELIVER BETTER PERFORMANCE </a:t>
            </a:r>
          </a:p>
        </p:txBody>
      </p:sp>
      <p:sp>
        <p:nvSpPr>
          <p:cNvPr id="26" name="Google Shape;1311;p167">
            <a:extLst>
              <a:ext uri="{FF2B5EF4-FFF2-40B4-BE49-F238E27FC236}">
                <a16:creationId xmlns:a16="http://schemas.microsoft.com/office/drawing/2014/main" id="{A1923826-249E-914D-43A2-4D7DFDAAE45B}"/>
              </a:ext>
            </a:extLst>
          </p:cNvPr>
          <p:cNvSpPr txBox="1"/>
          <p:nvPr/>
        </p:nvSpPr>
        <p:spPr>
          <a:xfrm>
            <a:off x="8270685" y="1412349"/>
            <a:ext cx="2716137" cy="27699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91163" tIns="45719" rIns="91163" bIns="45719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 defTabSz="683437">
              <a:defRPr sz="825" b="1" cap="all">
                <a:latin typeface="Inter"/>
              </a:defRPr>
            </a:lvl1pPr>
          </a:lstStyle>
          <a:p>
            <a:pPr algn="ctr" defTabSz="911227">
              <a:buClr>
                <a:srgbClr val="000000"/>
              </a:buClr>
              <a:defRPr/>
            </a:pPr>
            <a:r>
              <a:rPr lang="en-US" sz="1200" dirty="0">
                <a:solidFill>
                  <a:srgbClr val="000000">
                    <a:lumMod val="65000"/>
                    <a:lumOff val="35000"/>
                  </a:srgbClr>
                </a:solidFill>
                <a:latin typeface="Inter" panose="020B0604020202020204" charset="0"/>
                <a:ea typeface="Inter" panose="020B0604020202020204" charset="0"/>
              </a:rPr>
              <a:t>Pay TV</a:t>
            </a:r>
            <a:r>
              <a:rPr lang="en-US" sz="12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Inter" panose="020B0604020202020204" charset="0"/>
                <a:ea typeface="Inter" panose="020B0604020202020204" charset="0"/>
                <a:sym typeface="Arial"/>
              </a:rPr>
              <a:t> </a:t>
            </a:r>
            <a:r>
              <a:rPr lang="en-US" sz="1200" kern="0" cap="none" dirty="0">
                <a:solidFill>
                  <a:srgbClr val="000000">
                    <a:lumMod val="65000"/>
                    <a:lumOff val="35000"/>
                  </a:srgbClr>
                </a:solidFill>
                <a:latin typeface="Inter" panose="020B0604020202020204" charset="0"/>
                <a:ea typeface="Inter" panose="020B0604020202020204" charset="0"/>
                <a:sym typeface="Arial"/>
              </a:rPr>
              <a:t>Results</a:t>
            </a:r>
          </a:p>
        </p:txBody>
      </p:sp>
      <p:graphicFrame>
        <p:nvGraphicFramePr>
          <p:cNvPr id="20" name="Google Shape;1422;p35">
            <a:extLst>
              <a:ext uri="{FF2B5EF4-FFF2-40B4-BE49-F238E27FC236}">
                <a16:creationId xmlns:a16="http://schemas.microsoft.com/office/drawing/2014/main" id="{18B50E26-4EBD-EBD7-DE07-92B4517B2EB4}"/>
              </a:ext>
            </a:extLst>
          </p:cNvPr>
          <p:cNvGraphicFramePr/>
          <p:nvPr/>
        </p:nvGraphicFramePr>
        <p:xfrm>
          <a:off x="1091396" y="4477210"/>
          <a:ext cx="4176333" cy="137173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49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lt1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Points</a:t>
                      </a:r>
                      <a:endParaRPr sz="12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91433" marR="91433" marT="45733" marB="45733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lt1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Weekly INS</a:t>
                      </a:r>
                      <a:endParaRPr sz="12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91433" marR="91433" marT="45733" marB="45733"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>
                          <a:latin typeface="Inter" panose="020B0604020202020204" charset="0"/>
                          <a:ea typeface="Inter" panose="020B0604020202020204" charset="0"/>
                        </a:rPr>
                        <a:t>Diminishing returns</a:t>
                      </a:r>
                    </a:p>
                  </a:txBody>
                  <a:tcPr marL="91433" marR="91433" marT="45733" marB="45733">
                    <a:solidFill>
                      <a:srgbClr val="90C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200" b="0" i="0" u="none" strike="noStrike" cap="none" dirty="0">
                          <a:solidFill>
                            <a:schemeClr val="tx1"/>
                          </a:solidFill>
                          <a:latin typeface="Inter" panose="020B0604020202020204" charset="0"/>
                          <a:ea typeface="Inter" panose="020B0604020202020204" charset="0"/>
                          <a:cs typeface="+mn-cs"/>
                          <a:sym typeface="Arial"/>
                        </a:rPr>
                        <a:t>267</a:t>
                      </a:r>
                    </a:p>
                  </a:txBody>
                  <a:tcPr marL="8467" marR="8467" marT="8467" marB="0" anchor="ctr">
                    <a:solidFill>
                      <a:srgbClr val="90C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779275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Inter" panose="020B0604020202020204" charset="0"/>
                          <a:ea typeface="Inter" panose="020B0604020202020204" charset="0"/>
                        </a:rPr>
                        <a:t>Max ROI</a:t>
                      </a:r>
                      <a:endParaRPr sz="12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91433" marR="91433" marT="45733" marB="45733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+mn-cs"/>
                          <a:sym typeface="Arial"/>
                        </a:rPr>
                        <a:t>179</a:t>
                      </a:r>
                    </a:p>
                  </a:txBody>
                  <a:tcPr marL="8467" marR="8467" marT="8467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latin typeface="Inter" panose="020B0604020202020204" charset="0"/>
                          <a:ea typeface="Inter" panose="020B0604020202020204" charset="0"/>
                        </a:rPr>
                        <a:t>Max Marginal</a:t>
                      </a:r>
                      <a:endParaRPr sz="12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91433" marR="91433" marT="45733" marB="45733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+mn-cs"/>
                          <a:sym typeface="Arial"/>
                        </a:rPr>
                        <a:t>115</a:t>
                      </a:r>
                    </a:p>
                  </a:txBody>
                  <a:tcPr marL="8467" marR="8467" marT="846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dirty="0">
                          <a:latin typeface="Inter" panose="020B0604020202020204" charset="0"/>
                          <a:ea typeface="Inter" panose="020B0604020202020204" charset="0"/>
                        </a:rPr>
                        <a:t>Min </a:t>
                      </a:r>
                      <a:r>
                        <a:rPr lang="en-US" sz="1200" noProof="0" dirty="0">
                          <a:latin typeface="Inter" panose="020B0604020202020204" charset="0"/>
                          <a:ea typeface="Inter" panose="020B0604020202020204" charset="0"/>
                        </a:rPr>
                        <a:t>Threshold</a:t>
                      </a:r>
                    </a:p>
                  </a:txBody>
                  <a:tcPr marL="91433" marR="91433" marT="45733" marB="45733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r" panose="020B0604020202020204" charset="0"/>
                          <a:ea typeface="Inter" panose="020B0604020202020204" charset="0"/>
                          <a:cs typeface="+mn-cs"/>
                          <a:sym typeface="Arial"/>
                        </a:rPr>
                        <a:t>61</a:t>
                      </a:r>
                    </a:p>
                  </a:txBody>
                  <a:tcPr marL="8467" marR="8467" marT="846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0381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A2E3E0B-ABA6-D3A1-50F9-1AA10F0A69DC}"/>
              </a:ext>
            </a:extLst>
          </p:cNvPr>
          <p:cNvSpPr/>
          <p:nvPr/>
        </p:nvSpPr>
        <p:spPr>
          <a:xfrm>
            <a:off x="617035" y="1"/>
            <a:ext cx="2059259" cy="275049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 err="1">
                <a:latin typeface="Inter" panose="020B0604020202020204" charset="0"/>
                <a:ea typeface="Inter" panose="020B0604020202020204" charset="0"/>
              </a:rPr>
              <a:t>Pay</a:t>
            </a:r>
            <a:r>
              <a:rPr lang="es-MX" sz="2400" b="1" dirty="0">
                <a:latin typeface="Inter" panose="020B0604020202020204" charset="0"/>
                <a:ea typeface="Inter" panose="020B0604020202020204" charset="0"/>
              </a:rPr>
              <a:t> TV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197801" y="867033"/>
            <a:ext cx="11049200" cy="517905"/>
          </a:xfrm>
        </p:spPr>
        <p:txBody>
          <a:bodyPr/>
          <a:lstStyle/>
          <a:p>
            <a:r>
              <a:rPr lang="en-US" sz="1600" b="1" i="1" u="sng"/>
              <a:t>WATCH OUT:</a:t>
            </a:r>
            <a:r>
              <a:rPr lang="en-US" sz="1600"/>
              <a:t> In RY2 costs increased 64% impacting ROI performance</a:t>
            </a:r>
            <a:endParaRPr lang="en-US" sz="1600" b="1" u="sng" dirty="0"/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FD459660-12AD-08DA-4523-BBC6B9FE7E8C}"/>
              </a:ext>
            </a:extLst>
          </p:cNvPr>
          <p:cNvGraphicFramePr/>
          <p:nvPr/>
        </p:nvGraphicFramePr>
        <p:xfrm>
          <a:off x="6937525" y="2626176"/>
          <a:ext cx="5244103" cy="1187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B18163F1-736D-7F53-B355-6F085844E969}"/>
              </a:ext>
            </a:extLst>
          </p:cNvPr>
          <p:cNvGraphicFramePr/>
          <p:nvPr/>
        </p:nvGraphicFramePr>
        <p:xfrm>
          <a:off x="6937525" y="3591450"/>
          <a:ext cx="5244103" cy="1492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1BA0EDB6-9231-BDD9-7F20-0E1ECAC8A0A6}"/>
              </a:ext>
            </a:extLst>
          </p:cNvPr>
          <p:cNvGraphicFramePr/>
          <p:nvPr/>
        </p:nvGraphicFramePr>
        <p:xfrm>
          <a:off x="6921549" y="1682079"/>
          <a:ext cx="5244103" cy="11199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DAE6FD0C-4998-1BBD-E5C4-B70AEAA92F6B}"/>
              </a:ext>
            </a:extLst>
          </p:cNvPr>
          <p:cNvSpPr txBox="1">
            <a:spLocks/>
          </p:cNvSpPr>
          <p:nvPr/>
        </p:nvSpPr>
        <p:spPr>
          <a:xfrm>
            <a:off x="5575054" y="3080228"/>
            <a:ext cx="1540423" cy="593897"/>
          </a:xfrm>
          <a:prstGeom prst="rect">
            <a:avLst/>
          </a:prstGeom>
        </p:spPr>
        <p:txBody>
          <a:bodyPr lIns="91339" tIns="45707" rIns="91339" bIns="45707"/>
          <a:lstStyle>
            <a:lvl1pPr marL="179388" indent="-179388" algn="l" defTabSz="914400" rtl="0" eaLnBrk="1" latinLnBrk="0" hangingPunct="1">
              <a:spcBef>
                <a:spcPts val="1200"/>
              </a:spcBef>
              <a:buClr>
                <a:schemeClr val="bg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179388" algn="l" defTabSz="91440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900" indent="-133350" algn="l" defTabSz="914400" rtl="0" eaLnBrk="1" latinLnBrk="0" hangingPunct="1">
              <a:spcBef>
                <a:spcPts val="3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6663" indent="-160338" algn="l" defTabSz="914400" rtl="0" eaLnBrk="1" latinLnBrk="0" hangingPunct="1">
              <a:spcBef>
                <a:spcPts val="3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87500" indent="-152400" algn="l" defTabSz="914400" rtl="0" eaLnBrk="1" latinLnBrk="0" hangingPunct="1">
              <a:spcBef>
                <a:spcPts val="3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219140">
              <a:spcBef>
                <a:spcPts val="0"/>
              </a:spcBef>
              <a:buClr>
                <a:srgbClr val="9F9F9F"/>
              </a:buClr>
              <a:buNone/>
              <a:defRPr/>
            </a:pPr>
            <a:r>
              <a:rPr lang="en-GB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EFFECTIVENESS</a:t>
            </a:r>
          </a:p>
          <a:p>
            <a:pPr marL="0" indent="0" algn="r" defTabSz="1219140">
              <a:spcBef>
                <a:spcPts val="0"/>
              </a:spcBef>
              <a:buClr>
                <a:srgbClr val="9F9F9F"/>
              </a:buClr>
              <a:buNone/>
              <a:defRPr/>
            </a:pPr>
            <a:r>
              <a:rPr lang="it-IT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(Incremental Units per 100 INS)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8745C6C1-FB46-A48D-01F0-BFED481AA273}"/>
              </a:ext>
            </a:extLst>
          </p:cNvPr>
          <p:cNvSpPr txBox="1">
            <a:spLocks/>
          </p:cNvSpPr>
          <p:nvPr/>
        </p:nvSpPr>
        <p:spPr>
          <a:xfrm>
            <a:off x="5620710" y="4049648"/>
            <a:ext cx="1454181" cy="593897"/>
          </a:xfrm>
          <a:prstGeom prst="rect">
            <a:avLst/>
          </a:prstGeom>
        </p:spPr>
        <p:txBody>
          <a:bodyPr lIns="91339" tIns="45707" rIns="91339" bIns="45707"/>
          <a:lstStyle>
            <a:lvl1pPr marL="179388" indent="-179388" algn="l" defTabSz="914400" rtl="0" eaLnBrk="1" latinLnBrk="0" hangingPunct="1">
              <a:spcBef>
                <a:spcPts val="1200"/>
              </a:spcBef>
              <a:buClr>
                <a:schemeClr val="bg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179388" algn="l" defTabSz="91440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900" indent="-133350" algn="l" defTabSz="914400" rtl="0" eaLnBrk="1" latinLnBrk="0" hangingPunct="1">
              <a:spcBef>
                <a:spcPts val="3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6663" indent="-160338" algn="l" defTabSz="914400" rtl="0" eaLnBrk="1" latinLnBrk="0" hangingPunct="1">
              <a:spcBef>
                <a:spcPts val="3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87500" indent="-152400" algn="l" defTabSz="914400" rtl="0" eaLnBrk="1" latinLnBrk="0" hangingPunct="1">
              <a:spcBef>
                <a:spcPts val="3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219140">
              <a:spcBef>
                <a:spcPts val="0"/>
              </a:spcBef>
              <a:buClr>
                <a:srgbClr val="9F9F9F"/>
              </a:buClr>
              <a:buNone/>
              <a:defRPr/>
            </a:pPr>
            <a:r>
              <a:rPr lang="en-GB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CPP</a:t>
            </a:r>
          </a:p>
          <a:p>
            <a:pPr marL="0" indent="0" algn="r" defTabSz="1219140">
              <a:spcBef>
                <a:spcPts val="0"/>
              </a:spcBef>
              <a:buClr>
                <a:srgbClr val="9F9F9F"/>
              </a:buClr>
              <a:buNone/>
              <a:defRPr/>
            </a:pPr>
            <a:r>
              <a:rPr lang="en-GB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(MXN)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979D5114-A860-8DE0-1DED-F6E019A55752}"/>
              </a:ext>
            </a:extLst>
          </p:cNvPr>
          <p:cNvSpPr txBox="1">
            <a:spLocks/>
          </p:cNvSpPr>
          <p:nvPr/>
        </p:nvSpPr>
        <p:spPr>
          <a:xfrm>
            <a:off x="5572309" y="2020810"/>
            <a:ext cx="1540423" cy="593897"/>
          </a:xfrm>
          <a:prstGeom prst="rect">
            <a:avLst/>
          </a:prstGeom>
        </p:spPr>
        <p:txBody>
          <a:bodyPr lIns="91339" tIns="45707" rIns="91339" bIns="45707"/>
          <a:lstStyle>
            <a:lvl1pPr marL="179388" indent="-179388" algn="l" defTabSz="914400" rtl="0" eaLnBrk="1" latinLnBrk="0" hangingPunct="1">
              <a:spcBef>
                <a:spcPts val="1200"/>
              </a:spcBef>
              <a:buClr>
                <a:schemeClr val="bg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179388" algn="l" defTabSz="91440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900" indent="-133350" algn="l" defTabSz="914400" rtl="0" eaLnBrk="1" latinLnBrk="0" hangingPunct="1">
              <a:spcBef>
                <a:spcPts val="3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6663" indent="-160338" algn="l" defTabSz="914400" rtl="0" eaLnBrk="1" latinLnBrk="0" hangingPunct="1">
              <a:spcBef>
                <a:spcPts val="3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87500" indent="-152400" algn="l" defTabSz="914400" rtl="0" eaLnBrk="1" latinLnBrk="0" hangingPunct="1">
              <a:spcBef>
                <a:spcPts val="3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219140">
              <a:spcBef>
                <a:spcPts val="0"/>
              </a:spcBef>
              <a:buClr>
                <a:srgbClr val="9F9F9F"/>
              </a:buClr>
              <a:buNone/>
              <a:defRPr/>
            </a:pPr>
            <a:r>
              <a:rPr lang="en-GB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NET REVENUE ROI</a:t>
            </a:r>
          </a:p>
          <a:p>
            <a:pPr marL="0" indent="0" algn="r" defTabSz="1219140">
              <a:spcBef>
                <a:spcPts val="0"/>
              </a:spcBef>
              <a:buClr>
                <a:srgbClr val="9F9F9F"/>
              </a:buClr>
              <a:buNone/>
              <a:defRPr/>
            </a:pPr>
            <a:r>
              <a:rPr lang="en-GB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(per 1 MXN Spent)</a:t>
            </a:r>
          </a:p>
          <a:p>
            <a:pPr marL="0" indent="0" algn="r" defTabSz="1219140">
              <a:spcBef>
                <a:spcPts val="0"/>
              </a:spcBef>
              <a:buClr>
                <a:srgbClr val="9F9F9F"/>
              </a:buClr>
              <a:buNone/>
              <a:defRPr/>
            </a:pPr>
            <a:endParaRPr lang="en-GB" sz="1067" dirty="0">
              <a:solidFill>
                <a:schemeClr val="tx1">
                  <a:lumMod val="65000"/>
                  <a:lumOff val="35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graphicFrame>
        <p:nvGraphicFramePr>
          <p:cNvPr id="40" name="Content Placeholder 5">
            <a:extLst>
              <a:ext uri="{FF2B5EF4-FFF2-40B4-BE49-F238E27FC236}">
                <a16:creationId xmlns:a16="http://schemas.microsoft.com/office/drawing/2014/main" id="{464D9EDA-8C1C-5A4E-8277-B783FC04431F}"/>
              </a:ext>
            </a:extLst>
          </p:cNvPr>
          <p:cNvGraphicFramePr>
            <a:graphicFrameLocks/>
          </p:cNvGraphicFramePr>
          <p:nvPr/>
        </p:nvGraphicFramePr>
        <p:xfrm>
          <a:off x="6321215" y="5118497"/>
          <a:ext cx="5678399" cy="966743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66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6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endParaRPr lang="en-US" sz="900" b="0" cap="all" baseline="0" dirty="0">
                        <a:solidFill>
                          <a:schemeClr val="bg1"/>
                        </a:solidFill>
                        <a:latin typeface="Inter" panose="020B0604020202020204" charset="0"/>
                        <a:ea typeface="Inter" panose="020B0604020202020204" charset="0"/>
                        <a:cs typeface="Archivo Narrow" panose="020B0604020202020204" charset="0"/>
                      </a:endParaRPr>
                    </a:p>
                  </a:txBody>
                  <a:tcPr marL="137140" marR="13714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cap="all" baseline="0" dirty="0">
                          <a:sym typeface="Inter"/>
                        </a:rPr>
                        <a:t>RY1</a:t>
                      </a:r>
                      <a:endParaRPr lang="en-US" sz="900" b="1" cap="all" baseline="0" dirty="0">
                        <a:solidFill>
                          <a:schemeClr val="accent1"/>
                        </a:solidFill>
                        <a:latin typeface="Inter" panose="020B0604020202020204" charset="0"/>
                        <a:ea typeface="Inter" panose="020B0604020202020204" charset="0"/>
                        <a:cs typeface="Archivo Narrow" panose="020B0604020202020204" charset="0"/>
                      </a:endParaRPr>
                    </a:p>
                  </a:txBody>
                  <a:tcPr marL="137140" marR="13714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900" cap="all" baseline="0" dirty="0">
                          <a:sym typeface="Inter"/>
                        </a:rPr>
                        <a:t>RY2</a:t>
                      </a:r>
                      <a:endParaRPr lang="en-US" sz="900" b="1" cap="all" baseline="0" dirty="0">
                        <a:solidFill>
                          <a:schemeClr val="accent1"/>
                        </a:solidFill>
                        <a:latin typeface="Inter" panose="020B0604020202020204" charset="0"/>
                        <a:ea typeface="Inter" panose="020B0604020202020204" charset="0"/>
                        <a:cs typeface="Archivo Narrow" panose="020B0604020202020204" charset="0"/>
                      </a:endParaRPr>
                    </a:p>
                  </a:txBody>
                  <a:tcPr marL="137140" marR="137140"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4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900" cap="all" baseline="0" dirty="0">
                          <a:sym typeface="Inter"/>
                        </a:rPr>
                        <a:t>INs</a:t>
                      </a:r>
                      <a:endParaRPr lang="en-US" sz="900" b="1" cap="all" baseline="0" dirty="0">
                        <a:solidFill>
                          <a:schemeClr val="accent1"/>
                        </a:solidFill>
                        <a:latin typeface="Inter" panose="020B0604020202020204" charset="0"/>
                        <a:ea typeface="Inter" panose="020B0604020202020204" charset="0"/>
                        <a:cs typeface="Archivo Narrow" panose="020B0604020202020204" charset="0"/>
                      </a:endParaRPr>
                    </a:p>
                  </a:txBody>
                  <a:tcPr marL="137140" marR="137140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4,086 </a:t>
                      </a: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3,722 </a:t>
                      </a:r>
                    </a:p>
                  </a:txBody>
                  <a:tcPr marL="10160" marR="10160" marT="1016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u="none" strike="noStrike" cap="all" baseline="0" dirty="0">
                          <a:effectLst/>
                        </a:rPr>
                        <a:t>SPEND </a:t>
                      </a:r>
                      <a:endParaRPr lang="en-US" sz="900" u="none" strike="noStrike" dirty="0">
                        <a:effectLst/>
                      </a:endParaRPr>
                    </a:p>
                    <a:p>
                      <a:pPr marL="0" marR="0" indent="0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u="none" strike="noStrike" cap="all" baseline="0" dirty="0">
                          <a:effectLst/>
                        </a:rPr>
                        <a:t>(´000 $MXN)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137160" marR="137160" marT="60960" marB="6096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$6,356</a:t>
                      </a: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$9,466</a:t>
                      </a:r>
                    </a:p>
                  </a:txBody>
                  <a:tcPr marL="10160" marR="10160" marT="10160" marB="0" anchor="ctr"/>
                </a:tc>
                <a:extLst>
                  <a:ext uri="{0D108BD9-81ED-4DB2-BD59-A6C34878D82A}">
                    <a16:rowId xmlns:a16="http://schemas.microsoft.com/office/drawing/2014/main" val="3681451889"/>
                  </a:ext>
                </a:extLst>
              </a:tr>
            </a:tbl>
          </a:graphicData>
        </a:graphic>
      </p:graphicFrame>
      <p:sp>
        <p:nvSpPr>
          <p:cNvPr id="15" name="Google Shape;1198;p45">
            <a:extLst>
              <a:ext uri="{FF2B5EF4-FFF2-40B4-BE49-F238E27FC236}">
                <a16:creationId xmlns:a16="http://schemas.microsoft.com/office/drawing/2014/main" id="{C06DF530-3A84-3191-F2E8-95D8C7C44CDA}"/>
              </a:ext>
            </a:extLst>
          </p:cNvPr>
          <p:cNvSpPr txBox="1"/>
          <p:nvPr/>
        </p:nvSpPr>
        <p:spPr>
          <a:xfrm>
            <a:off x="944704" y="1427904"/>
            <a:ext cx="4188232" cy="276959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67" tIns="45700" rIns="91267" bIns="4570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5F5F5F"/>
                </a:solidFill>
                <a:latin typeface="Inter"/>
                <a:ea typeface="Inter"/>
                <a:cs typeface="Inter"/>
                <a:sym typeface="Inter"/>
              </a:rPr>
              <a:t>PAY TV </a:t>
            </a:r>
            <a:r>
              <a:rPr lang="en-US" sz="1200" dirty="0">
                <a:solidFill>
                  <a:srgbClr val="5F5F5F"/>
                </a:solidFill>
                <a:latin typeface="Inter"/>
                <a:ea typeface="Inter"/>
                <a:cs typeface="Inter"/>
                <a:sym typeface="Inter"/>
              </a:rPr>
              <a:t>Average weekly INS: 200</a:t>
            </a:r>
            <a:endParaRPr sz="1333" dirty="0"/>
          </a:p>
        </p:txBody>
      </p:sp>
    </p:spTree>
    <p:extLst>
      <p:ext uri="{BB962C8B-B14F-4D97-AF65-F5344CB8AC3E}">
        <p14:creationId xmlns:p14="http://schemas.microsoft.com/office/powerpoint/2010/main" val="387175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" grpId="0" animBg="1"/>
      <p:bldGraphic spid="33" grpId="0">
        <p:bldAsOne/>
      </p:bldGraphic>
      <p:bldGraphic spid="34" grpId="0">
        <p:bldAsOne/>
      </p:bldGraphic>
      <p:bldGraphic spid="35" grpId="0">
        <p:bldAsOne/>
      </p:bldGraphic>
      <p:bldP spid="36" grpId="0"/>
      <p:bldP spid="37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9391-02A6-4BCF-C90B-8B346A79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E09F7-F95E-956E-62DC-5909916E66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967992-FBD8-CD01-DFC4-3BF1248801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B560B-C1E3-CD97-DB25-97C242C98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88425-3A66-C951-D6CA-A36C56C18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 | </a:t>
            </a:r>
            <a:fld id="{4034BEE3-566C-4068-A777-C3A4762E861B}" type="slidenum">
              <a:rPr lang="en-GB" smtClean="0"/>
              <a:pPr/>
              <a:t>14</a:t>
            </a:fld>
            <a:endParaRPr lang="en-GB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28D6D76-06DC-E48A-B16E-94BDE878AF77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805950148"/>
              </p:ext>
            </p:extLst>
          </p:nvPr>
        </p:nvGraphicFramePr>
        <p:xfrm>
          <a:off x="359663" y="1709999"/>
          <a:ext cx="5626100" cy="2690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8E77CC9-8068-6762-2231-05CF7507586A}"/>
              </a:ext>
            </a:extLst>
          </p:cNvPr>
          <p:cNvSpPr/>
          <p:nvPr/>
        </p:nvSpPr>
        <p:spPr bwMode="ltGray">
          <a:xfrm>
            <a:off x="459000" y="4543425"/>
            <a:ext cx="5626800" cy="116548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dirty="0" err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4D3FD7-2EED-C4E0-C5CF-82949C7184AF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60045" y="1710214"/>
            <a:ext cx="1144943" cy="1144943"/>
          </a:xfrm>
          <a:prstGeom prst="rect">
            <a:avLst/>
          </a:prstGeom>
          <a:solidFill>
            <a:srgbClr val="AEAE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t"/>
            <a:r>
              <a:rPr lang="es-ES" sz="1200" b="0">
                <a:solidFill>
                  <a:srgbClr val="FFFFFF"/>
                </a:solidFill>
              </a:rPr>
              <a:t>your text</a:t>
            </a:r>
            <a:endParaRPr lang="es-ES" sz="1200" b="0" dirty="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02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optimization - Media Digital Display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2688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6616" y="4544568"/>
          <a:ext cx="562356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Breakthrough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Full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Maximum ROI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Start of Saturation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Current Average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Media Digital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42,160.00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257,040.00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190,400.00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1,177,647.33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221415" y="1709928"/>
          <a:ext cx="4601777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997377B-24AC-2886-F285-6C1E038DAFEC}"/>
              </a:ext>
            </a:extLst>
          </p:cNvPr>
          <p:cNvGraphicFramePr>
            <a:graphicFrameLocks noGrp="1"/>
          </p:cNvGraphicFramePr>
          <p:nvPr/>
        </p:nvGraphicFramePr>
        <p:xfrm>
          <a:off x="7233608" y="3035808"/>
          <a:ext cx="4601777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BDE22B2-2EE7-2E50-3ECA-8390130B53DE}"/>
              </a:ext>
            </a:extLst>
          </p:cNvPr>
          <p:cNvGraphicFramePr>
            <a:graphicFrameLocks noGrp="1"/>
          </p:cNvGraphicFramePr>
          <p:nvPr/>
        </p:nvGraphicFramePr>
        <p:xfrm>
          <a:off x="7221414" y="4361688"/>
          <a:ext cx="460177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861CD1C-4C17-6ECF-7319-B093A5D5DAF1}"/>
              </a:ext>
            </a:extLst>
          </p:cNvPr>
          <p:cNvSpPr txBox="1"/>
          <p:nvPr/>
        </p:nvSpPr>
        <p:spPr>
          <a:xfrm>
            <a:off x="6199631" y="1709929"/>
            <a:ext cx="1005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latin typeface="Arial"/>
              </a:rPr>
              <a:t>ROI</a:t>
            </a:r>
            <a:endParaRPr sz="1200" dirty="0"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58CE4-33F7-E83D-F497-78465D28ABEB}"/>
              </a:ext>
            </a:extLst>
          </p:cNvPr>
          <p:cNvSpPr txBox="1"/>
          <p:nvPr/>
        </p:nvSpPr>
        <p:spPr>
          <a:xfrm>
            <a:off x="6096000" y="3054096"/>
            <a:ext cx="1142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/>
              </a:rPr>
              <a:t>Effectiveness</a:t>
            </a:r>
            <a:endParaRPr sz="1200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79307F-051B-32C5-FBEB-8B4B629A266E}"/>
              </a:ext>
            </a:extLst>
          </p:cNvPr>
          <p:cNvSpPr txBox="1"/>
          <p:nvPr/>
        </p:nvSpPr>
        <p:spPr>
          <a:xfrm>
            <a:off x="6211826" y="4361688"/>
            <a:ext cx="1009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latin typeface="Arial"/>
              </a:rPr>
              <a:t>CPA</a:t>
            </a:r>
            <a:endParaRPr sz="1200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0000" y="430718"/>
            <a:ext cx="7407194" cy="614414"/>
          </a:xfrm>
        </p:spPr>
        <p:txBody>
          <a:bodyPr/>
          <a:lstStyle/>
          <a:p>
            <a:r>
              <a:rPr lang="en-SG" sz="2000" dirty="0"/>
              <a:t>Separated Direct and Indirect (Equity) Sales S-Curves thresholds</a:t>
            </a:r>
            <a:endParaRPr lang="en-GB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8BC4D-A48F-433F-9BAC-E0088CDC5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2400" y="6390000"/>
            <a:ext cx="74952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9936138-9461-0616-502A-B83681694EB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041365007"/>
              </p:ext>
            </p:extLst>
          </p:nvPr>
        </p:nvGraphicFramePr>
        <p:xfrm>
          <a:off x="410628" y="1308935"/>
          <a:ext cx="11505555" cy="4588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01111">
                  <a:extLst>
                    <a:ext uri="{9D8B030D-6E8A-4147-A177-3AD203B41FA5}">
                      <a16:colId xmlns:a16="http://schemas.microsoft.com/office/drawing/2014/main" val="2301889132"/>
                    </a:ext>
                  </a:extLst>
                </a:gridCol>
                <a:gridCol w="2301111">
                  <a:extLst>
                    <a:ext uri="{9D8B030D-6E8A-4147-A177-3AD203B41FA5}">
                      <a16:colId xmlns:a16="http://schemas.microsoft.com/office/drawing/2014/main" val="1253084248"/>
                    </a:ext>
                  </a:extLst>
                </a:gridCol>
                <a:gridCol w="2301111">
                  <a:extLst>
                    <a:ext uri="{9D8B030D-6E8A-4147-A177-3AD203B41FA5}">
                      <a16:colId xmlns:a16="http://schemas.microsoft.com/office/drawing/2014/main" val="1371004866"/>
                    </a:ext>
                  </a:extLst>
                </a:gridCol>
                <a:gridCol w="2301111">
                  <a:extLst>
                    <a:ext uri="{9D8B030D-6E8A-4147-A177-3AD203B41FA5}">
                      <a16:colId xmlns:a16="http://schemas.microsoft.com/office/drawing/2014/main" val="800229065"/>
                    </a:ext>
                  </a:extLst>
                </a:gridCol>
                <a:gridCol w="2301111">
                  <a:extLst>
                    <a:ext uri="{9D8B030D-6E8A-4147-A177-3AD203B41FA5}">
                      <a16:colId xmlns:a16="http://schemas.microsoft.com/office/drawing/2014/main" val="142969979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Touchpoint </a:t>
                      </a:r>
                    </a:p>
                    <a:p>
                      <a:pPr algn="l" fontAlgn="ctr"/>
                      <a:r>
                        <a:rPr lang="en-SG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(GRPs / Mn Impressions)</a:t>
                      </a:r>
                      <a:endParaRPr lang="en-SG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Current Average</a:t>
                      </a:r>
                      <a:endParaRPr lang="en-SG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Breakthrough</a:t>
                      </a:r>
                      <a:endParaRPr lang="en-SG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Start of Saturation</a:t>
                      </a:r>
                      <a:endParaRPr lang="en-SG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Full Saturation</a:t>
                      </a:r>
                      <a:endParaRPr lang="en-SG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7078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TV (Direct)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1,242</a:t>
                      </a:r>
                      <a:endParaRPr lang="en-SG" sz="1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700</a:t>
                      </a:r>
                      <a:endParaRPr lang="en-SG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1,057</a:t>
                      </a:r>
                      <a:endParaRPr lang="en-SG" sz="12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1,202</a:t>
                      </a:r>
                      <a:endParaRPr lang="en-SG" sz="12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25164173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TV (Equity)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rgbClr val="BEA4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1,242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529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1,361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2,066</a:t>
                      </a: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138083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en-SG" sz="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1" u="none" strike="noStrike" kern="1200" dirty="0">
                        <a:solidFill>
                          <a:srgbClr val="BEA4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1654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Meta (Direct)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rgbClr val="BEA4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391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212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489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255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Meta (Equity)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391</a:t>
                      </a: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128</a:t>
                      </a: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264</a:t>
                      </a: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618168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l" fontAlgn="ctr"/>
                      <a:endParaRPr lang="en-SG" sz="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1" u="none" strike="noStrike" kern="1200" dirty="0">
                        <a:solidFill>
                          <a:srgbClr val="BEA4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29136464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YouTube (Direct)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rgbClr val="BEA4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212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379</a:t>
                      </a: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209634843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YouTube (Equity)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211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335</a:t>
                      </a: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1499643334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l" fontAlgn="ctr"/>
                      <a:endParaRPr lang="en-SG" sz="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1" u="none" strike="noStrike" kern="1200" dirty="0">
                        <a:solidFill>
                          <a:schemeClr val="accent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5282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TikTok (Direct)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376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376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561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151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TikTok (Equity)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rgbClr val="BEA4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376</a:t>
                      </a: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</a:t>
                      </a: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447</a:t>
                      </a: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</a:t>
                      </a:r>
                    </a:p>
                  </a:txBody>
                  <a:tcPr marL="3810" marR="3810" marT="3810" marB="0" anchor="ctr"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224476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l" fontAlgn="ctr"/>
                      <a:endParaRPr lang="en-SG" sz="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00" b="1" i="0" u="none" strike="noStrike" dirty="0">
                        <a:solidFill>
                          <a:srgbClr val="BEA4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30873984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KOL (Engagement - Direct)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u="none" strike="noStrike" dirty="0">
                          <a:solidFill>
                            <a:srgbClr val="BEA400"/>
                          </a:solidFill>
                          <a:effectLst/>
                        </a:rPr>
                        <a:t>1.7</a:t>
                      </a:r>
                      <a:endParaRPr lang="en-SG" sz="1200" b="1" i="0" u="none" strike="noStrike" dirty="0">
                        <a:solidFill>
                          <a:srgbClr val="BEA4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0.9</a:t>
                      </a:r>
                      <a:endParaRPr lang="en-SG" sz="12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u="none" strike="noStrike" dirty="0">
                          <a:solidFill>
                            <a:srgbClr val="333333"/>
                          </a:solidFill>
                          <a:effectLst/>
                        </a:rPr>
                        <a:t>1.8</a:t>
                      </a:r>
                      <a:endParaRPr lang="en-SG" sz="12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u="none" strike="noStrike">
                          <a:solidFill>
                            <a:srgbClr val="333333"/>
                          </a:solidFill>
                          <a:effectLst/>
                        </a:rPr>
                        <a:t>2.3</a:t>
                      </a:r>
                      <a:endParaRPr lang="en-SG" sz="12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199472157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KOL (Engagement - Equity)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rgbClr val="BEA4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</a:t>
                      </a: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5.7</a:t>
                      </a: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2051482374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1" u="none" strike="noStrike" kern="1200" dirty="0">
                        <a:solidFill>
                          <a:srgbClr val="BEA4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 dirty="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SG" sz="100" b="0" u="none" strike="noStrike" kern="1200">
                        <a:solidFill>
                          <a:srgbClr val="333333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2474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KOL (Spends - Direct)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rgbClr val="BEA4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2,186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1,110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2,220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2,893</a:t>
                      </a:r>
                    </a:p>
                  </a:txBody>
                  <a:tcPr marL="3810" marR="3810" marT="3810" marB="0" anchor="ctr">
                    <a:solidFill>
                      <a:srgbClr val="EF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1823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KOL (Spends - Equity)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1" u="none" strike="noStrike" kern="12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2,186</a:t>
                      </a: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2,148</a:t>
                      </a: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200" b="0" u="none" strike="noStrike" kern="1200" dirty="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3,436</a:t>
                      </a:r>
                    </a:p>
                  </a:txBody>
                  <a:tcPr marL="3810" marR="3810" marT="381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798955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17940214-466F-8268-C5E8-D370C73AFA98}"/>
              </a:ext>
            </a:extLst>
          </p:cNvPr>
          <p:cNvSpPr/>
          <p:nvPr/>
        </p:nvSpPr>
        <p:spPr bwMode="ltGray">
          <a:xfrm>
            <a:off x="7935515" y="6239259"/>
            <a:ext cx="169875" cy="170157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SG" sz="1600" b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C48391-BA08-9630-1DE8-ED157BF6EFA0}"/>
              </a:ext>
            </a:extLst>
          </p:cNvPr>
          <p:cNvSpPr/>
          <p:nvPr/>
        </p:nvSpPr>
        <p:spPr bwMode="ltGray">
          <a:xfrm>
            <a:off x="7935515" y="6656141"/>
            <a:ext cx="169875" cy="170157"/>
          </a:xfrm>
          <a:prstGeom prst="ellipse">
            <a:avLst/>
          </a:prstGeom>
          <a:solidFill>
            <a:srgbClr val="BEA4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SG" sz="1600" b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92D958-C50E-2A95-A0DF-29A44015DD1E}"/>
              </a:ext>
            </a:extLst>
          </p:cNvPr>
          <p:cNvSpPr/>
          <p:nvPr/>
        </p:nvSpPr>
        <p:spPr bwMode="ltGray">
          <a:xfrm>
            <a:off x="7935515" y="6447700"/>
            <a:ext cx="169875" cy="170157"/>
          </a:xfrm>
          <a:prstGeom prst="ellipse">
            <a:avLst/>
          </a:prstGeom>
          <a:solidFill>
            <a:srgbClr val="FF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SG" sz="1600" b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B8C7CFF-35B2-D146-4CBC-1137B9C3E1DE}"/>
              </a:ext>
            </a:extLst>
          </p:cNvPr>
          <p:cNvSpPr txBox="1">
            <a:spLocks/>
          </p:cNvSpPr>
          <p:nvPr/>
        </p:nvSpPr>
        <p:spPr>
          <a:xfrm>
            <a:off x="8129540" y="6637380"/>
            <a:ext cx="74952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Below Optimal Range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12EC27A-B505-57B9-2233-6F9C8C219F3F}"/>
              </a:ext>
            </a:extLst>
          </p:cNvPr>
          <p:cNvSpPr txBox="1">
            <a:spLocks/>
          </p:cNvSpPr>
          <p:nvPr/>
        </p:nvSpPr>
        <p:spPr>
          <a:xfrm>
            <a:off x="8129540" y="6429708"/>
            <a:ext cx="74952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Saturated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C08B804-820B-5A18-392D-95F33F628AD5}"/>
              </a:ext>
            </a:extLst>
          </p:cNvPr>
          <p:cNvSpPr txBox="1">
            <a:spLocks/>
          </p:cNvSpPr>
          <p:nvPr/>
        </p:nvSpPr>
        <p:spPr>
          <a:xfrm>
            <a:off x="8129540" y="6220423"/>
            <a:ext cx="7495200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Optimal Range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8695E62-61E5-2959-C961-08F027C21081}"/>
              </a:ext>
            </a:extLst>
          </p:cNvPr>
          <p:cNvGraphicFramePr>
            <a:graphicFrameLocks noGrp="1"/>
          </p:cNvGraphicFramePr>
          <p:nvPr/>
        </p:nvGraphicFramePr>
        <p:xfrm>
          <a:off x="360363" y="8344631"/>
          <a:ext cx="11466510" cy="3337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93302">
                  <a:extLst>
                    <a:ext uri="{9D8B030D-6E8A-4147-A177-3AD203B41FA5}">
                      <a16:colId xmlns:a16="http://schemas.microsoft.com/office/drawing/2014/main" val="2062031124"/>
                    </a:ext>
                  </a:extLst>
                </a:gridCol>
                <a:gridCol w="2293302">
                  <a:extLst>
                    <a:ext uri="{9D8B030D-6E8A-4147-A177-3AD203B41FA5}">
                      <a16:colId xmlns:a16="http://schemas.microsoft.com/office/drawing/2014/main" val="2985936172"/>
                    </a:ext>
                  </a:extLst>
                </a:gridCol>
                <a:gridCol w="2293302">
                  <a:extLst>
                    <a:ext uri="{9D8B030D-6E8A-4147-A177-3AD203B41FA5}">
                      <a16:colId xmlns:a16="http://schemas.microsoft.com/office/drawing/2014/main" val="2252823491"/>
                    </a:ext>
                  </a:extLst>
                </a:gridCol>
                <a:gridCol w="2293302">
                  <a:extLst>
                    <a:ext uri="{9D8B030D-6E8A-4147-A177-3AD203B41FA5}">
                      <a16:colId xmlns:a16="http://schemas.microsoft.com/office/drawing/2014/main" val="2342319451"/>
                    </a:ext>
                  </a:extLst>
                </a:gridCol>
                <a:gridCol w="2293302">
                  <a:extLst>
                    <a:ext uri="{9D8B030D-6E8A-4147-A177-3AD203B41FA5}">
                      <a16:colId xmlns:a16="http://schemas.microsoft.com/office/drawing/2014/main" val="991439556"/>
                    </a:ext>
                  </a:extLst>
                </a:gridCol>
              </a:tblGrid>
              <a:tr h="333772">
                <a:tc>
                  <a:txBody>
                    <a:bodyPr/>
                    <a:lstStyle/>
                    <a:p>
                      <a:pPr algn="l" fontAlgn="ctr"/>
                      <a:r>
                        <a:rPr lang="en-SG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KOL (Spends Mn)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0" u="none" strike="noStrike">
                          <a:solidFill>
                            <a:srgbClr val="333333"/>
                          </a:solidFill>
                          <a:effectLst/>
                        </a:rPr>
                        <a:t>1,110</a:t>
                      </a:r>
                      <a:endParaRPr lang="en-SG" sz="10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1" u="none" strike="noStrike">
                          <a:solidFill>
                            <a:srgbClr val="BEA400"/>
                          </a:solidFill>
                          <a:effectLst/>
                        </a:rPr>
                        <a:t>2,186</a:t>
                      </a:r>
                      <a:endParaRPr lang="en-SG" sz="1000" b="1" i="0" u="none" strike="noStrike">
                        <a:solidFill>
                          <a:srgbClr val="BEA4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0" u="none" strike="noStrike">
                          <a:solidFill>
                            <a:srgbClr val="333333"/>
                          </a:solidFill>
                          <a:effectLst/>
                        </a:rPr>
                        <a:t>2,220</a:t>
                      </a:r>
                      <a:endParaRPr lang="en-SG" sz="10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0" u="none" strike="noStrike">
                          <a:solidFill>
                            <a:srgbClr val="333333"/>
                          </a:solidFill>
                          <a:effectLst/>
                        </a:rPr>
                        <a:t>2,893</a:t>
                      </a:r>
                      <a:endParaRPr lang="en-SG" sz="1000" b="0" i="0" u="none" strike="noStrike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ctr"/>
                </a:tc>
                <a:extLst>
                  <a:ext uri="{0D108BD9-81ED-4DB2-BD59-A6C34878D82A}">
                    <a16:rowId xmlns:a16="http://schemas.microsoft.com/office/drawing/2014/main" val="418240895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FA46C9F-DC52-9E54-E10A-6A5B1CB493EC}"/>
              </a:ext>
            </a:extLst>
          </p:cNvPr>
          <p:cNvSpPr txBox="1"/>
          <p:nvPr/>
        </p:nvSpPr>
        <p:spPr>
          <a:xfrm rot="20866277">
            <a:off x="3450831" y="2956964"/>
            <a:ext cx="5768502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333333">
                    <a:alpha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ILLUSTRATION ONLY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F10292-B512-D1D1-0BC1-ECF3CB4A76EB}"/>
              </a:ext>
            </a:extLst>
          </p:cNvPr>
          <p:cNvSpPr/>
          <p:nvPr/>
        </p:nvSpPr>
        <p:spPr bwMode="ltGray">
          <a:xfrm>
            <a:off x="10566672" y="-154"/>
            <a:ext cx="1625328" cy="30988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SG" sz="1200" b="1" dirty="0" err="1"/>
              <a:t>L’Oreal</a:t>
            </a:r>
            <a:r>
              <a:rPr lang="en-SG" sz="1200" b="1" dirty="0"/>
              <a:t>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5F4EC-4964-E793-61F7-BB3BB762E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56913" y="6390000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34BEE3-566C-4068-A777-C3A4762E861B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73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B66D-2635-B4F8-C3D8-63E356FF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Escenarios de simulación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3FA2C-E8F9-7A41-960F-30920EF61A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FE214-F03B-F569-45DC-480A206C700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354B6-D341-6BE4-82DF-582FAF7CF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C7A80-451B-313A-68E5-F7856E6C1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 | </a:t>
            </a:r>
            <a:fld id="{4034BEE3-566C-4068-A777-C3A4762E861B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51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AUTOSHAPE"/>
  <p:tag name="AUTOSHAPE" val="RECTANGLE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66a38013d12be4583532761ffd6e26dd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68f015ace5ce8fcd03688c3809a80f6c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AC248C-EE7E-45E2-90CC-B7BA58390F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526</TotalTime>
  <Words>1470</Words>
  <Application>Microsoft Office PowerPoint</Application>
  <PresentationFormat>Widescreen</PresentationFormat>
  <Paragraphs>433</Paragraphs>
  <Slides>17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Inter</vt:lpstr>
      <vt:lpstr>Kantar template master</vt:lpstr>
      <vt:lpstr>Content slides - no sub heading</vt:lpstr>
      <vt:lpstr>Technical</vt:lpstr>
      <vt:lpstr>Mock up resultados modelo </vt:lpstr>
      <vt:lpstr>Contribution by breaks L2 lenses</vt:lpstr>
      <vt:lpstr>Contribution by breaks – MEDIA BREAKDOWN</vt:lpstr>
      <vt:lpstr>Media contribution L2 lens</vt:lpstr>
      <vt:lpstr>Contribution by breaks L2 lenses</vt:lpstr>
      <vt:lpstr>Direct and Equity Sales ROI</vt:lpstr>
      <vt:lpstr>Media performance analysis </vt:lpstr>
      <vt:lpstr>Campaign results – Global Twinings guideline breakdown </vt:lpstr>
      <vt:lpstr>INCREASE ON DISTRIBUTION &amp; CHANGES IN REGULAR PRICES IMPACTED THE BRAND, BEING THE LAST ONE THE MOST RELEVANT</vt:lpstr>
      <vt:lpstr>Full media comparison – Campaign vs Campaign breakdown</vt:lpstr>
      <vt:lpstr>OOH Retail</vt:lpstr>
      <vt:lpstr>PowerPoint Presentation</vt:lpstr>
      <vt:lpstr>PowerPoint Presentation</vt:lpstr>
      <vt:lpstr>PowerPoint Presentation</vt:lpstr>
      <vt:lpstr>Media optimization - Media Digital Display</vt:lpstr>
      <vt:lpstr>Separated Direct and Indirect (Equity) Sales S-Curves thresholds</vt:lpstr>
      <vt:lpstr>Escenarios de simulación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3</cp:revision>
  <cp:lastPrinted>2017-03-24T13:40:26Z</cp:lastPrinted>
  <dcterms:created xsi:type="dcterms:W3CDTF">2025-08-07T17:42:10Z</dcterms:created>
  <dcterms:modified xsi:type="dcterms:W3CDTF">2025-09-24T18:43:32Z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2023-06-01T08:02:15Z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120dd1a1-0079-431a-af79-6bc5509a19aa</vt:lpwstr>
  </property>
  <property fmtid="{D5CDD505-2E9C-101B-9397-08002B2CF9AE}" pid="8" name="MSIP_Label_3741da7a-79c1-417c-b408-16c0bfe99fca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0x0101009A5B2EB65F0D434998DAF77486C1C599</vt:lpwstr>
  </property>
</Properties>
</file>